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Formatting Output</a:t>
            </a:r>
          </a:p>
          <a:p/>
          <a:p>
            <a:r>
              <a:t>Key Points:</a:t>
            </a:r>
          </a:p>
          <a:p>
            <a:r>
              <a:t>1. The CLI natively supports JSON output, which provides a structured and predictable data format that scripting languages can easily parse. By appending --format json to any command, we strip away the visual formatting and receive raw data objects.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Parsing with jq</a:t>
            </a:r>
          </a:p>
          <a:p/>
          <a:p>
            <a:r>
              <a:t>Key Points:</a:t>
            </a:r>
          </a:p>
          <a:p>
            <a:r>
              <a:t>1. jq is a lightweight command-line JSON processor that allows us to filter, slice, and map JSON data directly in the terminal. It acts as a bridge between the verbose API output and the specific strings (like UUIDs) needed for subsequent commands.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Architectural Insight: Golden Images vs. Post-Boot Config (Part 1)</a:t>
            </a:r>
          </a:p>
          <a:p/>
          <a:p>
            <a:r>
              <a:t>Key Points:</a:t>
            </a:r>
          </a:p>
          <a:p>
            <a:r>
              <a:t>1. Golden Images (Mutable/Baked) involve installing all application dependencies—such as Apache, PHP, and custom code—into the Virtual Machine image before it is ever launched.</a:t>
            </a:r>
          </a:p>
          <a:p>
            <a:r>
              <a:t>2. This is typically done using tools like Packer.</a:t>
            </a:r>
          </a:p>
          <a:p>
            <a:r>
              <a:t>3. The primary advantage is speed; since the software is pre-installed, the VM is ready almost instantly upon boot.</a:t>
            </a:r>
          </a:p>
          <a:p>
            <a:r>
              <a:t>4. However, this method suffers from "Image Sprawl," where every minor code change requires building and uploading a new multi-gigabyte image to Glance, consuming storage and bandwidth.</a:t>
            </a:r>
          </a:p>
          <a:p>
            <a:r>
              <a:t>5. Post-Boot Configuration (Immutable/Runtime) takes a different approach.</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Architectural Insight: Golden Images vs. Post-Boot Config (Part 2)</a:t>
            </a:r>
          </a:p>
          <a:p/>
          <a:p>
            <a:r>
              <a:t>Key Points:</a:t>
            </a:r>
          </a:p>
          <a:p>
            <a:r>
              <a:t>1. You launch a generic, "Vanilla" operating system image (like Ubuntu Cloud Image) and use automation tools to install software after the instance boots.</a:t>
            </a:r>
          </a:p>
          <a:p>
            <a:r>
              <a:t>2. While this results in a slower initial startup time as packages are downloaded and installed, it offers superior flexibility.</a:t>
            </a:r>
          </a:p>
          <a:p>
            <a:r>
              <a:t>3. A single small base image can serve thousands of different purposes.</a:t>
            </a:r>
          </a:p>
          <a:p>
            <a:r>
              <a:t>4. Modern cloud architecture typically favors a Hybrid Approach, using a base image for the OS and tools like Ansible for the final application configuration.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Checkpoint</a:t>
            </a:r>
          </a:p>
          <a:p/>
          <a:p>
            <a:r>
              <a:t>Key Points:</a:t>
            </a:r>
          </a:p>
          <a:p>
            <a:r>
              <a:t>1. Summary: JSON is the lingua franca of Cloud APIs, providing a structured format that is difficult for humans to read but trivial for machines to parse.</a:t>
            </a:r>
          </a:p>
          <a:p>
            <a:r>
              <a:t>2. To work effectively with this data in a shell environment, jq is an essential tool for extracting specific fields like resource IDs.</a:t>
            </a:r>
          </a:p>
          <a:p>
            <a:r>
              <a:t>3. Before writing any automation script, a cloud engineer must master the ability to retrieve clean, predictable data programmatically rather than relying on brittle text parsing methods like grep.</a:t>
            </a:r>
          </a:p>
          <a:p>
            <a:r>
              <a:t>4. Reflection: Consider why grep is a poor choice for parsing JSON data; a simple change in line breaks or spacing could break a script, whereas jq parses the data structure itself.</a:t>
            </a:r>
          </a:p>
          <a:p>
            <a:r>
              <a:t>5. Also, recall that the -r flag in jq strips quotes from the output, which is essentially when passing values to other CLI commands.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How it Works: The Datasource</a:t>
            </a:r>
          </a:p>
          <a:p/>
          <a:p>
            <a:r>
              <a:t>Key Points:</a:t>
            </a:r>
          </a:p>
          <a:p>
            <a:r>
              <a:t>1. The magic of Cloud-Init relies on a Datasource.</a:t>
            </a:r>
          </a:p>
          <a:p>
            <a:r>
              <a:t>2. On boot, Cloud-Init acts like a detective, probing the network to find out where it is running.</a:t>
            </a:r>
          </a:p>
          <a:p>
            <a:r>
              <a:t>3. In OpenStack (and AWS), it typically queries the Metadata Service at the "Magic IP" 169.254.169.254.</a:t>
            </a:r>
          </a:p>
          <a:p>
            <a:r>
              <a:t>4. If it receives a response, it pulls down a JSON payload containing the instance's Hostname, SSH Keys, and the User Data provided by the operator.</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Execution Stages</a:t>
            </a:r>
          </a:p>
          <a:p/>
          <a:p>
            <a:r>
              <a:t>Key Points:</a:t>
            </a:r>
          </a:p>
          <a:p>
            <a:r>
              <a:t>1. Cloud-Init does not run as a single script; it executes in distinct stages throughout the boot process to ensure dependencies are met:</a:t>
            </a:r>
          </a:p>
          <a:p>
            <a:r>
              <a:t>1.</a:t>
            </a:r>
          </a:p>
          <a:p>
            <a:r>
              <a:t>2. Generator: Determines if cloud-init should run at all.</a:t>
            </a:r>
          </a:p>
          <a:p>
            <a:r>
              <a:t>3. 2.</a:t>
            </a:r>
          </a:p>
          <a:p>
            <a:r>
              <a:t>4. Local (Init): Finds the datasource and applies networking.</a:t>
            </a:r>
          </a:p>
          <a:p>
            <a:r>
              <a:t>5. This is critical because without networking, it cannot fetch further data.</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The Cloud-Config Format</a:t>
            </a:r>
          </a:p>
          <a:p/>
          <a:p>
            <a:r>
              <a:t>Key Points:</a:t>
            </a:r>
          </a:p>
          <a:p>
            <a:r>
              <a:t>1. While User Data can be a simple Bash script, the preferred format is Cloud-Config. This is a declarative YAML syntax that abstractly defines what you want, rather than how to do it. To use this format, the input string must begin with the #cloud-config directive.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Common Patterns (The Cookbook)</a:t>
            </a:r>
          </a:p>
          <a:p/>
          <a:p>
            <a:r>
              <a:t>Key Points:</a:t>
            </a:r>
          </a:p>
          <a:p>
            <a:r>
              <a:t>1. Writing User Data requires understanding common patterns. Below are standard recipes frequently used in production.</a:t>
            </a:r>
          </a:p>
          <a:p>
            <a:r>
              <a:t>2. Pattern 1: The Web Server</a:t>
            </a:r>
          </a:p>
          <a:p>
            <a:r>
              <a:t>This pattern installs a web server, writes a custom index file, and ensures the service is running.</a:t>
            </a:r>
          </a:p>
          <a:p>
            <a:r>
              <a:t>3. Pattern 2: The User Creator</a:t>
            </a:r>
          </a:p>
          <a:p>
            <a:r>
              <a:t>This pattern creates a new user account, grants it sudo privileges without a password requirement, and injects an SSH public key for secure access.</a:t>
            </a:r>
          </a:p>
          <a:p>
            <a:r>
              <a:t>4. Pattern 3: The Update</a:t>
            </a:r>
          </a:p>
          <a:p>
            <a:r>
              <a:t>This pattern instructs the system to upgrade all installed packages on boot. Use this cautiously, as it significantly increases the boot time.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Using it in CLI</a:t>
            </a:r>
          </a:p>
          <a:p/>
          <a:p>
            <a:r>
              <a:t>Key Points:</a:t>
            </a:r>
          </a:p>
          <a:p>
            <a:r>
              <a:t>1. To inject this configuration, you save the YAML to a local file (e.g., setup.yaml) and pass it to the compute API during the server creation process.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Troubleshooting (When things go wrong)</a:t>
            </a:r>
          </a:p>
          <a:p/>
          <a:p>
            <a:r>
              <a:t>Key Points:</a:t>
            </a:r>
          </a:p>
          <a:p>
            <a:r>
              <a:t>1. /var/log/cloud-init.log: The high-level log of what cloud-init attempted to do.</a:t>
            </a:r>
          </a:p>
          <a:p>
            <a:r>
              <a:t>2. /var/log/cloud-init-output.log: The raw stdout/stderr of your scripts. If your apt-get install failed, the error message will be here.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Checkpoint</a:t>
            </a:r>
          </a:p>
          <a:p/>
          <a:p>
            <a:r>
              <a:t>Key Points:</a:t>
            </a:r>
          </a:p>
          <a:p>
            <a:r>
              <a:t>1. Summary: Cloud-Init is the bridge between a generic OS image and a functional server.</a:t>
            </a:r>
          </a:p>
          <a:p>
            <a:r>
              <a:t>2. It relies on a Datasource (Metadata Service) to fetch configuration.</a:t>
            </a:r>
          </a:p>
          <a:p>
            <a:r>
              <a:t>3. It executes in strict Stages (Init -&gt; Config -&gt; Final) to ensure the network is ready before attempting to install software.</a:t>
            </a:r>
          </a:p>
          <a:p>
            <a:r>
              <a:t>4. Debugging automation failures requires inspecting the logs inside the VM, as errors here rarely stop the instance from booting.</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The "Bash Loop" (Imperative)</a:t>
            </a:r>
          </a:p>
          <a:p/>
          <a:p>
            <a:r>
              <a:t>Key Points:</a:t>
            </a:r>
          </a:p>
          <a:p>
            <a:r>
              <a:t>1. Imagine a scenario where you need to provision a cluster of five servers for a Load Balancing laboratory. Doing this manually is tedious and error-prone. A simple loop can automate the process effectively.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Python Automation (The SDK)</a:t>
            </a:r>
          </a:p>
          <a:p/>
          <a:p>
            <a:r>
              <a:t>Key Points:</a:t>
            </a:r>
          </a:p>
          <a:p>
            <a:r>
              <a:t>1. Why Python?</a:t>
            </a:r>
          </a:p>
          <a:p>
            <a:r>
              <a:t>2. Python offers several advantages over shell scripting.</a:t>
            </a:r>
          </a:p>
          <a:p>
            <a:r>
              <a:t>3. First, Error Handling is handled gracefully through try/except blocks, preventing the script from crashing unexpectedly.</a:t>
            </a:r>
          </a:p>
          <a:p>
            <a:r>
              <a:t>4. Second, Python's native Data Structures, such as Dictionaries and Lists, are far easier to manipulate than parsing string output from a CLI commands.</a:t>
            </a:r>
          </a:p>
          <a:p>
            <a:r>
              <a:t>5. Finally, the logic required for Idempotency—checking if a resource exists before attempting to create it—is significantly cleaner to implement.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3.2.1 Authentication (The clouds.yaml)</a:t>
            </a:r>
          </a:p>
          <a:p/>
          <a:p>
            <a:r>
              <a:t>Key Points:</a:t>
            </a:r>
          </a:p>
          <a:p>
            <a:r>
              <a:t>1. Hardcoding passwords into scripts is a major security risk. Instead, OpenStack uses a standardized configuration file named clouds.yaml to decouple credentials from code. When you run a script, the SDK searches for this file in a specific order of precedence:</a:t>
            </a:r>
          </a:p>
          <a:p>
            <a:r>
              <a:t>2. This allowing you to share your Python script with a colleague without accidentally sharing your password—they simply use their own clouds.yaml.</a:t>
            </a:r>
          </a:p>
          <a:p>
            <a:r>
              <a:t>3. Example Content (clouds.yaml):</a:t>
            </a:r>
          </a:p>
          <a:p>
            <a:r>
              <a:t>4. Connecting in Python: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3.2.2 Reading Resources (Listing Servers)</a:t>
            </a:r>
          </a:p>
          <a:p/>
          <a:p>
            <a:r>
              <a:t>Key Points:</a:t>
            </a:r>
          </a:p>
          <a:p>
            <a:r>
              <a:t>1. The SDK returns Objects, not text. This means you can access properties like .id or .status directly without complex parsing.</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3.2.3 Creating Resources (The Clean Way)</a:t>
            </a:r>
          </a:p>
          <a:p/>
          <a:p>
            <a:r>
              <a:t>Key Points:</a:t>
            </a:r>
          </a:p>
          <a:p>
            <a:r>
              <a:t>1. Creating a server in Python allows us to wrap the logic in a Try/Except block to handle failures (like Quota errors) gracefully.</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The Two Giants</a:t>
            </a:r>
          </a:p>
          <a:p/>
          <a:p>
            <a:r>
              <a:t>Key Points:</a:t>
            </a:r>
          </a:p>
          <a:p>
            <a:r>
              <a:t>1. Two primary tools dominate this landscape.</a:t>
            </a:r>
          </a:p>
          <a:p>
            <a:r>
              <a:t>2. Heat is the OpenStack Native orchestration engine.</a:t>
            </a:r>
          </a:p>
          <a:p>
            <a:r>
              <a:t>3. It is built directly into the platform, requires no external installation, and uses YAML templates.</a:t>
            </a:r>
          </a:p>
          <a:p>
            <a:r>
              <a:t>4. It is the ideal choice for pure OpenStack environments where external tool dependencies are undesirable.</a:t>
            </a:r>
          </a:p>
          <a:p>
            <a:r>
              <a:t>5. Terraform, created by HashiCorp, is the Industry Standard for multi-cloud provisioning.</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Syntax Comparison (Creating a Server)</a:t>
            </a:r>
          </a:p>
          <a:p/>
          <a:p>
            <a:r>
              <a:t>Key Points:</a:t>
            </a:r>
          </a:p>
          <a:p>
            <a:r>
              <a:t>1. Option A: OpenStack Heat (HOT)</a:t>
            </a:r>
          </a:p>
          <a:p>
            <a:r>
              <a:t>2. Option B: Terraform (HCL)</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Checkpoint</a:t>
            </a:r>
          </a:p>
          <a:p/>
          <a:p>
            <a:r>
              <a:t>Key Points:</a:t>
            </a:r>
          </a:p>
          <a:p>
            <a:r>
              <a:t>1. Summary: We have moved from Imperative scripts, where we define strict procedural steps, to Declarative IaC, where we define the target architecture.</a:t>
            </a:r>
          </a:p>
          <a:p>
            <a:r>
              <a:t>2. A critical property of these modern tools is Idempotency—the ability to execute the same script multiple times without causing errors or duplicating resources.</a:t>
            </a:r>
          </a:p>
          <a:p>
            <a:r>
              <a:t>3. If the resource already exists in the desired state, the tool simply does nothing.</a:t>
            </a:r>
          </a:p>
          <a:p>
            <a:r>
              <a:t>4. Reflection: Consider why a company using multiple cloud providers (e.g., AWS and on-prem OpenStack) would prefer Terraform over Heat.</a:t>
            </a:r>
          </a:p>
          <a:p>
            <a:r>
              <a:t>5. Also, think about the consequences of removing a resource definition from a Terraform file or Heat template; unlike a script which simply stops running, IaC tools will actively destroy the resource to ensure the real world matches your definition.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Anatomy of a Template</a:t>
            </a:r>
          </a:p>
          <a:p/>
          <a:p>
            <a:r>
              <a:t>Key Points:</a:t>
            </a:r>
          </a:p>
          <a:p>
            <a:r>
              <a:t>1. Heat uses YAML templates known as HOT (Heat Orchestration Templates). Every template follows a standard skeleton: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Building Blocks (Primitives)</a:t>
            </a:r>
          </a:p>
          <a:p/>
          <a:p>
            <a:r>
              <a:t>Key Points:</a:t>
            </a:r>
          </a:p>
          <a:p>
            <a:r>
              <a:t>1. Rather than writing a massive script immediately, let's look at how to create individual components.</a:t>
            </a:r>
          </a:p>
          <a:p>
            <a:r>
              <a:t>2. Creating a Network</a:t>
            </a:r>
          </a:p>
          <a:p>
            <a:r>
              <a:t>3. Creating a Security Group</a:t>
            </a:r>
          </a:p>
          <a:p>
            <a:r>
              <a:t>4. Creating a Block Storage Volume</a:t>
            </a:r>
          </a:p>
          <a:p>
            <a:r>
              <a:t>5. Creating a Virtual Machine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The Unified Stack</a:t>
            </a:r>
          </a:p>
          <a:p/>
          <a:p>
            <a:r>
              <a:t>Key Points:</a:t>
            </a:r>
          </a:p>
          <a:p>
            <a:r>
              <a:t>1. { get_resource: X }: Gets the ID of resource X.</a:t>
            </a:r>
          </a:p>
          <a:p>
            <a:r>
              <a:t>2. { get_param: Y }: Gets the value of user input Y.</a:t>
            </a:r>
          </a:p>
          <a:p>
            <a:r>
              <a:t>3. { get_attr: [Z, val] }: Gets a specific attribute (like an IP address) from resource Z.</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The Terraform Translation (Rosetta Stone)</a:t>
            </a:r>
          </a:p>
          <a:p/>
          <a:p>
            <a:r>
              <a:t>Key Points:</a:t>
            </a:r>
          </a:p>
          <a:p>
            <a:r>
              <a:t>1. To prove that these skills are transferable, here is the exact same Nginx server we built in Heat, translated into Terraform. Notice that while the keywords differ (resources vs resource), the structural logic—defining a network, security group, and server with dependencies—is identical.</a:t>
            </a:r>
          </a:p>
          <a:p>
            <a:r>
              <a:t>2. Terraform (main.tf)</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Beyond Single VMs: Magnum (Kubernetes)</a:t>
            </a:r>
          </a:p>
          <a:p/>
          <a:p>
            <a:r>
              <a:t>Key Points:</a:t>
            </a:r>
          </a:p>
          <a:p>
            <a:r>
              <a:t>1. Orchestration: Magnum uses Heat under the hood to deploy a stack.</a:t>
            </a:r>
          </a:p>
          <a:p>
            <a:r>
              <a:t>2. Resources: It automatically creates the Master Nodes, Worker Nodes, Load Balancers, and Private Networks.</a:t>
            </a:r>
          </a:p>
          <a:p>
            <a:r>
              <a:t>3. Result: Instead of a VM with Docker, you get a fully manageable Kubernetes Cluster.</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5.5.1 Step 4: Deploying Workloads (Pods vs VMs)</a:t>
            </a:r>
          </a:p>
          <a:p/>
          <a:p>
            <a:r>
              <a:t>Key Points:</a:t>
            </a:r>
          </a:p>
          <a:p>
            <a:r>
              <a:t>1. Now that the cluster is running, we stop talking to OpenStack (Heat) and start talking to Kubernetes (kubectl). Here is how we deploy Nginx with 3 Replicas (Load Balanced).</a:t>
            </a:r>
          </a:p>
          <a:p>
            <a:r>
              <a:t>2. Kubernetes Manifest (nginx-deployment.yaml)</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Checkpoint</a:t>
            </a:r>
          </a:p>
          <a:p/>
          <a:p>
            <a:r>
              <a:t>Key Points:</a:t>
            </a:r>
          </a:p>
          <a:p>
            <a:r>
              <a:t>1. Summary: Heat templates allow us to define an entire infrastructure stack in a single file. By understanding the core structure (Parameters, Resources, Outputs) and the Building Blocks (Cinder, Nova, Neutron resources), we can assemble complex environments that are consistently reproducible.</a:t>
            </a:r>
          </a:p>
          <a:p>
            <a:r>
              <a:t>2. Reflection: Why is it better to define the Security Group inside the template rather than assuming it already exists? (Hint: It makes the template "self-contained" and easier to deploy in a fresh project).</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The Inventory</a:t>
            </a:r>
          </a:p>
          <a:p/>
          <a:p>
            <a:r>
              <a:t>Key Points:</a:t>
            </a:r>
          </a:p>
          <a:p>
            <a:r>
              <a:t>1. Ansible needs to know what it is managing. This is defined in an Inventory file. While it supports a simple INI format, YAML is preferred for clarity.</a:t>
            </a:r>
          </a:p>
          <a:p>
            <a:r>
              <a:t>2. Example Inventory (hosts.yaml):</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 Ad-Hoc Commands</a:t>
            </a:r>
          </a:p>
          <a:p/>
          <a:p>
            <a:r>
              <a:t>Key Points:</a:t>
            </a:r>
          </a:p>
          <a:p>
            <a:r>
              <a:t>1. For quick, one-off tasks, you don't need to write a script. You can simply "speak" to your cluster using the CLI.</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 Playbooks (The Core)</a:t>
            </a:r>
          </a:p>
          <a:p/>
          <a:p>
            <a:r>
              <a:t>Key Points:</a:t>
            </a:r>
          </a:p>
          <a:p>
            <a:r>
              <a:t>1. While Ad-Hoc commands are useful, the real power lies in Playbooks. These are YAML files that describe a complex set of tasks—a "play."</a:t>
            </a:r>
          </a:p>
          <a:p>
            <a:r>
              <a:t>2. Example Playbook (site.yaml):</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 The Unified Pipeline (Integration)</a:t>
            </a:r>
          </a:p>
          <a:p/>
          <a:p>
            <a:r>
              <a:t>Key Points:</a:t>
            </a:r>
          </a:p>
          <a:p>
            <a:r>
              <a:t>1. The ultimate goal is to chain these tools together. A simple Bash script can act as the "glue" that triggers Heat to build the infrastructure, waits for the output, and then passes that information to Ansible for configuration.</a:t>
            </a:r>
          </a:p>
          <a:p>
            <a:r>
              <a:t>2. Example: deploy.sh</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 Checkpoint</a:t>
            </a:r>
          </a:p>
          <a:p/>
          <a:p>
            <a:r>
              <a:t>Key Points:</a:t>
            </a:r>
          </a:p>
          <a:p>
            <a:r>
              <a:t>1. Summary: Ansible fills the gap of "Day 2 Operations." It uses an Inventory to group servers and Playbooks to define their configuration. Unlike a Bash script which runs blindly, Ansible is Idempotent—it only acts if the system is not in the desired state.</a:t>
            </a:r>
          </a:p>
          <a:p>
            <a:r>
              <a:t>2. Reflection: Compare this to the Bash script in Section 3. If you ran that Bash script twice, it would try to create the servers again (and fail). If you run an Ansible playbook twice, it simply reports "OK" (No Change).</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Why Git?</a:t>
            </a:r>
          </a:p>
          <a:p/>
          <a:p>
            <a:r>
              <a:t>Key Points:</a:t>
            </a:r>
          </a:p>
          <a:p>
            <a:r>
              <a:t>1. History: "Who changed the firewall rule last Tuesday?" Git tells you exactly who and why.</a:t>
            </a:r>
          </a:p>
          <a:p>
            <a:r>
              <a:t>2. Rollback: If a new template breaks production, git revert allows you to instantly return to the working version.</a:t>
            </a:r>
          </a:p>
          <a:p>
            <a:r>
              <a:t>3. Collaboration: Multiple engineers can work on the same stack without overwriting each other's files.</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The Basic Workflow</a:t>
            </a:r>
          </a:p>
          <a:p/>
          <a:p>
            <a:r>
              <a:t>Key Points:</a:t>
            </a:r>
          </a:p>
          <a:p>
            <a:r>
              <a:t>1. Students are expected to manage their Capstone project using these commands:</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Strategic Summary</a:t>
            </a:r>
          </a:p>
          <a:p/>
          <a:p>
            <a:r>
              <a:t>Key Points:</a:t>
            </a:r>
          </a:p>
          <a:p>
            <a:r>
              <a:t>1. To help you lock in the mental model of "Which Tool, When?", review this comparison:</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Preparing for Week 12 (Part 1)</a:t>
            </a:r>
          </a:p>
          <a:p/>
          <a:p>
            <a:r>
              <a:t>Key Points:</a:t>
            </a:r>
          </a:p>
          <a:p>
            <a:r>
              <a:t>1. Next week is the Capstone Project.</a:t>
            </a:r>
          </a:p>
          <a:p>
            <a:r>
              <a:t>2. You will combine everything you have learned in the last 11 weeks to build a Production-Ready Cloud Environment.</a:t>
            </a:r>
          </a:p>
          <a:p>
            <a:r>
              <a:t>3. You will need to provision the network, compute nodes, and storage, and then configure a scalable web service using the automation tools we mastered this week.</a:t>
            </a:r>
          </a:p>
          <a:p>
            <a:r>
              <a:t>4. Can you differentiate between Imperative (Bash) and Declarative (Heat) automation?</a:t>
            </a:r>
          </a:p>
          <a:p>
            <a:r>
              <a:t>5. Do you understand why Idempotency is critical for Day-2 operations?</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Preparing for Week 12 (Part 2)</a:t>
            </a:r>
          </a:p>
          <a:p/>
          <a:p>
            <a:r>
              <a:t>Key Points:</a:t>
            </a:r>
          </a:p>
          <a:p>
            <a:r>
              <a:t>1. Can you explain the transition from Infrastructure-as-Service (Nova) to Platform-as-Service (Magnum)?</a:t>
            </a:r>
          </a:p>
          <a:p>
            <a:r>
              <a:t>2. Are you ready to use Git to manage your project templates?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1828800"/>
            <a:ext cx="7315200" cy="731520"/>
          </a:xfrm>
          <a:prstGeom prst="rect">
            <a:avLst/>
          </a:prstGeom>
          <a:noFill/>
        </p:spPr>
        <p:txBody>
          <a:bodyPr wrap="none">
            <a:spAutoFit/>
          </a:bodyPr>
          <a:lstStyle/>
          <a:p>
            <a:pPr algn="ctr">
              <a:defRPr sz="3600" b="1">
                <a:solidFill>
                  <a:srgbClr val="C9984A"/>
                </a:solidFill>
              </a:defRPr>
            </a:pPr>
            <a:r>
              <a:t>Week 11</a:t>
            </a:r>
          </a:p>
        </p:txBody>
      </p:sp>
      <p:sp>
        <p:nvSpPr>
          <p:cNvPr id="4" name="TextBox 3"/>
          <p:cNvSpPr txBox="1"/>
          <p:nvPr/>
        </p:nvSpPr>
        <p:spPr>
          <a:xfrm>
            <a:off x="457200" y="2743200"/>
            <a:ext cx="8229600" cy="1828800"/>
          </a:xfrm>
          <a:prstGeom prst="rect">
            <a:avLst/>
          </a:prstGeom>
          <a:noFill/>
        </p:spPr>
        <p:txBody>
          <a:bodyPr wrap="square">
            <a:spAutoFit/>
          </a:bodyPr>
          <a:lstStyle/>
          <a:p>
            <a:pPr algn="ctr">
              <a:defRPr sz="4400" b="1">
                <a:solidFill>
                  <a:srgbClr val="FFFFFF"/>
                </a:solidFill>
              </a:defRPr>
            </a:pPr>
            <a:r>
              <a:t>Automation and Cloud API</a:t>
            </a:r>
          </a:p>
        </p:txBody>
      </p:sp>
      <p:sp>
        <p:nvSpPr>
          <p:cNvPr id="5" name="TextBox 4"/>
          <p:cNvSpPr txBox="1"/>
          <p:nvPr/>
        </p:nvSpPr>
        <p:spPr>
          <a:xfrm>
            <a:off x="914400" y="5029200"/>
            <a:ext cx="7315200" cy="548640"/>
          </a:xfrm>
          <a:prstGeom prst="rect">
            <a:avLst/>
          </a:prstGeom>
          <a:noFill/>
        </p:spPr>
        <p:txBody>
          <a:bodyPr wrap="none">
            <a:spAutoFit/>
          </a:bodyPr>
          <a:lstStyle/>
          <a:p>
            <a:pPr algn="ctr">
              <a:defRPr sz="2000">
                <a:solidFill>
                  <a:srgbClr val="C8C8C8"/>
                </a:solidFill>
              </a:defRPr>
            </a:pPr>
            <a:r>
              <a:t>OPS3 - Virtualization and Cloud Infrastructure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600" b="1">
                <a:solidFill>
                  <a:srgbClr val="C9984A"/>
                </a:solidFill>
              </a:defRPr>
            </a:pPr>
            <a:r>
              <a:t>What You Will Learn This Week</a:t>
            </a:r>
          </a:p>
        </p:txBody>
      </p:sp>
      <p:sp>
        <p:nvSpPr>
          <p:cNvPr id="4" name="TextBox 3"/>
          <p:cNvSpPr txBox="1"/>
          <p:nvPr/>
        </p:nvSpPr>
        <p:spPr>
          <a:xfrm>
            <a:off x="1097280" y="2011680"/>
            <a:ext cx="6949440" cy="4114800"/>
          </a:xfrm>
          <a:prstGeom prst="rect">
            <a:avLst/>
          </a:prstGeom>
          <a:noFill/>
        </p:spPr>
        <p:txBody>
          <a:bodyPr wrap="square">
            <a:spAutoFit/>
          </a:bodyPr>
          <a:lstStyle/>
          <a:p>
            <a:pPr>
              <a:spcBef>
                <a:spcPts val="1000"/>
              </a:spcBef>
              <a:spcAft>
                <a:spcPts val="1000"/>
              </a:spcAft>
              <a:defRPr sz="2200">
                <a:solidFill>
                  <a:srgbClr val="FFFFFF"/>
                </a:solidFill>
              </a:defRPr>
            </a:pPr>
            <a:r>
              <a:t>Understand welcome to devops</a:t>
            </a:r>
          </a:p>
          <a:p>
            <a:pPr>
              <a:spcBef>
                <a:spcPts val="1000"/>
              </a:spcBef>
              <a:spcAft>
                <a:spcPts val="1000"/>
              </a:spcAft>
              <a:defRPr sz="2200">
                <a:solidFill>
                  <a:srgbClr val="FFFFFF"/>
                </a:solidFill>
              </a:defRPr>
            </a:pPr>
            <a:r>
              <a:t>Understand 1. advanced cli techniques</a:t>
            </a:r>
          </a:p>
          <a:p>
            <a:pPr>
              <a:spcBef>
                <a:spcPts val="1000"/>
              </a:spcBef>
              <a:spcAft>
                <a:spcPts val="1000"/>
              </a:spcAft>
              <a:defRPr sz="2200">
                <a:solidFill>
                  <a:srgbClr val="FFFFFF"/>
                </a:solidFill>
              </a:defRPr>
            </a:pPr>
            <a:r>
              <a:t>Understand 2. cloud-init: the standard for bootstrapping</a:t>
            </a:r>
          </a:p>
          <a:p>
            <a:pPr>
              <a:spcBef>
                <a:spcPts val="1000"/>
              </a:spcBef>
              <a:spcAft>
                <a:spcPts val="1000"/>
              </a:spcAft>
              <a:defRPr sz="2200">
                <a:solidFill>
                  <a:srgbClr val="FFFFFF"/>
                </a:solidFill>
              </a:defRPr>
            </a:pPr>
            <a:r>
              <a:t>Understand 3. automating with scripts</a:t>
            </a:r>
          </a:p>
          <a:p>
            <a:pPr>
              <a:spcBef>
                <a:spcPts val="1000"/>
              </a:spcBef>
              <a:spcAft>
                <a:spcPts val="1000"/>
              </a:spcAft>
              <a:defRPr sz="2200">
                <a:solidFill>
                  <a:srgbClr val="FFFFFF"/>
                </a:solidFill>
              </a:defRPr>
            </a:pPr>
            <a:r>
              <a:t>Understand 4. infrastructure as code: heat vs terraform</a:t>
            </a:r>
          </a:p>
          <a:p>
            <a:pPr>
              <a:spcBef>
                <a:spcPts val="1000"/>
              </a:spcBef>
              <a:spcAft>
                <a:spcPts val="1000"/>
              </a:spcAft>
              <a:defRPr sz="2200">
                <a:solidFill>
                  <a:srgbClr val="FFFFFF"/>
                </a:solidFill>
              </a:defRPr>
            </a:pPr>
            <a:r>
              <a:t>Understand 5. orchestration with heat (the template engine)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Welcome to DevOps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1. Advanced CLI Techniques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Formatting Output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CLI natively supports JSON output, which provides a structured and predictable data format that scripting languages can easily parse. By appending --format json to any command, we strip away the visual formatting and receive raw data objects.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Parsing with jq</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jq is a lightweight command-line JSON processor that allows us to filter, slice, and map JSON data directly in the terminal. It acts as a bridge between the verbose API output and the specific strings (like UUIDs) needed for subsequent commands.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Architectural Insight: Golden Images vs. Post-Boot Config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Golden Images (Mutable/Baked) involve installing all application dependencies—such as Apache, PHP, and custom code—into the Virtual Machine image before it is ever launched.</a:t>
            </a:r>
          </a:p>
          <a:p>
            <a:pPr>
              <a:spcBef>
                <a:spcPts val="800"/>
              </a:spcBef>
              <a:spcAft>
                <a:spcPts val="800"/>
              </a:spcAft>
              <a:defRPr sz="2000">
                <a:solidFill>
                  <a:srgbClr val="FFFFFF"/>
                </a:solidFill>
              </a:defRPr>
            </a:pPr>
            <a:r>
              <a:t>This is typically done using tools like Packer.</a:t>
            </a:r>
          </a:p>
          <a:p>
            <a:pPr>
              <a:spcBef>
                <a:spcPts val="800"/>
              </a:spcBef>
              <a:spcAft>
                <a:spcPts val="800"/>
              </a:spcAft>
              <a:defRPr sz="2000">
                <a:solidFill>
                  <a:srgbClr val="FFFFFF"/>
                </a:solidFill>
              </a:defRPr>
            </a:pPr>
            <a:r>
              <a:t>The primary advantage is speed; since the software is pre-installed, the VM is ready almost instantly upon boot.</a:t>
            </a:r>
          </a:p>
          <a:p>
            <a:pPr>
              <a:spcBef>
                <a:spcPts val="800"/>
              </a:spcBef>
              <a:spcAft>
                <a:spcPts val="800"/>
              </a:spcAft>
              <a:defRPr sz="2000">
                <a:solidFill>
                  <a:srgbClr val="FFFFFF"/>
                </a:solidFill>
              </a:defRPr>
            </a:pPr>
            <a:r>
              <a:t>However, this method suffers from "Image Sprawl," where every minor code change requires building and uploading a new multi-gigabyte image to Glance, consuming storage and bandwidth.</a:t>
            </a:r>
          </a:p>
          <a:p>
            <a:pPr>
              <a:spcBef>
                <a:spcPts val="800"/>
              </a:spcBef>
              <a:spcAft>
                <a:spcPts val="800"/>
              </a:spcAft>
              <a:defRPr sz="2000">
                <a:solidFill>
                  <a:srgbClr val="FFFFFF"/>
                </a:solidFill>
              </a:defRPr>
            </a:pPr>
            <a:r>
              <a:t>Post-Boot Configuration (Immutable/Runtime) takes a different approach.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Architectural Insight: Golden Images vs. Post-Boot Config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You launch a generic, "Vanilla" operating system image (like Ubuntu Cloud Image) and use automation tools to install software after the instance boots.</a:t>
            </a:r>
          </a:p>
          <a:p>
            <a:pPr>
              <a:spcBef>
                <a:spcPts val="800"/>
              </a:spcBef>
              <a:spcAft>
                <a:spcPts val="800"/>
              </a:spcAft>
              <a:defRPr sz="2000">
                <a:solidFill>
                  <a:srgbClr val="FFFFFF"/>
                </a:solidFill>
              </a:defRPr>
            </a:pPr>
            <a:r>
              <a:t>While this results in a slower initial startup time as packages are downloaded and installed, it offers superior flexibility.</a:t>
            </a:r>
          </a:p>
          <a:p>
            <a:pPr>
              <a:spcBef>
                <a:spcPts val="800"/>
              </a:spcBef>
              <a:spcAft>
                <a:spcPts val="800"/>
              </a:spcAft>
              <a:defRPr sz="2000">
                <a:solidFill>
                  <a:srgbClr val="FFFFFF"/>
                </a:solidFill>
              </a:defRPr>
            </a:pPr>
            <a:r>
              <a:t>A single small base image can serve thousands of different purposes.</a:t>
            </a:r>
          </a:p>
          <a:p>
            <a:pPr>
              <a:spcBef>
                <a:spcPts val="800"/>
              </a:spcBef>
              <a:spcAft>
                <a:spcPts val="800"/>
              </a:spcAft>
              <a:defRPr sz="2000">
                <a:solidFill>
                  <a:srgbClr val="FFFFFF"/>
                </a:solidFill>
              </a:defRPr>
            </a:pPr>
            <a:r>
              <a:t>Modern cloud architecture typically favors a Hybrid Approach, using a base image for the OS and tools like Ansible for the final application configuration.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Summary: JSON is the lingua franca of Cloud APIs, providing a structured format that is difficult for humans to read but trivial for machines to parse.</a:t>
            </a:r>
          </a:p>
          <a:p>
            <a:pPr>
              <a:spcBef>
                <a:spcPts val="800"/>
              </a:spcBef>
              <a:spcAft>
                <a:spcPts val="800"/>
              </a:spcAft>
              <a:defRPr sz="2000">
                <a:solidFill>
                  <a:srgbClr val="FFFFFF"/>
                </a:solidFill>
              </a:defRPr>
            </a:pPr>
            <a:r>
              <a:t>To work effectively with this data in a shell environment, jq is an essential tool for extracting specific fields like resource IDs.</a:t>
            </a:r>
          </a:p>
          <a:p>
            <a:pPr>
              <a:spcBef>
                <a:spcPts val="800"/>
              </a:spcBef>
              <a:spcAft>
                <a:spcPts val="800"/>
              </a:spcAft>
              <a:defRPr sz="2000">
                <a:solidFill>
                  <a:srgbClr val="FFFFFF"/>
                </a:solidFill>
              </a:defRPr>
            </a:pPr>
            <a:r>
              <a:t>Before writing any automation script, a cloud engineer must master the ability to retrieve clean, predictable data programmatically rather than relying on brittle text parsing methods like grep.</a:t>
            </a:r>
          </a:p>
          <a:p>
            <a:pPr>
              <a:spcBef>
                <a:spcPts val="800"/>
              </a:spcBef>
              <a:spcAft>
                <a:spcPts val="800"/>
              </a:spcAft>
              <a:defRPr sz="2000">
                <a:solidFill>
                  <a:srgbClr val="FFFFFF"/>
                </a:solidFill>
              </a:defRPr>
            </a:pPr>
            <a:r>
              <a:t>Reflection: Consider why grep is a poor choice for parsing JSON data; a simple change in line breaks or spacing could break a script, whereas jq parses the data structure itself.</a:t>
            </a:r>
          </a:p>
          <a:p>
            <a:pPr>
              <a:spcBef>
                <a:spcPts val="800"/>
              </a:spcBef>
              <a:spcAft>
                <a:spcPts val="800"/>
              </a:spcAft>
              <a:defRPr sz="2000">
                <a:solidFill>
                  <a:srgbClr val="FFFFFF"/>
                </a:solidFill>
              </a:defRPr>
            </a:pPr>
            <a:r>
              <a:t>Also, recall that the -r flag in jq strips quotes from the output, which is essentially when passing values to other CLI commands.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2. Cloud-Init: The Standard for Bootstrapping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How it Works: The Datasource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magic of Cloud-Init relies on a Datasource.</a:t>
            </a:r>
          </a:p>
          <a:p>
            <a:pPr>
              <a:spcBef>
                <a:spcPts val="800"/>
              </a:spcBef>
              <a:spcAft>
                <a:spcPts val="800"/>
              </a:spcAft>
              <a:defRPr sz="2000">
                <a:solidFill>
                  <a:srgbClr val="FFFFFF"/>
                </a:solidFill>
              </a:defRPr>
            </a:pPr>
            <a:r>
              <a:t>On boot, Cloud-Init acts like a detective, probing the network to find out where it is running.</a:t>
            </a:r>
          </a:p>
          <a:p>
            <a:pPr>
              <a:spcBef>
                <a:spcPts val="800"/>
              </a:spcBef>
              <a:spcAft>
                <a:spcPts val="800"/>
              </a:spcAft>
              <a:defRPr sz="2000">
                <a:solidFill>
                  <a:srgbClr val="FFFFFF"/>
                </a:solidFill>
              </a:defRPr>
            </a:pPr>
            <a:r>
              <a:t>In OpenStack (and AWS), it typically queries the Metadata Service at the "Magic IP" 169.254.169.254.</a:t>
            </a:r>
          </a:p>
          <a:p>
            <a:pPr>
              <a:spcBef>
                <a:spcPts val="800"/>
              </a:spcBef>
              <a:spcAft>
                <a:spcPts val="800"/>
              </a:spcAft>
              <a:defRPr sz="2000">
                <a:solidFill>
                  <a:srgbClr val="FFFFFF"/>
                </a:solidFill>
              </a:defRPr>
            </a:pPr>
            <a:r>
              <a:t>If it receives a response, it pulls down a JSON payload containing the instance's Hostname, SSH Keys, and the User Data provided by the operator.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Execution Stages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Cloud-Init does not run as a single script; it executes in distinct stages throughout the boot process to ensure dependencies are met:</a:t>
            </a:r>
            <a:br/>
            <a:r>
              <a:t>1.</a:t>
            </a:r>
          </a:p>
          <a:p>
            <a:pPr>
              <a:spcBef>
                <a:spcPts val="800"/>
              </a:spcBef>
              <a:spcAft>
                <a:spcPts val="800"/>
              </a:spcAft>
              <a:defRPr sz="2000">
                <a:solidFill>
                  <a:srgbClr val="FFFFFF"/>
                </a:solidFill>
              </a:defRPr>
            </a:pPr>
            <a:r>
              <a:t>Generator: Determines if cloud-init should run at all.</a:t>
            </a:r>
          </a:p>
          <a:p>
            <a:pPr>
              <a:spcBef>
                <a:spcPts val="800"/>
              </a:spcBef>
              <a:spcAft>
                <a:spcPts val="800"/>
              </a:spcAft>
              <a:defRPr sz="2000">
                <a:solidFill>
                  <a:srgbClr val="FFFFFF"/>
                </a:solidFill>
              </a:defRPr>
            </a:pPr>
            <a:r>
              <a:t>2.</a:t>
            </a:r>
          </a:p>
          <a:p>
            <a:pPr>
              <a:spcBef>
                <a:spcPts val="800"/>
              </a:spcBef>
              <a:spcAft>
                <a:spcPts val="800"/>
              </a:spcAft>
              <a:defRPr sz="2000">
                <a:solidFill>
                  <a:srgbClr val="FFFFFF"/>
                </a:solidFill>
              </a:defRPr>
            </a:pPr>
            <a:r>
              <a:t>Local (Init): Finds the datasource and applies networking.</a:t>
            </a:r>
          </a:p>
          <a:p>
            <a:pPr>
              <a:spcBef>
                <a:spcPts val="800"/>
              </a:spcBef>
              <a:spcAft>
                <a:spcPts val="800"/>
              </a:spcAft>
              <a:defRPr sz="2000">
                <a:solidFill>
                  <a:srgbClr val="FFFFFF"/>
                </a:solidFill>
              </a:defRPr>
            </a:pPr>
            <a:r>
              <a:t>This is critical because without networking, it cannot fetch further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2.3 The Cloud-Config Format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While User Data can be a simple Bash script, the preferred format is Cloud-Config. This is a declarative YAML syntax that abstractly defines what you want, rather than how to do it. To use this format, the input string must begin with the #cloud-config directive.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2.4 Common Patterns (The Cookbook)</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Writing User Data requires understanding common patterns. Below are standard recipes frequently used in production.</a:t>
            </a:r>
          </a:p>
          <a:p>
            <a:pPr>
              <a:spcBef>
                <a:spcPts val="800"/>
              </a:spcBef>
              <a:spcAft>
                <a:spcPts val="800"/>
              </a:spcAft>
              <a:defRPr sz="2000">
                <a:solidFill>
                  <a:srgbClr val="FFFFFF"/>
                </a:solidFill>
              </a:defRPr>
            </a:pPr>
            <a:r>
              <a:t>Pattern 1: The Web Server</a:t>
            </a:r>
            <a:br/>
            <a:r>
              <a:t>This pattern installs a web server, writes a custom index file, and ensures the service is running.</a:t>
            </a:r>
          </a:p>
          <a:p>
            <a:pPr>
              <a:spcBef>
                <a:spcPts val="800"/>
              </a:spcBef>
              <a:spcAft>
                <a:spcPts val="800"/>
              </a:spcAft>
              <a:defRPr sz="2000">
                <a:solidFill>
                  <a:srgbClr val="FFFFFF"/>
                </a:solidFill>
              </a:defRPr>
            </a:pPr>
            <a:r>
              <a:t>Pattern 2: The User Creator</a:t>
            </a:r>
            <a:br/>
            <a:r>
              <a:t>This pattern creates a new user account, grants it sudo privileges without a password requirement, and injects an SSH public key for secure access.</a:t>
            </a:r>
          </a:p>
          <a:p>
            <a:pPr>
              <a:spcBef>
                <a:spcPts val="800"/>
              </a:spcBef>
              <a:spcAft>
                <a:spcPts val="800"/>
              </a:spcAft>
              <a:defRPr sz="2000">
                <a:solidFill>
                  <a:srgbClr val="FFFFFF"/>
                </a:solidFill>
              </a:defRPr>
            </a:pPr>
            <a:r>
              <a:t>Pattern 3: The Update</a:t>
            </a:r>
            <a:br/>
            <a:r>
              <a:t>This pattern instructs the system to upgrade all installed packages on boot. Use this cautiously, as it significantly increases the boot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2.5 Using it in CLI</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To inject this configuration, you save the YAML to a local file (e.g., setup.yaml) and pass it to the compute API during the server creation process.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2.6 Troubleshooting (When things go wrong)</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/var/log/cloud-init.log: The high-level log of what cloud-init attempted to do.</a:t>
            </a:r>
          </a:p>
          <a:p>
            <a:pPr>
              <a:spcBef>
                <a:spcPts val="800"/>
              </a:spcBef>
              <a:spcAft>
                <a:spcPts val="800"/>
              </a:spcAft>
              <a:defRPr sz="2000">
                <a:solidFill>
                  <a:srgbClr val="FFFFFF"/>
                </a:solidFill>
              </a:defRPr>
            </a:pPr>
            <a:r>
              <a:t>/var/log/cloud-init-output.log: The raw stdout/stderr of your scripts. If your apt-get install failed, the error message will be here.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2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Summary: Cloud-Init is the bridge between a generic OS image and a functional server.</a:t>
            </a:r>
          </a:p>
          <a:p>
            <a:pPr>
              <a:spcBef>
                <a:spcPts val="800"/>
              </a:spcBef>
              <a:spcAft>
                <a:spcPts val="800"/>
              </a:spcAft>
              <a:defRPr sz="2000">
                <a:solidFill>
                  <a:srgbClr val="FFFFFF"/>
                </a:solidFill>
              </a:defRPr>
            </a:pPr>
            <a:r>
              <a:t>It relies on a Datasource (Metadata Service) to fetch configuration.</a:t>
            </a:r>
          </a:p>
          <a:p>
            <a:pPr>
              <a:spcBef>
                <a:spcPts val="800"/>
              </a:spcBef>
              <a:spcAft>
                <a:spcPts val="800"/>
              </a:spcAft>
              <a:defRPr sz="2000">
                <a:solidFill>
                  <a:srgbClr val="FFFFFF"/>
                </a:solidFill>
              </a:defRPr>
            </a:pPr>
            <a:r>
              <a:t>It executes in strict Stages (Init -&gt; Config -&gt; Final) to ensure the network is ready before attempting to install software.</a:t>
            </a:r>
          </a:p>
          <a:p>
            <a:pPr>
              <a:spcBef>
                <a:spcPts val="800"/>
              </a:spcBef>
              <a:spcAft>
                <a:spcPts val="800"/>
              </a:spcAft>
              <a:defRPr sz="2000">
                <a:solidFill>
                  <a:srgbClr val="FFFFFF"/>
                </a:solidFill>
              </a:defRPr>
            </a:pPr>
            <a:r>
              <a:t>Debugging automation failures requires inspecting the logs inside the VM, as errors here rarely stop the instance from booting.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3. Automating with Scripts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3.1 The "Bash Loop" (Imperative)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Imagine a scenario where you need to provision a cluster of five servers for a Load Balancing laboratory. Doing this manually is tedious and error-prone. A simple loop can automate the process effectively.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3.2 Python Automation (The SDK)</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Why Python?</a:t>
            </a:r>
          </a:p>
          <a:p>
            <a:pPr>
              <a:spcBef>
                <a:spcPts val="800"/>
              </a:spcBef>
              <a:spcAft>
                <a:spcPts val="800"/>
              </a:spcAft>
              <a:defRPr sz="2000">
                <a:solidFill>
                  <a:srgbClr val="FFFFFF"/>
                </a:solidFill>
              </a:defRPr>
            </a:pPr>
            <a:r>
              <a:t>Python offers several advantages over shell scripting.</a:t>
            </a:r>
          </a:p>
          <a:p>
            <a:pPr>
              <a:spcBef>
                <a:spcPts val="800"/>
              </a:spcBef>
              <a:spcAft>
                <a:spcPts val="800"/>
              </a:spcAft>
              <a:defRPr sz="2000">
                <a:solidFill>
                  <a:srgbClr val="FFFFFF"/>
                </a:solidFill>
              </a:defRPr>
            </a:pPr>
            <a:r>
              <a:t>First, Error Handling is handled gracefully through try/except blocks, preventing the script from crashing unexpectedly.</a:t>
            </a:r>
          </a:p>
          <a:p>
            <a:pPr>
              <a:spcBef>
                <a:spcPts val="800"/>
              </a:spcBef>
              <a:spcAft>
                <a:spcPts val="800"/>
              </a:spcAft>
              <a:defRPr sz="2000">
                <a:solidFill>
                  <a:srgbClr val="FFFFFF"/>
                </a:solidFill>
              </a:defRPr>
            </a:pPr>
            <a:r>
              <a:t>Second, Python's native Data Structures, such as Dictionaries and Lists, are far easier to manipulate than parsing string output from a CLI commands.</a:t>
            </a:r>
          </a:p>
          <a:p>
            <a:pPr>
              <a:spcBef>
                <a:spcPts val="800"/>
              </a:spcBef>
              <a:spcAft>
                <a:spcPts val="800"/>
              </a:spcAft>
              <a:defRPr sz="2000">
                <a:solidFill>
                  <a:srgbClr val="FFFFFF"/>
                </a:solidFill>
              </a:defRPr>
            </a:pPr>
            <a:r>
              <a:t>Finally, the logic required for Idempotency—checking if a resource exists before attempting to create it—is significantly cleaner to implement.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3.2.1 Authentication (The clouds.yaml)</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Hardcoding passwords into scripts is a major security risk. Instead, OpenStack uses a standardized configuration file named clouds.yaml to decouple credentials from code. When you run a script, the SDK searches for this file in a specific order of precedence:</a:t>
            </a:r>
          </a:p>
          <a:p>
            <a:pPr>
              <a:spcBef>
                <a:spcPts val="800"/>
              </a:spcBef>
              <a:spcAft>
                <a:spcPts val="800"/>
              </a:spcAft>
              <a:defRPr sz="2000">
                <a:solidFill>
                  <a:srgbClr val="FFFFFF"/>
                </a:solidFill>
              </a:defRPr>
            </a:pPr>
            <a:r>
              <a:t>This allowing you to share your Python script with a colleague without accidentally sharing your password—they simply use their own clouds.yaml.</a:t>
            </a:r>
          </a:p>
          <a:p>
            <a:pPr>
              <a:spcBef>
                <a:spcPts val="800"/>
              </a:spcBef>
              <a:spcAft>
                <a:spcPts val="800"/>
              </a:spcAft>
              <a:defRPr sz="2000">
                <a:solidFill>
                  <a:srgbClr val="FFFFFF"/>
                </a:solidFill>
              </a:defRPr>
            </a:pPr>
            <a:r>
              <a:t>Example Content (clouds.yaml):</a:t>
            </a:r>
          </a:p>
          <a:p>
            <a:pPr>
              <a:spcBef>
                <a:spcPts val="800"/>
              </a:spcBef>
              <a:spcAft>
                <a:spcPts val="800"/>
              </a:spcAft>
              <a:defRPr sz="2000">
                <a:solidFill>
                  <a:srgbClr val="FFFFFF"/>
                </a:solidFill>
              </a:defRPr>
            </a:pPr>
            <a:r>
              <a:t>Connecting in Python: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3.2.2 Reading Resources (Listing Servers)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SDK returns Objects, not text. This means you can access properties like .id or .status directly without complex parsing.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3.2.3 Creating Resources (The Clean Way)</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Creating a server in Python allows us to wrap the logic in a Try/Except block to handle failures (like Quota errors) gracefully.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4. Infrastructure as Code: Heat vs Terraform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4.1 The Two Giants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Two primary tools dominate this landscape.</a:t>
            </a:r>
          </a:p>
          <a:p>
            <a:pPr>
              <a:spcBef>
                <a:spcPts val="800"/>
              </a:spcBef>
              <a:spcAft>
                <a:spcPts val="800"/>
              </a:spcAft>
              <a:defRPr sz="2000">
                <a:solidFill>
                  <a:srgbClr val="FFFFFF"/>
                </a:solidFill>
              </a:defRPr>
            </a:pPr>
            <a:r>
              <a:t>Heat is the OpenStack Native orchestration engine.</a:t>
            </a:r>
          </a:p>
          <a:p>
            <a:pPr>
              <a:spcBef>
                <a:spcPts val="800"/>
              </a:spcBef>
              <a:spcAft>
                <a:spcPts val="800"/>
              </a:spcAft>
              <a:defRPr sz="2000">
                <a:solidFill>
                  <a:srgbClr val="FFFFFF"/>
                </a:solidFill>
              </a:defRPr>
            </a:pPr>
            <a:r>
              <a:t>It is built directly into the platform, requires no external installation, and uses YAML templates.</a:t>
            </a:r>
          </a:p>
          <a:p>
            <a:pPr>
              <a:spcBef>
                <a:spcPts val="800"/>
              </a:spcBef>
              <a:spcAft>
                <a:spcPts val="800"/>
              </a:spcAft>
              <a:defRPr sz="2000">
                <a:solidFill>
                  <a:srgbClr val="FFFFFF"/>
                </a:solidFill>
              </a:defRPr>
            </a:pPr>
            <a:r>
              <a:t>It is the ideal choice for pure OpenStack environments where external tool dependencies are undesirable.</a:t>
            </a:r>
          </a:p>
          <a:p>
            <a:pPr>
              <a:spcBef>
                <a:spcPts val="800"/>
              </a:spcBef>
              <a:spcAft>
                <a:spcPts val="800"/>
              </a:spcAft>
              <a:defRPr sz="2000">
                <a:solidFill>
                  <a:srgbClr val="FFFFFF"/>
                </a:solidFill>
              </a:defRPr>
            </a:pPr>
            <a:r>
              <a:t>Terraform, created by HashiCorp, is the Industry Standard for multi-cloud provisioning.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4.2 Syntax Comparison (Creating a Server)</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Option A: OpenStack Heat (HOT)</a:t>
            </a:r>
          </a:p>
          <a:p>
            <a:pPr>
              <a:spcBef>
                <a:spcPts val="800"/>
              </a:spcBef>
              <a:spcAft>
                <a:spcPts val="800"/>
              </a:spcAft>
              <a:defRPr sz="2000">
                <a:solidFill>
                  <a:srgbClr val="FFFFFF"/>
                </a:solidFill>
              </a:defRPr>
            </a:pPr>
            <a:r>
              <a:t>Option B: Terraform (HCL)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4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Summary: We have moved from Imperative scripts, where we define strict procedural steps, to Declarative IaC, where we define the target architecture.</a:t>
            </a:r>
          </a:p>
          <a:p>
            <a:pPr>
              <a:spcBef>
                <a:spcPts val="800"/>
              </a:spcBef>
              <a:spcAft>
                <a:spcPts val="800"/>
              </a:spcAft>
              <a:defRPr sz="2000">
                <a:solidFill>
                  <a:srgbClr val="FFFFFF"/>
                </a:solidFill>
              </a:defRPr>
            </a:pPr>
            <a:r>
              <a:t>A critical property of these modern tools is Idempotency—the ability to execute the same script multiple times without causing errors or duplicating resources.</a:t>
            </a:r>
          </a:p>
          <a:p>
            <a:pPr>
              <a:spcBef>
                <a:spcPts val="800"/>
              </a:spcBef>
              <a:spcAft>
                <a:spcPts val="800"/>
              </a:spcAft>
              <a:defRPr sz="2000">
                <a:solidFill>
                  <a:srgbClr val="FFFFFF"/>
                </a:solidFill>
              </a:defRPr>
            </a:pPr>
            <a:r>
              <a:t>If the resource already exists in the desired state, the tool simply does nothing.</a:t>
            </a:r>
          </a:p>
          <a:p>
            <a:pPr>
              <a:spcBef>
                <a:spcPts val="800"/>
              </a:spcBef>
              <a:spcAft>
                <a:spcPts val="800"/>
              </a:spcAft>
              <a:defRPr sz="2000">
                <a:solidFill>
                  <a:srgbClr val="FFFFFF"/>
                </a:solidFill>
              </a:defRPr>
            </a:pPr>
            <a:r>
              <a:t>Reflection: Consider why a company using multiple cloud providers (e.g., AWS and on-prem OpenStack) would prefer Terraform over Heat.</a:t>
            </a:r>
          </a:p>
          <a:p>
            <a:pPr>
              <a:spcBef>
                <a:spcPts val="800"/>
              </a:spcBef>
              <a:spcAft>
                <a:spcPts val="800"/>
              </a:spcAft>
              <a:defRPr sz="2000">
                <a:solidFill>
                  <a:srgbClr val="FFFFFF"/>
                </a:solidFill>
              </a:defRPr>
            </a:pPr>
            <a:r>
              <a:t>Also, think about the consequences of removing a resource definition from a Terraform file or Heat template; unlike a script which simply stops running, IaC tools will actively destroy the resource to ensure the real world matches your definition.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5. Orchestration with Heat (The Template Engine)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5.1 Anatomy of a Template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Heat uses YAML templates known as HOT (Heat Orchestration Templates). Every template follows a standard skeleton: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5.2 Building Blocks (Primitives)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Rather than writing a massive script immediately, let's look at how to create individual components.</a:t>
            </a:r>
          </a:p>
          <a:p>
            <a:pPr>
              <a:spcBef>
                <a:spcPts val="800"/>
              </a:spcBef>
              <a:spcAft>
                <a:spcPts val="800"/>
              </a:spcAft>
              <a:defRPr sz="2000">
                <a:solidFill>
                  <a:srgbClr val="FFFFFF"/>
                </a:solidFill>
              </a:defRPr>
            </a:pPr>
            <a:r>
              <a:t>Creating a Network</a:t>
            </a:r>
          </a:p>
          <a:p>
            <a:pPr>
              <a:spcBef>
                <a:spcPts val="800"/>
              </a:spcBef>
              <a:spcAft>
                <a:spcPts val="800"/>
              </a:spcAft>
              <a:defRPr sz="2000">
                <a:solidFill>
                  <a:srgbClr val="FFFFFF"/>
                </a:solidFill>
              </a:defRPr>
            </a:pPr>
            <a:r>
              <a:t>Creating a Security Group</a:t>
            </a:r>
          </a:p>
          <a:p>
            <a:pPr>
              <a:spcBef>
                <a:spcPts val="800"/>
              </a:spcBef>
              <a:spcAft>
                <a:spcPts val="800"/>
              </a:spcAft>
              <a:defRPr sz="2000">
                <a:solidFill>
                  <a:srgbClr val="FFFFFF"/>
                </a:solidFill>
              </a:defRPr>
            </a:pPr>
            <a:r>
              <a:t>Creating a Block Storage Volume</a:t>
            </a:r>
          </a:p>
          <a:p>
            <a:pPr>
              <a:spcBef>
                <a:spcPts val="800"/>
              </a:spcBef>
              <a:spcAft>
                <a:spcPts val="800"/>
              </a:spcAft>
              <a:defRPr sz="2000">
                <a:solidFill>
                  <a:srgbClr val="FFFFFF"/>
                </a:solidFill>
              </a:defRPr>
            </a:pPr>
            <a:r>
              <a:t>Creating a Virtual Machine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5.3 The Unified Stack</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 get_resource: X }: Gets the ID of resource X.</a:t>
            </a:r>
          </a:p>
          <a:p>
            <a:pPr>
              <a:spcBef>
                <a:spcPts val="800"/>
              </a:spcBef>
              <a:spcAft>
                <a:spcPts val="800"/>
              </a:spcAft>
              <a:defRPr sz="2000">
                <a:solidFill>
                  <a:srgbClr val="FFFFFF"/>
                </a:solidFill>
              </a:defRPr>
            </a:pPr>
            <a:r>
              <a:t>{ get_param: Y }: Gets the value of user input Y.</a:t>
            </a:r>
          </a:p>
          <a:p>
            <a:pPr>
              <a:spcBef>
                <a:spcPts val="800"/>
              </a:spcBef>
              <a:spcAft>
                <a:spcPts val="800"/>
              </a:spcAft>
              <a:defRPr sz="2000">
                <a:solidFill>
                  <a:srgbClr val="FFFFFF"/>
                </a:solidFill>
              </a:defRPr>
            </a:pPr>
            <a:r>
              <a:t>{ get_attr: [Z, val] }: Gets a specific attribute (like an IP address) from resource Z.</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5.4 The Terraform Translation (Rosetta Stone)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To prove that these skills are transferable, here is the exact same Nginx server we built in Heat, translated into Terraform. Notice that while the keywords differ (resources vs resource), the structural logic—defining a network, security group, and server with dependencies—is identical.</a:t>
            </a:r>
          </a:p>
          <a:p>
            <a:pPr>
              <a:spcBef>
                <a:spcPts val="800"/>
              </a:spcBef>
              <a:spcAft>
                <a:spcPts val="800"/>
              </a:spcAft>
              <a:defRPr sz="2000">
                <a:solidFill>
                  <a:srgbClr val="FFFFFF"/>
                </a:solidFill>
              </a:defRPr>
            </a:pPr>
            <a:r>
              <a:t>Terraform (main.tf)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5.5 Beyond Single VMs: Magnum (Kubernetes)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Orchestration: Magnum uses Heat under the hood to deploy a stack.</a:t>
            </a:r>
          </a:p>
          <a:p>
            <a:pPr>
              <a:spcBef>
                <a:spcPts val="800"/>
              </a:spcBef>
              <a:spcAft>
                <a:spcPts val="800"/>
              </a:spcAft>
              <a:defRPr sz="2000">
                <a:solidFill>
                  <a:srgbClr val="FFFFFF"/>
                </a:solidFill>
              </a:defRPr>
            </a:pPr>
            <a:r>
              <a:t>Resources: It automatically creates the Master Nodes, Worker Nodes, Load Balancers, and Private Networks.</a:t>
            </a:r>
          </a:p>
          <a:p>
            <a:pPr>
              <a:spcBef>
                <a:spcPts val="800"/>
              </a:spcBef>
              <a:spcAft>
                <a:spcPts val="800"/>
              </a:spcAft>
              <a:defRPr sz="2000">
                <a:solidFill>
                  <a:srgbClr val="FFFFFF"/>
                </a:solidFill>
              </a:defRPr>
            </a:pPr>
            <a:r>
              <a:t>Result: Instead of a VM with Docker, you get a fully manageable Kubernetes Cluster.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5.5.1 Step 4: Deploying Workloads (Pods vs VMs)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Now that the cluster is running, we stop talking to OpenStack (Heat) and start talking to Kubernetes (kubectl). Here is how we deploy Nginx with 3 Replicas (Load Balanced).</a:t>
            </a:r>
          </a:p>
          <a:p>
            <a:pPr>
              <a:spcBef>
                <a:spcPts val="800"/>
              </a:spcBef>
              <a:spcAft>
                <a:spcPts val="800"/>
              </a:spcAft>
              <a:defRPr sz="2000">
                <a:solidFill>
                  <a:srgbClr val="FFFFFF"/>
                </a:solidFill>
              </a:defRPr>
            </a:pPr>
            <a:r>
              <a:t>Kubernetes Manifest (nginx-deployment.yaml)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5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Summary: Heat templates allow us to define an entire infrastructure stack in a single file. By understanding the core structure (Parameters, Resources, Outputs) and the Building Blocks (Cinder, Nova, Neutron resources), we can assemble complex environments that are consistently reproducible.</a:t>
            </a:r>
          </a:p>
          <a:p>
            <a:pPr>
              <a:spcBef>
                <a:spcPts val="800"/>
              </a:spcBef>
              <a:spcAft>
                <a:spcPts val="800"/>
              </a:spcAft>
              <a:defRPr sz="2000">
                <a:solidFill>
                  <a:srgbClr val="FFFFFF"/>
                </a:solidFill>
              </a:defRPr>
            </a:pPr>
            <a:r>
              <a:t>Reflection: Why is it better to define the Security Group inside the template rather than assuming it already exists? (Hint: It makes the template "self-contained" and easier to deploy in a fresh project).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6. Configuration Management with Ansible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6.1 The Inventory</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Ansible needs to know what it is managing. This is defined in an Inventory file. While it supports a simple INI format, YAML is preferred for clarity.</a:t>
            </a:r>
          </a:p>
          <a:p>
            <a:pPr>
              <a:spcBef>
                <a:spcPts val="800"/>
              </a:spcBef>
              <a:spcAft>
                <a:spcPts val="800"/>
              </a:spcAft>
              <a:defRPr sz="2000">
                <a:solidFill>
                  <a:srgbClr val="FFFFFF"/>
                </a:solidFill>
              </a:defRPr>
            </a:pPr>
            <a:r>
              <a:t>Example Inventory (hosts.yaml):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6.2 Ad-Hoc Commands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For quick, one-off tasks, you don't need to write a script. You can simply "speak" to your cluster using the CLI.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6.3 Playbooks (The Core)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While Ad-Hoc commands are useful, the real power lies in Playbooks. These are YAML files that describe a complex set of tasks—a "play."</a:t>
            </a:r>
          </a:p>
          <a:p>
            <a:pPr>
              <a:spcBef>
                <a:spcPts val="800"/>
              </a:spcBef>
              <a:spcAft>
                <a:spcPts val="800"/>
              </a:spcAft>
              <a:defRPr sz="2000">
                <a:solidFill>
                  <a:srgbClr val="FFFFFF"/>
                </a:solidFill>
              </a:defRPr>
            </a:pPr>
            <a:r>
              <a:t>Example Playbook (site.yaml):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6.4 The Unified Pipeline (Integration)</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ultimate goal is to chain these tools together. A simple Bash script can act as the "glue" that triggers Heat to build the infrastructure, waits for the output, and then passes that information to Ansible for configuration.</a:t>
            </a:r>
          </a:p>
          <a:p>
            <a:pPr>
              <a:spcBef>
                <a:spcPts val="800"/>
              </a:spcBef>
              <a:spcAft>
                <a:spcPts val="800"/>
              </a:spcAft>
              <a:defRPr sz="2000">
                <a:solidFill>
                  <a:srgbClr val="FFFFFF"/>
                </a:solidFill>
              </a:defRPr>
            </a:pPr>
            <a:r>
              <a:t>Example: deploy.sh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6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Summary: Ansible fills the gap of "Day 2 Operations." It uses an Inventory to group servers and Playbooks to define their configuration. Unlike a Bash script which runs blindly, Ansible is Idempotent—it only acts if the system is not in the desired state.</a:t>
            </a:r>
          </a:p>
          <a:p>
            <a:pPr>
              <a:spcBef>
                <a:spcPts val="800"/>
              </a:spcBef>
              <a:spcAft>
                <a:spcPts val="800"/>
              </a:spcAft>
              <a:defRPr sz="2000">
                <a:solidFill>
                  <a:srgbClr val="FFFFFF"/>
                </a:solidFill>
              </a:defRPr>
            </a:pPr>
            <a:r>
              <a:t>Reflection: Compare this to the Bash script in Section 3. If you ran that Bash script twice, it would try to create the servers again (and fail). If you run an Ansible playbook twice, it simply reports "OK" (No Change).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7. Version Control: Managing your Templates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7.1 Why Git?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History: "Who changed the firewall rule last Tuesday?" Git tells you exactly who and why.</a:t>
            </a:r>
          </a:p>
          <a:p>
            <a:pPr>
              <a:spcBef>
                <a:spcPts val="800"/>
              </a:spcBef>
              <a:spcAft>
                <a:spcPts val="800"/>
              </a:spcAft>
              <a:defRPr sz="2000">
                <a:solidFill>
                  <a:srgbClr val="FFFFFF"/>
                </a:solidFill>
              </a:defRPr>
            </a:pPr>
            <a:r>
              <a:t>Rollback: If a new template breaks production, git revert allows you to instantly return to the working version.</a:t>
            </a:r>
          </a:p>
          <a:p>
            <a:pPr>
              <a:spcBef>
                <a:spcPts val="800"/>
              </a:spcBef>
              <a:spcAft>
                <a:spcPts val="800"/>
              </a:spcAft>
              <a:defRPr sz="2000">
                <a:solidFill>
                  <a:srgbClr val="FFFFFF"/>
                </a:solidFill>
              </a:defRPr>
            </a:pPr>
            <a:r>
              <a:t>Collaboration: Multiple engineers can work on the same stack without overwriting each other's files.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7.2 The Basic Workflow</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Students are expected to manage their Capstone project using these commands: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7.3 Strategic Summary</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To help you lock in the mental model of "Which Tool, When?", review this comparison: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8. Summary and Next Steps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Preparing for Week 12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Next week is the Capstone Project.</a:t>
            </a:r>
          </a:p>
          <a:p>
            <a:pPr>
              <a:spcBef>
                <a:spcPts val="800"/>
              </a:spcBef>
              <a:spcAft>
                <a:spcPts val="800"/>
              </a:spcAft>
              <a:defRPr sz="2000">
                <a:solidFill>
                  <a:srgbClr val="FFFFFF"/>
                </a:solidFill>
              </a:defRPr>
            </a:pPr>
            <a:r>
              <a:t>You will combine everything you have learned in the last 11 weeks to build a Production-Ready Cloud Environment.</a:t>
            </a:r>
          </a:p>
          <a:p>
            <a:pPr>
              <a:spcBef>
                <a:spcPts val="800"/>
              </a:spcBef>
              <a:spcAft>
                <a:spcPts val="800"/>
              </a:spcAft>
              <a:defRPr sz="2000">
                <a:solidFill>
                  <a:srgbClr val="FFFFFF"/>
                </a:solidFill>
              </a:defRPr>
            </a:pPr>
            <a:r>
              <a:t>You will need to provision the network, compute nodes, and storage, and then configure a scalable web service using the automation tools we mastered this week.</a:t>
            </a:r>
          </a:p>
          <a:p>
            <a:pPr>
              <a:spcBef>
                <a:spcPts val="800"/>
              </a:spcBef>
              <a:spcAft>
                <a:spcPts val="800"/>
              </a:spcAft>
              <a:defRPr sz="2000">
                <a:solidFill>
                  <a:srgbClr val="FFFFFF"/>
                </a:solidFill>
              </a:defRPr>
            </a:pPr>
            <a:r>
              <a:t>Can you differentiate between Imperative (Bash) and Declarative (Heat) automation?</a:t>
            </a:r>
          </a:p>
          <a:p>
            <a:pPr>
              <a:spcBef>
                <a:spcPts val="800"/>
              </a:spcBef>
              <a:spcAft>
                <a:spcPts val="800"/>
              </a:spcAft>
              <a:defRPr sz="2000">
                <a:solidFill>
                  <a:srgbClr val="FFFFFF"/>
                </a:solidFill>
              </a:defRPr>
            </a:pPr>
            <a:r>
              <a:t>Do you understand why Idempotency is critical for Day-2 operations?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Preparing for Week 12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Can you explain the transition from Infrastructure-as-Service (Nova) to Platform-as-Service (Magnum)?</a:t>
            </a:r>
          </a:p>
          <a:p>
            <a:pPr>
              <a:spcBef>
                <a:spcPts val="800"/>
              </a:spcBef>
              <a:spcAft>
                <a:spcPts val="800"/>
              </a:spcAft>
              <a:defRPr sz="2000">
                <a:solidFill>
                  <a:srgbClr val="FFFFFF"/>
                </a:solidFill>
              </a:defRPr>
            </a:pPr>
            <a:r>
              <a:t>Are you ready to use Git to manage your project templates?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9. Additional Resources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10. Lab Exercises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