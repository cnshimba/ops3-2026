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Checkpoint</a:t>
            </a:r>
          </a:p>
          <a:p/>
          <a:p>
            <a:r>
              <a:t>Key Points:</a:t>
            </a:r>
          </a:p>
          <a:p>
            <a:r>
              <a:t>1. Nova is the compute controller, equivalent to Microsoft.Compute.</a:t>
            </a:r>
          </a:p>
          <a:p>
            <a:r>
              <a:t>2. Cellular Architecture: Partitions the cloud for scalability and resilience.</a:t>
            </a:r>
          </a:p>
          <a:p>
            <a:r>
              <a:t>3. Hypervisor Agnostic: Nova manages the hypervisor (KVM) but is not the hypervisor itself.</a:t>
            </a:r>
          </a:p>
          <a:p>
            <a:r>
              <a:t>4. Why does Nova need a "Cellular Architecture" for large-scale clouds?</a:t>
            </a:r>
          </a:p>
          <a:p>
            <a:r>
              <a:t>5. What is the difference between Nova and KVM?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2.1 The Global Components (Control Plane) (Part 1)</a:t>
            </a:r>
          </a:p>
          <a:p/>
          <a:p>
            <a:r>
              <a:t>Key Points:</a:t>
            </a:r>
          </a:p>
          <a:p>
            <a:r>
              <a:t>1. The entry point for all requests is nova-api.</a:t>
            </a:r>
          </a:p>
          <a:p>
            <a:r>
              <a:t>2. This service accepts REST requests from users and other services.</a:t>
            </a:r>
          </a:p>
          <a:p>
            <a:r>
              <a:t>3. It first validates the user's authentication token via Keystone before passing the request into the system.</a:t>
            </a:r>
          </a:p>
          <a:p>
            <a:r>
              <a:t>4. Crucially, nova-api is stateless, meaning scaling it is as simple as running multiple copies behind a Load Balancer.</a:t>
            </a:r>
          </a:p>
          <a:p>
            <a:r>
              <a:t>5. The decision-making heart of the cloud is nova-scheduler.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2.1 The Global Components (Control Plane) (Part 2)</a:t>
            </a:r>
          </a:p>
          <a:p/>
          <a:p>
            <a:r>
              <a:t>Key Points:</a:t>
            </a:r>
          </a:p>
          <a:p>
            <a:r>
              <a:t>1. Its sole responsibility is to decide where a new virtual machine should be placed.</a:t>
            </a:r>
          </a:p>
          <a:p>
            <a:r>
              <a:t>2. It does not create the VM or touch the hypervisor; it simply selects the most appropriate host from the pool of available resources and passes the message along.</a:t>
            </a:r>
          </a:p>
          <a:p>
            <a:r>
              <a:t>3. It achieves this through a sophisticated Filter-and-Weight algorithm.</a:t>
            </a:r>
          </a:p>
          <a:p>
            <a:r>
              <a:t>4. Finally, the nova-conductor acts as a security guard for the database.</a:t>
            </a:r>
          </a:p>
          <a:p>
            <a:r>
              <a:t>5. In a cloud environment, compute nodes are considered "untrusted" because they run user workloads that could potentially be malicious.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2.1 The Global Components (Control Plane) (Part 3)</a:t>
            </a:r>
          </a:p>
          <a:p/>
          <a:p>
            <a:r>
              <a:t>Key Points:</a:t>
            </a:r>
          </a:p>
          <a:p>
            <a:r>
              <a:t>1. If a hacker were to escape a VM and gain control of the compute node, we must ensure they cannot corrupt the entire cloud database.</a:t>
            </a:r>
          </a:p>
          <a:p>
            <a:r>
              <a:t>2. Therefore, compute nodes are not allowed to write to the database directly.</a:t>
            </a:r>
          </a:p>
          <a:p>
            <a:r>
              <a:t>3. Instead, they send a message to the Conductor requesting an update, and the Conductor performs the write operation only after validating the request.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2.2 The Node Components (Data Plane) (Part 1)</a:t>
            </a:r>
          </a:p>
          <a:p/>
          <a:p>
            <a:r>
              <a:t>Key Points:</a:t>
            </a:r>
          </a:p>
          <a:p>
            <a:r>
              <a:t>1. On every hypervisor server, the nova-compute service acts as the worker.</a:t>
            </a:r>
          </a:p>
          <a:p>
            <a:r>
              <a:t>2. It continually listens for instructions from the message queue (RabbitMQ).</a:t>
            </a:r>
          </a:p>
          <a:p>
            <a:r>
              <a:t>3. When it receives a command, such as "Run Instance," it does not execute it blindly; it follows a rigorous process to ensure the VM is built correctly on the physical hardware.</a:t>
            </a:r>
          </a:p>
          <a:p>
            <a:r>
              <a:t>4. The Driver Layer (Libvirt)</a:t>
            </a:r>
          </a:p>
          <a:p>
            <a:r>
              <a:t>nova-compute is designed to be hypervisor-agnostic.</a:t>
            </a:r>
          </a:p>
          <a:p>
            <a:r>
              <a:t>5. It does not speak directly to the kernel; instead, it uses a driver.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2.2 The Node Components (Data Plane) (Part 2)</a:t>
            </a:r>
          </a:p>
          <a:p/>
          <a:p>
            <a:r>
              <a:t>Key Points:</a:t>
            </a:r>
          </a:p>
          <a:p>
            <a:r>
              <a:t>1. In our Linux environment, it uses the Libvirt driver.</a:t>
            </a:r>
          </a:p>
          <a:p>
            <a:r>
              <a:t>2. When you ask for a VM, nova-compute translates your request into a Libvirt XML file—a precise recipe describing the VM's CPU, RAM, and Devices—and passes it to the Libvirt daemon, which ultimately spawns the QEMU/KVM process.</a:t>
            </a:r>
          </a:p>
          <a:p>
            <a:r>
              <a:t>3. The Resource Tracker</a:t>
            </a:r>
          </a:p>
          <a:p>
            <a:r>
              <a:t>Beyond creating VMs, nova-compute is responsible for auditing the physical server.</a:t>
            </a:r>
          </a:p>
          <a:p>
            <a:r>
              <a:t>4. It runs a periodic task (typically every 60 seconds) called the Resource Tracker.</a:t>
            </a:r>
          </a:p>
          <a:p>
            <a:r>
              <a:t>5. This task scans the available RAM, CPU cores, and Disk space on the host and compares it against the reserved resources.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2.2 The Node Components (Data Plane) (Part 3)</a:t>
            </a:r>
          </a:p>
          <a:p/>
          <a:p>
            <a:r>
              <a:t>Key Points:</a:t>
            </a:r>
          </a:p>
          <a:p>
            <a:r>
              <a:t>1. It then reports this "Inventory" back to the central database.</a:t>
            </a:r>
          </a:p>
          <a:p>
            <a:r>
              <a:t>2. This ensures that the Scheduler always possesses an accurate, up-to-date map of the cloud's capacity, preventing it from sending a VM to a host that is already full.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 Checkpoint</a:t>
            </a:r>
          </a:p>
          <a:p/>
          <a:p>
            <a:r>
              <a:t>Key Points:</a:t>
            </a:r>
          </a:p>
          <a:p>
            <a:r>
              <a:t>1. Control Plane: nova-api (Entry), nova-scheduler (Decision), nova-conductor (DB Guard).</a:t>
            </a:r>
          </a:p>
          <a:p>
            <a:r>
              <a:t>2. Data Plane: nova-compute (Hypervisor Worker).</a:t>
            </a:r>
          </a:p>
          <a:p>
            <a:r>
              <a:t>3. Security: Compute nodes cannot talk directly to the DB; they go through Conductor.</a:t>
            </a:r>
          </a:p>
          <a:p>
            <a:r>
              <a:t>4. Why is nova-api considered "stateless"?</a:t>
            </a:r>
          </a:p>
          <a:p>
            <a:r>
              <a:t>5. Why do we need a "Conductor" to protect the database?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3.1 Pass 1: Filtering (Qualifying)</a:t>
            </a:r>
          </a:p>
          <a:p/>
          <a:p>
            <a:r>
              <a:t>Key Points:</a:t>
            </a:r>
          </a:p>
          <a:p>
            <a:r>
              <a:t>1. RamFilter: Checks if the host has enough free RAM to satisfy the requested flavor.</a:t>
            </a:r>
          </a:p>
          <a:p>
            <a:r>
              <a:t>2. ComputeFilter: Ensures the host service is actually alive and reporting.</a:t>
            </a:r>
          </a:p>
          <a:p>
            <a:r>
              <a:t>3. AvailabilityZoneFilter: Ensures the VM lands in the requested physical location.</a:t>
            </a:r>
          </a:p>
          <a:p>
            <a:r>
              <a:t>4. ImagePropertiesFilter: Checks for specific hardware requirements like GPUs or Secure Boot support.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3.2 Pass 2: Weighting (Ranking)</a:t>
            </a:r>
          </a:p>
          <a:p/>
          <a:p>
            <a:r>
              <a:t>Key Points:</a:t>
            </a:r>
          </a:p>
          <a:p>
            <a:r>
              <a:t>1. Stacking Strategy: Fills up one server completely before moving to the next. This saves power but creates hotspots.</a:t>
            </a:r>
          </a:p>
          <a:p>
            <a:r>
              <a:t>2. Spreading Strategy (Default): Places the VM on the emptiest possible server to maximize performance and minimize the "noisy neighbor" effect.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 Checkpoint</a:t>
            </a:r>
          </a:p>
          <a:p/>
          <a:p>
            <a:r>
              <a:t>Key Points:</a:t>
            </a:r>
          </a:p>
          <a:p>
            <a:r>
              <a:t>1. Filtering: Removes invalid hosts (e.g., Not enough RAM).</a:t>
            </a:r>
          </a:p>
          <a:p>
            <a:r>
              <a:t>2. Weighting: Ranks valid hosts (e.g., Emptiest first).</a:t>
            </a:r>
          </a:p>
          <a:p>
            <a:r>
              <a:t>3. Goal: Select the single best host (Candidate) for the VM.</a:t>
            </a:r>
          </a:p>
          <a:p>
            <a:r>
              <a:t>4. What is the difference between "Stacking" and "Spreading" strategies?</a:t>
            </a:r>
          </a:p>
          <a:p>
            <a:r>
              <a:t>5. Which filter ensures a VM lands on a host with a GPU?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 Checkpoint (Part 1)</a:t>
            </a:r>
          </a:p>
          <a:p/>
          <a:p>
            <a:r>
              <a:t>Key Points:</a:t>
            </a:r>
          </a:p>
          <a:p>
            <a:r>
              <a:t>1. BUILD: Scheduling and Networking in progress.</a:t>
            </a:r>
          </a:p>
          <a:p>
            <a:r>
              <a:t>2. ACTIVE: VM is running on the Hypervisor.</a:t>
            </a:r>
          </a:p>
          <a:p>
            <a:r>
              <a:t>3. ERROR: Something went wrong (Check logs).</a:t>
            </a:r>
          </a:p>
          <a:p>
            <a:r>
              <a:t>4. SHELVED: VM offloaded to disk.</a:t>
            </a:r>
          </a:p>
          <a:p>
            <a:r>
              <a:t>5. What happens during the "Spawning" phase?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 Checkpoint (Part 2)</a:t>
            </a:r>
          </a:p>
          <a:p/>
          <a:p>
            <a:r>
              <a:t>Key Points:</a:t>
            </a:r>
          </a:p>
          <a:p>
            <a:r>
              <a:t>1. How does SHELVED differ from a simple Shutdown?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 Operations Cookbook (CLI): Launching Nebula Inc.</a:t>
            </a:r>
          </a:p>
          <a:p/>
          <a:p>
            <a:r>
              <a:t>Key Points:</a:t>
            </a:r>
          </a:p>
          <a:p>
            <a:r>
              <a:t>1. In Week 8, we established the digital foundation for Nebula Inc.</a:t>
            </a:r>
          </a:p>
          <a:p>
            <a:r>
              <a:t>2. We created the Project (nebula_prod), hired the User (nebula_admin), and wired the Office Network (nebula_net).</a:t>
            </a:r>
          </a:p>
          <a:p>
            <a:r>
              <a:t>3. However, the data center currently sits empty.</a:t>
            </a:r>
          </a:p>
          <a:p>
            <a:r>
              <a:t>4. To bring the company online, we must now define the virtual hardware standards (Flavors), issue security credentials (Keys &amp; Groups), and finally press the "Power On" button for their first Web Server.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5.1 Defining Flavors (Capacity) (Part 1)</a:t>
            </a:r>
          </a:p>
          <a:p/>
          <a:p>
            <a:r>
              <a:t>Key Points:</a:t>
            </a:r>
          </a:p>
          <a:p>
            <a:r>
              <a:t>1. Public Cloud (AWS/Azure): You are a Consumer. You cannot create new sizes; you can only Select from the menu Amazon provides (t2.micro, m5.large).</a:t>
            </a:r>
          </a:p>
          <a:p>
            <a:r>
              <a:t>2. Private Cloud (OpenStack): You are the Provider. It is your job to Create the menu that your users will select from.</a:t>
            </a:r>
          </a:p>
          <a:p>
            <a:r>
              <a:t>3. m1: Generation/Class. (e.g., "m" for General Purpose, "1" for 1st Generation). This mirrors AWS naming (e.g., t2.micro = Burstable, 2nd Gen).</a:t>
            </a:r>
          </a:p>
          <a:p>
            <a:r>
              <a:t>4. nebula: Family. Identifies this as a custom flavor for our organization.</a:t>
            </a:r>
          </a:p>
          <a:p>
            <a:r>
              <a:t>5. micro: Size. Indicates relative capacity (Micro &lt; Small &lt; Medium).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5.1 Defining Flavors (Capacity) (Part 2)</a:t>
            </a:r>
          </a:p>
          <a:p/>
          <a:p>
            <a:r>
              <a:t>Key Points:</a:t>
            </a:r>
          </a:p>
          <a:p>
            <a:r>
              <a:t>1. Result: We have added a new item to the menu. Users can now select m1.nebula_micro when launching instances.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5.2 Securing Access (Keys &amp; Groups)</a:t>
            </a:r>
          </a:p>
          <a:p/>
          <a:p>
            <a:r>
              <a:t>Key Points:</a:t>
            </a:r>
          </a:p>
          <a:p>
            <a:r>
              <a:t>1. Security in the cloud is a two-layered approach. First, we must secure Identity (proving who you are) using Keypairs. Second, we must secure the Network (controlling traffic flow) using Security Groups. You cannot access a VM unless both of these layers are correctly configured.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5.2.1 Keypairs (Login Access) (Part 1)</a:t>
            </a:r>
          </a:p>
          <a:p/>
          <a:p>
            <a:r>
              <a:t>Key Points:</a:t>
            </a:r>
          </a:p>
          <a:p>
            <a:r>
              <a:t>1. Unlike traditional servers where you set a root password, Cloud images (AWS, Azure, OpenStack) verify identity using Asymmetric Cryptography.</a:t>
            </a:r>
          </a:p>
          <a:p>
            <a:r>
              <a:t>2. This mechanism leverages a "Lock and Key" relationship to secure access.</a:t>
            </a:r>
          </a:p>
          <a:p>
            <a:r>
              <a:t>3. The Public Key acts as the "Lock"; you upload this to the cloud, and Nova injects it into the VM's .ssh/authorized_keys file during boot.</a:t>
            </a:r>
          </a:p>
          <a:p>
            <a:r>
              <a:t>4. It is safe to share and visible to anyone.</a:t>
            </a:r>
          </a:p>
          <a:p>
            <a:r>
              <a:t>5. The Private Key acts as the unique "Key"; you keep this securely on your laptop and must never share it.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5.2.1 Keypairs (Login Access) (Part 2)</a:t>
            </a:r>
          </a:p>
          <a:p/>
          <a:p>
            <a:r>
              <a:t>Key Points:</a:t>
            </a:r>
          </a:p>
          <a:p>
            <a:r>
              <a:t>1. Explanation: This command generates the pair. It stores the Public Key in the Nova Database and writes the Private Key to nebula_key.pem on your disk. The chmod is critical; SSH will refuse to use a key if the file permissions are too open.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5.2.2 Security Groups (The Virtual Firewall) (Part 1)</a:t>
            </a:r>
          </a:p>
          <a:p/>
          <a:p>
            <a:r>
              <a:t>Key Points:</a:t>
            </a:r>
          </a:p>
          <a:p>
            <a:r>
              <a:t>1. Stateful: If you allow a request out (e.g., download update), the return traffic is automatically allowed in.</a:t>
            </a:r>
          </a:p>
          <a:p>
            <a:r>
              <a:t>2. Allow-List: The default policy is "Implicit Deny". All traffic is blocked until you explicitly allow it.</a:t>
            </a:r>
          </a:p>
          <a:p>
            <a:r>
              <a:t>3. Dynamic: Rules are applied immediately to all running instances without rebooting.</a:t>
            </a:r>
          </a:p>
          <a:p>
            <a:r>
              <a:t>4. OpenStack Implementation</a:t>
            </a:r>
          </a:p>
          <a:p>
            <a:r>
              <a:t>When you create a rule, Neutron communicates with the Open vSwitch (OVS) agent on the Compute Node.</a:t>
            </a:r>
          </a:p>
          <a:p>
            <a:r>
              <a:t>5. It translates your high-level rule (e.g., "Allow Port 80") into low-level OVS Flow Tables or iptables chains on the physical hypervisor.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5.2.2 Security Groups (The Virtual Firewall) (Part 2)</a:t>
            </a:r>
          </a:p>
          <a:p/>
          <a:p>
            <a:r>
              <a:t>Key Points:</a:t>
            </a:r>
          </a:p>
          <a:p>
            <a:r>
              <a:t>1. This ensures malicious traffic is dropped on the physical wire before it ever reaches your VM, providing a robust first line of defense.</a:t>
            </a:r>
          </a:p>
          <a:p>
            <a:r>
              <a:t>2. Result: The OVS Agent on the compute node intercepts traffic to nebula_web_01 and filters it against these rules.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5.3 Launching Instances</a:t>
            </a:r>
          </a:p>
          <a:p/>
          <a:p>
            <a:r>
              <a:t>Key Points:</a:t>
            </a:r>
          </a:p>
          <a:p>
            <a:r>
              <a:t>1. Explanation:</a:t>
            </a:r>
          </a:p>
          <a:p>
            <a:r>
              <a:t>--flavor: Defines the size.</a:t>
            </a:r>
          </a:p>
          <a:p>
            <a:r>
              <a:t>--image: Defines the software (OS).</a:t>
            </a:r>
          </a:p>
          <a:p>
            <a:r>
              <a:t>--network: Defines the wiring.</a:t>
            </a:r>
          </a:p>
          <a:p>
            <a:r>
              <a:t>Result: Triggers the entire scheduling and build process seen in Section 4.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5.4 Day 2 Operations (Debugging &amp; Access)</a:t>
            </a:r>
          </a:p>
          <a:p/>
          <a:p>
            <a:r>
              <a:t>Key Points:</a:t>
            </a:r>
          </a:p>
          <a:p>
            <a:r>
              <a:t>1. Explanation: Retrieves the kernel ring buffer (dmesg) and cloud-init output directly from the hypervisor. Use this to find kernel panics or DHCP failures.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 Checkpoint (Part 1)</a:t>
            </a:r>
          </a:p>
          <a:p/>
          <a:p>
            <a:r>
              <a:t>Key Points:</a:t>
            </a:r>
          </a:p>
          <a:p>
            <a:r>
              <a:t>1. Flavor: Virtual hardware template (CPU/RAM). Provider defines, Consumer selects.</a:t>
            </a:r>
          </a:p>
          <a:p>
            <a:r>
              <a:t>2. Security Group: Stateful virtual firewall. "Implicit Deny" by default.</a:t>
            </a:r>
          </a:p>
          <a:p>
            <a:r>
              <a:t>3. Keypairs: SSH Keys for identity. Private Key never leaves your laptop.</a:t>
            </a:r>
          </a:p>
          <a:p>
            <a:r>
              <a:t>4. Floating IP: Assigns a public address to reach the VM from outside.</a:t>
            </a:r>
          </a:p>
          <a:p>
            <a:r>
              <a:t>5. Why must we use chmod 600 on the private key?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 Checkpoint (Part 2)</a:t>
            </a:r>
          </a:p>
          <a:p/>
          <a:p>
            <a:r>
              <a:t>Key Points:</a:t>
            </a:r>
          </a:p>
          <a:p>
            <a:r>
              <a:t>1. How does an "Allow-List" firewall differ from a traditional "Block-List"?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6.1 Concept Mapping (Part 1)</a:t>
            </a:r>
          </a:p>
          <a:p/>
          <a:p>
            <a:r>
              <a:t>Key Points:</a:t>
            </a:r>
          </a:p>
          <a:p>
            <a:r>
              <a:t>1. OpenStack: openstack flavor list (Selects m1.small)</a:t>
            </a:r>
          </a:p>
          <a:p>
            <a:r>
              <a:t>2. AWS: aws ec2 describe-instance-types (Selects t2.micro)</a:t>
            </a:r>
          </a:p>
          <a:p>
            <a:r>
              <a:t>3. Azure: az vm list-sizes (Selects Standard_B1s)</a:t>
            </a:r>
          </a:p>
          <a:p>
            <a:r>
              <a:t>4. OpenStack: openstack security group create web-sg</a:t>
            </a:r>
          </a:p>
          <a:p>
            <a:r>
              <a:t>5. AWS: aws ec2 create-security-group --group-name web-sg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6.1 Concept Mapping (Part 2)</a:t>
            </a:r>
          </a:p>
          <a:p/>
          <a:p>
            <a:r>
              <a:t>Key Points:</a:t>
            </a:r>
          </a:p>
          <a:p>
            <a:r>
              <a:t>1. Azure: az network nsg create --name web-nsg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 Checkpoint</a:t>
            </a:r>
          </a:p>
          <a:p/>
          <a:p>
            <a:r>
              <a:t>Key Points:</a:t>
            </a:r>
          </a:p>
          <a:p>
            <a:r>
              <a:t>1. Concepts are universal; only terms change (Flavor -&gt; Instance Type).</a:t>
            </a:r>
          </a:p>
          <a:p>
            <a:r>
              <a:t>2. Nova = AWS EC2 = Azure Compute.</a:t>
            </a:r>
          </a:p>
          <a:p>
            <a:r>
              <a:t>3. Security Group is the standard term across OpenStack and AWS.</a:t>
            </a:r>
          </a:p>
          <a:p>
            <a:r>
              <a:t>4. Why is it valuable to learn the underlying concept rather than just the tool command?</a:t>
            </a:r>
          </a:p>
          <a:p>
            <a:r>
              <a:t>5. How does "Infrastructure as Code" rely on these standardized CLI commands?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Preparing for Week 10</a:t>
            </a:r>
          </a:p>
          <a:p/>
          <a:p>
            <a:r>
              <a:t>Key Points:</a:t>
            </a:r>
          </a:p>
          <a:p>
            <a:r>
              <a:t>1. Ensure you can launch an instance from the CLI without looking at the manual.</a:t>
            </a:r>
          </a:p>
          <a:p>
            <a:r>
              <a:t>2. Verify you can SSH into your instance using your keypair.</a:t>
            </a:r>
          </a:p>
          <a:p>
            <a:r>
              <a:t>3. Review the "Instance Lifecycle" states (Build -&gt; Active).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9984A"/>
                </a:solidFill>
              </a:defRPr>
            </a:pPr>
            <a:r>
              <a:t>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Compute Operations (Nova)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OPS3 - Virtualization and Cloud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1. Introduction to OpenStack Compute (Nova)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1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Nova is the compute controller, equivalent to Microsoft.Compute.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Cellular Architecture: Partitions the cloud for scalability and resilience.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Hypervisor Agnostic: Nova manages the hypervisor (KVM) but is not the hypervisor itself.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Why does Nova need a "Cellular Architecture" for large-scale clouds?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What is the difference between Nova and KVM?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2. Nova Component Anatomy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2.1 The Global Components (Control Plane)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 entry point for all requests is nova-api.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This service accepts REST requests from users and other services.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It first validates the user's authentication token via Keystone before passing the request into the system.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Crucially, nova-api is stateless, meaning scaling it is as simple as running multiple copies behind a Load Balancer.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 decision-making heart of the cloud is nova-scheduler.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2.1 The Global Components (Control Plane)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Its sole responsibility is to decide where a new virtual machine should be placed.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It does not create the VM or touch the hypervisor; it simply selects the most appropriate host from the pool of available resources and passes the message along.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It achieves this through a sophisticated Filter-and-Weight algorithm.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Finally, the nova-conductor acts as a security guard for the database.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In a cloud environment, compute nodes are considered "untrusted" because they run user workloads that could potentially be malicious.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2.1 The Global Components (Control Plane) (Part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If a hacker were to escape a VM and gain control of the compute node, we must ensure they cannot corrupt the entire cloud database.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Therefore, compute nodes are not allowed to write to the database directly.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Instead, they send a message to the Conductor requesting an update, and the Conductor performs the write operation only after validating the request.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2.2 The Node Components (Data Plane)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On every hypervisor server, the nova-compute service acts as the worker.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It continually listens for instructions from the message queue (RabbitMQ).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When it receives a command, such as "Run Instance," it does not execute it blindly; it follows a rigorous process to ensure the VM is built correctly on the physical hardware.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 Driver Layer (Libvirt)</a:t>
            </a:r>
            <a:br/>
            <a:r>
              <a:t>nova-compute is designed to be hypervisor-agnostic.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It does not speak directly to the kernel; instead, it uses a driver.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2.2 The Node Components (Data Plane)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In our Linux environment, it uses the Libvirt driver.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When you ask for a VM, nova-compute translates your request into a Libvirt XML file—a precise recipe describing the VM's CPU, RAM, and Devices—and passes it to the Libvirt daemon, which ultimately spawns the QEMU/KVM process.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 Resource Tracker</a:t>
            </a:r>
            <a:br/>
            <a:r>
              <a:t>Beyond creating VMs, nova-compute is responsible for auditing the physical server.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It runs a periodic task (typically every 60 seconds) called the Resource Tracker.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This task scans the available RAM, CPU cores, and Disk space on the host and compares it against the reserved resources.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2.2 The Node Components (Data Plane) (Part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It then reports this "Inventory" back to the central database.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This ensures that the Scheduler always possesses an accurate, up-to-date map of the cloud's capacity, preventing it from sending a VM to a host that is already full.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2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Control Plane: nova-api (Entry), nova-scheduler (Decision), nova-conductor (DB Guard).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Data Plane: nova-compute (Hypervisor Worker).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Security: Compute nodes cannot talk directly to the DB; they go through Conductor.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Why is nova-api considered "stateless"?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Why do we need a "Conductor" to protect the database?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3. The Scheduling Algorithm (The Decision Process)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3.1 Pass 1: Filtering (Qualifying)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RamFilter: Checks if the host has enough free RAM to satisfy the requested flavor.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ComputeFilter: Ensures the host service is actually alive and reporting.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AvailabilityZoneFilter: Ensures the VM lands in the requested physical location.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ImagePropertiesFilter: Checks for specific hardware requirements like GPUs or Secure Boot support.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3.2 Pass 2: Weighting (Ranking)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Stacking Strategy: Fills up one server completely before moving to the next. This saves power but creates hotspots.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Spreading Strategy (Default): Places the VM on the emptiest possible server to maximize performance and minimize the "noisy neighbor" effect.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3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Filtering: Removes invalid hosts (e.g., Not enough RAM).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Weighting: Ranks valid hosts (e.g., Emptiest first).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Goal: Select the single best host (Candidate) for the VM.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What is the difference between "Stacking" and "Spreading" strategies?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Which filter ensures a VM lands on a host with a GPU?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4. The Instance Lifecycle (State Machine)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4 Checkpoint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BUILD: Scheduling and Networking in progress.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ACTIVE: VM is running on the Hypervisor.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ERROR: Something went wrong (Check logs).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SHELVED: VM offloaded to disk.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What happens during the "Spawning" phase?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4 Checkpoint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How does SHELVED differ from a simple Shutdown?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5. Operations Cookbook (CLI): Launching Nebula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In Week 8, we established the digital foundation for Nebula Inc.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We created the Project (nebula_prod), hired the User (nebula_admin), and wired the Office Network (nebula_net).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However, the data center currently sits empty.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To bring the company online, we must now define the virtual hardware standards (Flavors), issue security credentials (Keys &amp; Groups), and finally press the "Power On" button for their first Web Server.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5.1 Defining Flavors (Capacity)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Public Cloud (AWS/Azure): You are a Consumer. You cannot create new sizes; you can only Select from the menu Amazon provides (t2.micro, m5.large).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Private Cloud (OpenStack): You are the Provider. It is your job to Create the menu that your users will select from.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m1: Generation/Class. (e.g., "m" for General Purpose, "1" for 1st Generation). This mirrors AWS naming (e.g., t2.micro = Burstable, 2nd Gen).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nebula: Family. Identifies this as a custom flavor for our organization.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micro: Size. Indicates relative capacity (Micro &lt; Small &lt; Medium).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5.1 Defining Flavors (Capacity)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Result: We have added a new item to the menu. Users can now select m1.nebula_micro when launching instances.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5.2 Securing Access (Keys &amp; Groups)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Security in the cloud is a two-layered approach. First, we must secure Identity (proving who you are) using Keypairs. Second, we must secure the Network (controlling traffic flow) using Security Groups. You cannot access a VM unless both of these layers are correctly configured.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5.2.1 Keypairs (Login Access)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Unlike traditional servers where you set a root password, Cloud images (AWS, Azure, OpenStack) verify identity using Asymmetric Cryptography.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This mechanism leverages a "Lock and Key" relationship to secure access.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 Public Key acts as the "Lock"; you upload this to the cloud, and Nova injects it into the VM's .ssh/authorized_keys file during boot.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It is safe to share and visible to anyone.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The Private Key acts as the unique "Key"; you keep this securely on your laptop and must never share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5.2.1 Keypairs (Login Access)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Explanation: This command generates the pair. It stores the Public Key in the Nova Database and writes the Private Key to nebula_key.pem on your disk. The chmod is critical; SSH will refuse to use a key if the file permissions are too open.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5.2.2 Security Groups (The Virtual Firewall)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Stateful: If you allow a request out (e.g., download update), the return traffic is automatically allowed in.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Allow-List: The default policy is "Implicit Deny". All traffic is blocked until you explicitly allow it.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Dynamic: Rules are applied immediately to all running instances without rebooting.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OpenStack Implementation</a:t>
            </a:r>
            <a:br/>
            <a:r>
              <a:t>When you create a rule, Neutron communicates with the Open vSwitch (OVS) agent on the Compute Node.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It translates your high-level rule (e.g., "Allow Port 80") into low-level OVS Flow Tables or iptables chains on the physical hypervisor.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5.2.2 Security Groups (The Virtual Firewall)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This ensures malicious traffic is dropped on the physical wire before it ever reaches your VM, providing a robust first line of defense.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Result: The OVS Agent on the compute node intercepts traffic to nebula_web_01 and filters it against these rules.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5.3 Launching Instances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Explanation:</a:t>
            </a:r>
            <a:br/>
            <a:r>
              <a:t>--flavor: Defines the size.</a:t>
            </a:r>
            <a:br/>
            <a:r>
              <a:t>--image: Defines the software (OS).</a:t>
            </a:r>
            <a:br/>
            <a:r>
              <a:t>--network: Defines the wiring.</a:t>
            </a:r>
            <a:br/>
            <a:r>
              <a:t>Result: Triggers the entire scheduling and build process seen in Section 4.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5.4 Day 2 Operations (Debugging &amp; Access)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Explanation: Retrieves the kernel ring buffer (dmesg) and cloud-init output directly from the hypervisor. Use this to find kernel panics or DHCP failures.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5 Checkpoint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Flavor: Virtual hardware template (CPU/RAM). Provider defines, Consumer selects.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Security Group: Stateful virtual firewall. "Implicit Deny" by default.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Keypairs: SSH Keys for identity. Private Key never leaves your laptop.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Floating IP: Assigns a public address to reach the VM from outside.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Why must we use chmod 600 on the private key?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5 Checkpoint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How does an "Allow-List" firewall differ from a traditional "Block-List"?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6. Industry Comparison: The "Polyglot" Cloud Engineer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6.1 Concept Mapping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OpenStack: openstack flavor list (Selects m1.small)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AWS: aws ec2 describe-instance-types (Selects t2.micro)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Azure: az vm list-sizes (Selects Standard_B1s)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OpenStack: openstack security group create web-sg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AWS: aws ec2 create-security-group --group-name web-sg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6.1 Concept Mapping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Azure: az network nsg create --name web-nsg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Section 6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Concepts are universal; only terms change (Flavor -&gt; Instance Type).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Nova = AWS EC2 = Azure Compute.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Security Group is the standard term across OpenStack and AWS.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Why is it valuable to learn the underlying concept rather than just the tool command?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How does "Infrastructure as Code" rely on these standardized CLI commands?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7. Summary and Next Steps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Preparing for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Ensure you can launch an instance from the CLI without looking at the manual.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Verify you can SSH into your instance using your keypair.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Review the "Instance Lifecycle" states (Build -&gt; Active).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8. Additional Resources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9. Lab Exercises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