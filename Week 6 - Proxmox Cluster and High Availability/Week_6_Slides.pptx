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Initialization</a:t>
            </a:r>
          </a:p>
          <a:p/>
          <a:p>
            <a:r>
              <a:t>Key Points:</a:t>
            </a:r>
          </a:p>
          <a:p>
            <a:r>
              <a:t>1. When you initialize a cluster, Proxmox performs several critical actions.</a:t>
            </a:r>
          </a:p>
          <a:p>
            <a:r>
              <a:t>2. It generates a cryptographic key (/etc/corosync/authkey) appearing to secure communication and creates the central configuration database (/etc/pve/corosync.conf).</a:t>
            </a:r>
          </a:p>
          <a:p>
            <a:r>
              <a:t>3. This database is essentially the "source of truth" for the entire cluster.</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Joining a Node</a:t>
            </a:r>
          </a:p>
          <a:p/>
          <a:p>
            <a:r>
              <a:t>Key Points:</a:t>
            </a:r>
          </a:p>
          <a:p>
            <a:r>
              <a:t>1. Adding a second server is a "join" operation, not a creation operation.</a:t>
            </a:r>
          </a:p>
          <a:p>
            <a:r>
              <a:t>2. You instruct the new node to connect to the existing ring.</a:t>
            </a:r>
          </a:p>
          <a:p>
            <a:r>
              <a:t>3. The new node authenticates using the root password or an explicit join token, downloads the cluster keys and configuration files, and restarts its local services to synchronize with the quorum.</a:t>
            </a:r>
          </a:p>
          <a:p>
            <a:r>
              <a:t>4. Crucial Requirement: For a cluster to function correctly, every node must have a unique Hostname and a persistent Static IP address.</a:t>
            </a:r>
          </a:p>
          <a:p>
            <a:r>
              <a:t>5. If an IP address changes after the cluster is formed, Corosync communication will break, causing the node to lose quorum and effectively disconnecting it from the datacenter.</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Checkpoint (Part 1)</a:t>
            </a:r>
          </a:p>
          <a:p/>
          <a:p>
            <a:r>
              <a:t>Key Points:</a:t>
            </a:r>
          </a:p>
          <a:p>
            <a:r>
              <a:t>1. pvecm is the primary command-line tool for managing the cluster lifecycle, wrapping the underlying Corosync engine.</a:t>
            </a:r>
          </a:p>
          <a:p>
            <a:r>
              <a:t>2. Cluster Requirements are strict: nodes must have unique hostnames, static network configurations, and a reliable low-latency network connection.</a:t>
            </a:r>
          </a:p>
          <a:p>
            <a:r>
              <a:t>3. Joining involves a node authenticating to an existing cluster leader to download shared keys and configuration state.</a:t>
            </a:r>
          </a:p>
          <a:p>
            <a:r>
              <a:t>4. Why does Proxmox use SSH keys for cluster communication alongside Corosync keys?</a:t>
            </a:r>
          </a:p>
          <a:p>
            <a:r>
              <a:t>5. What is the impact on the cluster configuration file /etc/pve/corosync.conf if you change a node's IP address without updating it?</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Checkpoint (Part 2)</a:t>
            </a:r>
          </a:p>
          <a:p/>
          <a:p>
            <a:r>
              <a:t>Key Points:</a:t>
            </a:r>
          </a:p>
          <a:p>
            <a:r>
              <a:t>1. Proxmox VE Cluster Manager</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The Split Brain Condition</a:t>
            </a:r>
          </a:p>
          <a:p/>
          <a:p>
            <a:r>
              <a:t>Key Points:</a:t>
            </a:r>
          </a:p>
          <a:p>
            <a:r>
              <a:t>1. The Divergence: Node A cannot see Node B and assumes Node B has failed. Simultaneously, Node B assumes Node A has failed.</a:t>
            </a:r>
          </a:p>
          <a:p>
            <a:r>
              <a:t>2. The Conflict: Both nodes promote themselves to "Master" status and attempt to take ownership of the same resources (e.g., VM ID 100).</a:t>
            </a:r>
          </a:p>
          <a:p>
            <a:r>
              <a:t>3. The Consequence: Both nodes mount the same shared storage volume and attempt to write data concurrently.</a:t>
            </a:r>
          </a:p>
          <a:p>
            <a:r>
              <a:t>4. The Result: Since they are unaware of each other's write operations, they overwrite each other's filesystem journals, leading to irreversible data corruption within milliseconds.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Quorum Logic (Part 1)</a:t>
            </a:r>
          </a:p>
          <a:p/>
          <a:p>
            <a:r>
              <a:t>Key Points:</a:t>
            </a:r>
          </a:p>
          <a:p>
            <a:r>
              <a:t>1. In a 2-Node Cluster, there are 2 total votes.</a:t>
            </a:r>
          </a:p>
          <a:p>
            <a:r>
              <a:t>2. The majority needed is (2/2) + 1 = 2.</a:t>
            </a:r>
          </a:p>
          <a:p>
            <a:r>
              <a:t>3. This implies that if a single node fails, the survivor has only 1 vote.</a:t>
            </a:r>
          </a:p>
          <a:p>
            <a:r>
              <a:t>4. Since 1 is less than 2, Quorum is lost.</a:t>
            </a:r>
          </a:p>
          <a:p>
            <a:r>
              <a:t>5. The surviving node essentially "locks down," forcing the filesystem into Read-Only mode to prevent any possibility of corruption.</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Quorum Logic (Part 2)</a:t>
            </a:r>
          </a:p>
          <a:p/>
          <a:p>
            <a:r>
              <a:t>Key Points:</a:t>
            </a:r>
          </a:p>
          <a:p>
            <a:r>
              <a:t>1. In a 3-Node Cluster, there are 3 total votes.</a:t>
            </a:r>
          </a:p>
          <a:p>
            <a:r>
              <a:t>2. The majority needed is (3/2) + 1 = 2.5 (which rounds down to integer 2).</a:t>
            </a:r>
          </a:p>
          <a:p>
            <a:r>
              <a:t>3. If one node fails, the remaining two nodes have 2 votes.</a:t>
            </a:r>
          </a:p>
          <a:p>
            <a:r>
              <a:t>4. Since 2 equals 2, Quorum is maintained, and the cluster remains fully operational.</a:t>
            </a:r>
          </a:p>
          <a:p>
            <a:r>
              <a:t>5. This highlights the architectural best practice of always designing clusters with an ODD number of nodes (3, 5, 7) to allow for reliable tie-breaking.</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Checkpoint (Part 1)</a:t>
            </a:r>
          </a:p>
          <a:p/>
          <a:p>
            <a:r>
              <a:t>Key Points:</a:t>
            </a:r>
          </a:p>
          <a:p>
            <a:r>
              <a:t>1. Quorum enforces the "Rule of Majority" using the formula (Total/2)+1 to ensure only one part of a partitioned cluster remains active.</a:t>
            </a:r>
          </a:p>
          <a:p>
            <a:r>
              <a:t>2. Split Brain occurs when disconnected nodes both attempt to become Master, leading to guaranteed data corruption.</a:t>
            </a:r>
          </a:p>
          <a:p>
            <a:r>
              <a:t>3. Safety Mechanism: If Quorum is lost, the cluster automatically locks down to Read-Only mode to preserve data integrity.</a:t>
            </a:r>
          </a:p>
          <a:p>
            <a:r>
              <a:t>4. Why is a 2-node cluster considered "dangerous" without an external vote (QDevice)?</a:t>
            </a:r>
          </a:p>
          <a:p>
            <a:r>
              <a:t>5. Does a "Majority" mean 51% (more than half) or exactly half?</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Checkpoint (Part 2)</a:t>
            </a:r>
          </a:p>
          <a:p/>
          <a:p>
            <a:r>
              <a:t>Key Points:</a:t>
            </a:r>
          </a:p>
          <a:p>
            <a:r>
              <a:t>1. Corosync Project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 Architecture Components (Part 1)</a:t>
            </a:r>
          </a:p>
          <a:p/>
          <a:p>
            <a:r>
              <a:t>Key Points:</a:t>
            </a:r>
          </a:p>
          <a:p>
            <a:r>
              <a:t>1. The Cluster Resource Manager (pve-ha-crm) acts as the "Cluster Manager" or the "Boss." It runs as a single active instance on the current master node.</a:t>
            </a:r>
          </a:p>
          <a:p>
            <a:r>
              <a:t>2. Its job is to maintain the state of the cluster and make high-level decisions about where services should live.</a:t>
            </a:r>
          </a:p>
          <a:p>
            <a:r>
              <a:t>3. If the node running the active CRM fails, the cluster automatically elects a new master to take over this role.</a:t>
            </a:r>
          </a:p>
          <a:p>
            <a:r>
              <a:t>4. The Local Resource Manager (pve-ha-lrm) acts as the "Worker." An instance runs on every single node in the cluster.</a:t>
            </a:r>
          </a:p>
          <a:p>
            <a:r>
              <a:t>5. It receives orders from the CRM to start or stop services and reports the status of local resources back to the master.</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 Architecture Components (Part 2)</a:t>
            </a:r>
          </a:p>
          <a:p/>
          <a:p>
            <a:r>
              <a:t>Key Points:</a:t>
            </a:r>
          </a:p>
          <a:p>
            <a:r>
              <a:t>1. It is responsible for the actual execution of service management commands on the local hypervisor.</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 Fencing Mechanism (Part 1)</a:t>
            </a:r>
          </a:p>
          <a:p/>
          <a:p>
            <a:r>
              <a:t>Key Points:</a:t>
            </a:r>
          </a:p>
          <a:p>
            <a:r>
              <a:t>1. If Node A stops responding to heartbeats, Node B cannot know if Node A has crashed or if just the network cable was unplugged.</a:t>
            </a:r>
          </a:p>
          <a:p>
            <a:r>
              <a:t>2. If Node B starts Node A's VMs while Node A is still running them, both nodes would attempt to write to the same virtual disks simultaneously, guaranteeing severe data corruption.</a:t>
            </a:r>
          </a:p>
          <a:p>
            <a:r>
              <a:t>3. To solve this, we use Fencing, often referred to by the acronym STONITH (Shoot The Other Node In The Head).</a:t>
            </a:r>
          </a:p>
          <a:p>
            <a:r>
              <a:t>4. Upon detecting a failure, the cluster issues a command to a physical hardware device (like an IPMI controller or a Smart PDU) to physically cut power to the faulty node.</a:t>
            </a:r>
          </a:p>
          <a:p>
            <a:r>
              <a:t>5. This guarantees the node is dead.</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 Fencing Mechanism (Part 2)</a:t>
            </a:r>
          </a:p>
          <a:p/>
          <a:p>
            <a:r>
              <a:t>Key Points:</a:t>
            </a:r>
          </a:p>
          <a:p>
            <a:r>
              <a:t>1. Only after this confirmation does the cluster restart the VMs on healthy nodes.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Checkpoint (Part 1)</a:t>
            </a:r>
          </a:p>
          <a:p/>
          <a:p>
            <a:r>
              <a:t>Key Points:</a:t>
            </a:r>
          </a:p>
          <a:p>
            <a:r>
              <a:t>1. High Availability (HA) automates the recovery of services by restarting VMs on healthy nodes after a hardware failure.</a:t>
            </a:r>
          </a:p>
          <a:p>
            <a:r>
              <a:t>2. CRM and LRM act as the "Manager" and "Worker" services, respectively, to orchestrate the monitoring and recovery process.</a:t>
            </a:r>
          </a:p>
          <a:p>
            <a:r>
              <a:t>3. Fencing (STONITH) is the essential safety mechanism that physically powers off a non-responsive node to prevent Split Brain before recovery begins.</a:t>
            </a:r>
          </a:p>
          <a:p>
            <a:r>
              <a:t>4. Why is Fencing (STONITH) safer than just assuming a silent node is down?</a:t>
            </a:r>
          </a:p>
          <a:p>
            <a:r>
              <a:t>5. Can you have High Availability without Shared Storage? (Consider the implications of ZFS Replication).</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Checkpoint (Part 2)</a:t>
            </a:r>
          </a:p>
          <a:p/>
          <a:p>
            <a:r>
              <a:t>Key Points:</a:t>
            </a:r>
          </a:p>
          <a:p>
            <a:r>
              <a:t>1. Proxmox HA Simulator</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 Check Quorum</a:t>
            </a:r>
          </a:p>
          <a:p/>
          <a:p>
            <a:r>
              <a:t>Key Points:</a:t>
            </a:r>
          </a:p>
          <a:p>
            <a:r>
              <a:t>1. The first step in any cluster diagnosis is to verify the voting state.</a:t>
            </a:r>
          </a:p>
          <a:p>
            <a:r>
              <a:t>2. Run pvecm status to see the cluster's health from the perspective of the local node.</a:t>
            </a:r>
          </a:p>
          <a:p>
            <a:r>
              <a:t>3. Key fields to observe are Votes (number of nodes currently active) and Quorate.</a:t>
            </a:r>
          </a:p>
          <a:p>
            <a:r>
              <a:t>4. If Quorate is No, the cluster has lost its majority and will block any changes to the configuration database (pmxcfs) to prevent split-brain, effectively locking the cluster into a read-only mode.</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 Check Corosync</a:t>
            </a:r>
          </a:p>
          <a:p/>
          <a:p>
            <a:r>
              <a:t>Key Points:</a:t>
            </a:r>
          </a:p>
          <a:p>
            <a:r>
              <a:t>1. If nodes are not syncing but the network appears up, the issue often lies with Corosync latency.</a:t>
            </a:r>
          </a:p>
          <a:p>
            <a:r>
              <a:t>2. Use systemctl status corosync to check the service health.</a:t>
            </a:r>
          </a:p>
          <a:p>
            <a:r>
              <a:t>3. The logs will reveal if the "token retransmit time" is being exceeded.</a:t>
            </a:r>
          </a:p>
          <a:p>
            <a:r>
              <a:t>4. Corosync requires extremely low latency (typically &lt; 2ms) to function correctly.</a:t>
            </a:r>
          </a:p>
          <a:p>
            <a:r>
              <a:t>5. High latency links, such as Wi-Fi or saturated 1Gbps uplinks during backups, often cause Corosync to drop packets and declare nodes dead falsely.</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 Force Quorum (Emergency Only)</a:t>
            </a:r>
          </a:p>
          <a:p/>
          <a:p>
            <a:r>
              <a:t>Key Points:</a:t>
            </a:r>
          </a:p>
          <a:p>
            <a:r>
              <a:t>1. In a catastrophic scenario where you have a 2-node cluster and one node permanently fails, the survivor will lose quorum (1 vote &lt; 2 required). To recover management capability on the survivor, you can artificially lower the expected vote count.</a:t>
            </a:r>
          </a:p>
          <a:p>
            <a:r>
              <a:t>2. Warning: This command tells the survivor, "Pretend we only expected 1 vote." This allows it to become quorate alone. You must only do this if you are absolutely certain the other node is dead. If the other node comes back online while this is active, you will cause a Split Brain scenario.</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 Checkpoint (Part 1)</a:t>
            </a:r>
          </a:p>
          <a:p/>
          <a:p>
            <a:r>
              <a:t>Key Points:</a:t>
            </a:r>
          </a:p>
          <a:p>
            <a:r>
              <a:t>1. pvecm status is the primary diagnostic tool for assessing voting health and determining if the cluster is Quorate.</a:t>
            </a:r>
          </a:p>
          <a:p>
            <a:r>
              <a:t>2. Corosync Latency is the most common cause of instability; high latency triggers false failure detection.</a:t>
            </a:r>
          </a:p>
          <a:p>
            <a:r>
              <a:t>3. Forcing Quorum (expected 1) is a destructive emergency measure to recover a surviving node in a broken cluster.</a:t>
            </a:r>
          </a:p>
          <a:p>
            <a:r>
              <a:t>4. Why is latency (Ping time) so critical for Corosync compared to bandwidth?</a:t>
            </a:r>
          </a:p>
          <a:p>
            <a:r>
              <a:t>5. What does "Quorate: No" actually mean for your ability to start, stop, or migrate VMs?</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 Checkpoint (Part 2)</a:t>
            </a:r>
          </a:p>
          <a:p/>
          <a:p>
            <a:r>
              <a:t>Key Points:</a:t>
            </a:r>
          </a:p>
          <a:p>
            <a:r>
              <a:t>1. Clusterlabs Troubleshooting</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5 Checkpoint (Part 1)</a:t>
            </a:r>
          </a:p>
          <a:p/>
          <a:p>
            <a:r>
              <a:t>Key Points:</a:t>
            </a:r>
          </a:p>
          <a:p>
            <a:r>
              <a:t>1. Live Migration moves active RAM state between nodes, allowing hardware maintenance without service interruption.</a:t>
            </a:r>
          </a:p>
          <a:p>
            <a:r>
              <a:t>2. --online ensures the VM remains responsive during the transfer; without it, the VM would hibernate and resume (offline migration).</a:t>
            </a:r>
          </a:p>
          <a:p>
            <a:r>
              <a:t>3. --with-local-disks enables migrations even without shared storage by copying the disk image alongside the RAM, though this takes significantly longer.</a:t>
            </a:r>
          </a:p>
          <a:p>
            <a:r>
              <a:t>4. What happens to the VM if the network cable is unplugged during the RAM copy phase of a migration?</a:t>
            </a:r>
          </a:p>
          <a:p>
            <a:r>
              <a:t>5. Why must the CPU Type often be set to kvm64 or host model carefully in heterogeneous clusters?</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5 Checkpoint (Part 2)</a:t>
            </a:r>
          </a:p>
          <a:p/>
          <a:p>
            <a:r>
              <a:t>Key Points:</a:t>
            </a:r>
          </a:p>
          <a:p>
            <a:r>
              <a:t>1. QEMU Migration Documentation</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 Distributed Storage: Ceph (Advanced)</a:t>
            </a:r>
          </a:p>
          <a:p/>
          <a:p>
            <a:r>
              <a:t>Key Points:</a:t>
            </a:r>
          </a:p>
          <a:p>
            <a:r>
              <a:t>1. OSD (Object Storage Daemon): The workhorse. One OSD runs per physical disk. It handles reading, writing, and replicating data.</a:t>
            </a:r>
          </a:p>
          <a:p>
            <a:r>
              <a:t>2. MON (Monitor): The brain. It maintains the "Cluster Map"—the master list of which nodes are alive and where data lives. You usually need at least 3 MONs for quorum.</a:t>
            </a:r>
          </a:p>
          <a:p>
            <a:r>
              <a:t>3. MGR (Manager): Collects metrics and state for the GUI dashboard.</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 External Shared Storage (SAN &amp; NAS)</a:t>
            </a:r>
          </a:p>
          <a:p/>
          <a:p>
            <a:r>
              <a:t>Key Points:</a:t>
            </a:r>
          </a:p>
          <a:p>
            <a:r>
              <a:t>1. Network Attached Storage (NAS): Uses NFS or SMB. The storage array manages the filesystem. Proxmox simply mounts a folder. It's easy, but effectively "Serial" (files are locked individually).</a:t>
            </a:r>
          </a:p>
          <a:p>
            <a:r>
              <a:t>2. Storage Area Network (SAN): Uses iSCSI or Fibre Channel. Proxmox sees a raw block device over the network.</a:t>
            </a:r>
          </a:p>
          <a:p>
            <a:r>
              <a:t>3. Parallel / Cluster File Systems: To allow multiple Proxmox nodes to mount the same SAN LUN simultaneously and write to it without corrupting data, we use a Clustered File System like GFS2 (Global File System 2) or OCFS2.</a:t>
            </a:r>
          </a:p>
          <a:p>
            <a:r>
              <a:t>Locking: These systems use a specialized Distributed Lock Manager (DLM) to ensure that if Node A is writing to a file, Node B knows about it instantly.</a:t>
            </a:r>
          </a:p>
          <a:p>
            <a:r>
              <a:t>4. LVM-Shared: Alternatively, Proxmox often uses LVM on top of iSCSI in "Shared Mode" to manage raw disk volumes for VMs without a full filesystem layer.</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6 Checkpoint (Part 1)</a:t>
            </a:r>
          </a:p>
          <a:p/>
          <a:p>
            <a:r>
              <a:t>Key Points:</a:t>
            </a:r>
          </a:p>
          <a:p>
            <a:r>
              <a:t>1. Ceph (HCI): Distributed, self-healing storage on compute nodes (3+ nodes req).</a:t>
            </a:r>
          </a:p>
          <a:p>
            <a:r>
              <a:t>2. SAN/NAS: External storage arrays. Block (iSCSI/FC) vs File (NFS).</a:t>
            </a:r>
          </a:p>
          <a:p>
            <a:r>
              <a:t>3. Cluster FS: GFS2/OCFS2 needed for simultaneous shared writes.</a:t>
            </a:r>
          </a:p>
          <a:p>
            <a:r>
              <a:t>4. Why is a 10GbE network mandatory for Ceph?</a:t>
            </a:r>
          </a:p>
          <a:p>
            <a:r>
              <a:t>5. What happens if two servers write to a standard ext4 non-clustered disk at the same time?</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6 Checkpoint (Part 2)</a:t>
            </a:r>
          </a:p>
          <a:p/>
          <a:p>
            <a:r>
              <a:t>Key Points:</a:t>
            </a:r>
          </a:p>
          <a:p>
            <a:r>
              <a:t>1. Ceph Intro</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Backups (VZDump) vs Snapshots</a:t>
            </a:r>
          </a:p>
          <a:p/>
          <a:p>
            <a:r>
              <a:t>Key Points:</a:t>
            </a:r>
          </a:p>
          <a:p>
            <a:r>
              <a:t>1. Snapshot: A point-in-time "difference file" linked to the original disk. Dependent.</a:t>
            </a:r>
          </a:p>
          <a:p>
            <a:r>
              <a:t>2. Backup (VZDump): A comprehensive, independent archive (config + compressed disk data, e.g., .vma.zst). It can be moved offsite for disaster recovery.</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Proxmox Backup Modes</a:t>
            </a:r>
          </a:p>
          <a:p/>
          <a:p>
            <a:r>
              <a:t>Key Points:</a:t>
            </a:r>
          </a:p>
          <a:p>
            <a:r>
              <a:t>1. When performing a backup, the state of the VM determines the consistency of the data.</a:t>
            </a:r>
          </a:p>
          <a:p>
            <a:r>
              <a:t>2. Figure 10: Proxmox Backup Modes - Live (Snapshot), Suspend (Frozen), and Stop (Consistent) modes balance uptime vs. data consistency</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7 Checkpoint</a:t>
            </a:r>
          </a:p>
          <a:p/>
          <a:p>
            <a:r>
              <a:t>Key Points:</a:t>
            </a:r>
          </a:p>
          <a:p>
            <a:r>
              <a:t>1. Backup: Independent Archive, essential for DR.</a:t>
            </a:r>
          </a:p>
          <a:p>
            <a:r>
              <a:t>2. Modes: Snapshot (Live), Suspend (Frozen), Stop (Consistent).</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8 Checkpoint</a:t>
            </a:r>
          </a:p>
          <a:p/>
          <a:p>
            <a:r>
              <a:t>Key Points:</a:t>
            </a:r>
          </a:p>
          <a:p>
            <a:r>
              <a:t>1. pvesm helps when the GUI is unavailable.</a:t>
            </a:r>
          </a:p>
          <a:p>
            <a:r>
              <a:t>2. storage.cfg is the cluster-wide storage definition file.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1828800"/>
            <a:ext cx="7315200" cy="731520"/>
          </a:xfrm>
          <a:prstGeom prst="rect">
            <a:avLst/>
          </a:prstGeom>
          <a:noFill/>
        </p:spPr>
        <p:txBody>
          <a:bodyPr wrap="none">
            <a:spAutoFit/>
          </a:bodyPr>
          <a:lstStyle/>
          <a:p>
            <a:pPr algn="ctr">
              <a:defRPr sz="3600" b="1">
                <a:solidFill>
                  <a:srgbClr val="C9984A"/>
                </a:solidFill>
              </a:defRPr>
            </a:pPr>
            <a:r>
              <a:t>Week 6</a:t>
            </a:r>
          </a:p>
        </p:txBody>
      </p:sp>
      <p:sp>
        <p:nvSpPr>
          <p:cNvPr id="4" name="TextBox 3"/>
          <p:cNvSpPr txBox="1"/>
          <p:nvPr/>
        </p:nvSpPr>
        <p:spPr>
          <a:xfrm>
            <a:off x="457200" y="2743200"/>
            <a:ext cx="8229600" cy="1828800"/>
          </a:xfrm>
          <a:prstGeom prst="rect">
            <a:avLst/>
          </a:prstGeom>
          <a:noFill/>
        </p:spPr>
        <p:txBody>
          <a:bodyPr wrap="square">
            <a:spAutoFit/>
          </a:bodyPr>
          <a:lstStyle/>
          <a:p>
            <a:pPr algn="ctr">
              <a:defRPr sz="4400" b="1">
                <a:solidFill>
                  <a:srgbClr val="FFFFFF"/>
                </a:solidFill>
              </a:defRPr>
            </a:pPr>
            <a:r>
              <a:t>Cluster and High Availability</a:t>
            </a:r>
          </a:p>
        </p:txBody>
      </p:sp>
      <p:sp>
        <p:nvSpPr>
          <p:cNvPr id="5" name="TextBox 4"/>
          <p:cNvSpPr txBox="1"/>
          <p:nvPr/>
        </p:nvSpPr>
        <p:spPr>
          <a:xfrm>
            <a:off x="914400" y="5029200"/>
            <a:ext cx="7315200" cy="548640"/>
          </a:xfrm>
          <a:prstGeom prst="rect">
            <a:avLst/>
          </a:prstGeom>
          <a:noFill/>
        </p:spPr>
        <p:txBody>
          <a:bodyPr wrap="none">
            <a:spAutoFit/>
          </a:bodyPr>
          <a:lstStyle/>
          <a:p>
            <a:pPr algn="ctr">
              <a:defRPr sz="2000">
                <a:solidFill>
                  <a:srgbClr val="C8C8C8"/>
                </a:solidFill>
              </a:defRPr>
            </a:pPr>
            <a:r>
              <a:t>OPS3 - Virtualization and Cloud Infrastructure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600" b="1">
                <a:solidFill>
                  <a:srgbClr val="C9984A"/>
                </a:solidFill>
              </a:defRPr>
            </a:pPr>
            <a:r>
              <a:t>What You Will Learn This Week</a:t>
            </a:r>
          </a:p>
        </p:txBody>
      </p:sp>
      <p:sp>
        <p:nvSpPr>
          <p:cNvPr id="4" name="TextBox 3"/>
          <p:cNvSpPr txBox="1"/>
          <p:nvPr/>
        </p:nvSpPr>
        <p:spPr>
          <a:xfrm>
            <a:off x="1097280" y="2011680"/>
            <a:ext cx="6949440" cy="4114800"/>
          </a:xfrm>
          <a:prstGeom prst="rect">
            <a:avLst/>
          </a:prstGeom>
          <a:noFill/>
        </p:spPr>
        <p:txBody>
          <a:bodyPr wrap="square">
            <a:spAutoFit/>
          </a:bodyPr>
          <a:lstStyle/>
          <a:p>
            <a:pPr>
              <a:spcBef>
                <a:spcPts val="1000"/>
              </a:spcBef>
              <a:spcAft>
                <a:spcPts val="1000"/>
              </a:spcAft>
              <a:defRPr sz="2200">
                <a:solidFill>
                  <a:srgbClr val="FFFFFF"/>
                </a:solidFill>
              </a:defRPr>
            </a:pPr>
            <a:r>
              <a:t>Understand welcome to week 6!</a:t>
            </a:r>
          </a:p>
          <a:p>
            <a:pPr>
              <a:spcBef>
                <a:spcPts val="1000"/>
              </a:spcBef>
              <a:spcAft>
                <a:spcPts val="1000"/>
              </a:spcAft>
              <a:defRPr sz="2200">
                <a:solidFill>
                  <a:srgbClr val="FFFFFF"/>
                </a:solidFill>
              </a:defRPr>
            </a:pPr>
            <a:r>
              <a:t>Understand what you'll learn this week</a:t>
            </a:r>
          </a:p>
          <a:p>
            <a:pPr>
              <a:spcBef>
                <a:spcPts val="1000"/>
              </a:spcBef>
              <a:spcAft>
                <a:spcPts val="1000"/>
              </a:spcAft>
              <a:defRPr sz="2200">
                <a:solidFill>
                  <a:srgbClr val="FFFFFF"/>
                </a:solidFill>
              </a:defRPr>
            </a:pPr>
            <a:r>
              <a:t>Understand 1. creating a cluster</a:t>
            </a:r>
          </a:p>
          <a:p>
            <a:pPr>
              <a:spcBef>
                <a:spcPts val="1000"/>
              </a:spcBef>
              <a:spcAft>
                <a:spcPts val="1000"/>
              </a:spcAft>
              <a:defRPr sz="2200">
                <a:solidFill>
                  <a:srgbClr val="FFFFFF"/>
                </a:solidFill>
              </a:defRPr>
            </a:pPr>
            <a:r>
              <a:t>Understand 2. quorum: the rule of majority algorithm</a:t>
            </a:r>
          </a:p>
          <a:p>
            <a:pPr>
              <a:spcBef>
                <a:spcPts val="1000"/>
              </a:spcBef>
              <a:spcAft>
                <a:spcPts val="1000"/>
              </a:spcAft>
              <a:defRPr sz="2200">
                <a:solidFill>
                  <a:srgbClr val="FFFFFF"/>
                </a:solidFill>
              </a:defRPr>
            </a:pPr>
            <a:r>
              <a:t>Understand 3. high availability (ha) manager</a:t>
            </a:r>
          </a:p>
          <a:p>
            <a:pPr>
              <a:spcBef>
                <a:spcPts val="1000"/>
              </a:spcBef>
              <a:spcAft>
                <a:spcPts val="1000"/>
              </a:spcAft>
              <a:defRPr sz="2200">
                <a:solidFill>
                  <a:srgbClr val="FFFFFF"/>
                </a:solidFill>
              </a:defRPr>
            </a:pPr>
            <a:r>
              <a:t>Understand 4. troubleshooting the cluster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Welcome to Week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What You'll Learn This Week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1. Creating a Cluster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1.1 Initialization</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When you initialize a cluster, Proxmox performs several critical actions.</a:t>
            </a:r>
          </a:p>
          <a:p>
            <a:pPr>
              <a:spcBef>
                <a:spcPts val="800"/>
              </a:spcBef>
              <a:spcAft>
                <a:spcPts val="800"/>
              </a:spcAft>
              <a:defRPr sz="2000">
                <a:solidFill>
                  <a:srgbClr val="FFFFFF"/>
                </a:solidFill>
              </a:defRPr>
            </a:pPr>
            <a:r>
              <a:t>It generates a cryptographic key (/etc/corosync/authkey) appearing to secure communication and creates the central configuration database (/etc/pve/corosync.conf).</a:t>
            </a:r>
          </a:p>
          <a:p>
            <a:pPr>
              <a:spcBef>
                <a:spcPts val="800"/>
              </a:spcBef>
              <a:spcAft>
                <a:spcPts val="800"/>
              </a:spcAft>
              <a:defRPr sz="2000">
                <a:solidFill>
                  <a:srgbClr val="FFFFFF"/>
                </a:solidFill>
              </a:defRPr>
            </a:pPr>
            <a:r>
              <a:t>This database is essentially the "source of truth" for the entire cluster.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1.2 Joining a Node</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Adding a second server is a "join" operation, not a creation operation.</a:t>
            </a:r>
          </a:p>
          <a:p>
            <a:pPr>
              <a:spcBef>
                <a:spcPts val="800"/>
              </a:spcBef>
              <a:spcAft>
                <a:spcPts val="800"/>
              </a:spcAft>
              <a:defRPr sz="2000">
                <a:solidFill>
                  <a:srgbClr val="FFFFFF"/>
                </a:solidFill>
              </a:defRPr>
            </a:pPr>
            <a:r>
              <a:t>You instruct the new node to connect to the existing ring.</a:t>
            </a:r>
          </a:p>
          <a:p>
            <a:pPr>
              <a:spcBef>
                <a:spcPts val="800"/>
              </a:spcBef>
              <a:spcAft>
                <a:spcPts val="800"/>
              </a:spcAft>
              <a:defRPr sz="2000">
                <a:solidFill>
                  <a:srgbClr val="FFFFFF"/>
                </a:solidFill>
              </a:defRPr>
            </a:pPr>
            <a:r>
              <a:t>The new node authenticates using the root password or an explicit join token, downloads the cluster keys and configuration files, and restarts its local services to synchronize with the quorum.</a:t>
            </a:r>
          </a:p>
          <a:p>
            <a:pPr>
              <a:spcBef>
                <a:spcPts val="800"/>
              </a:spcBef>
              <a:spcAft>
                <a:spcPts val="800"/>
              </a:spcAft>
              <a:defRPr sz="2000">
                <a:solidFill>
                  <a:srgbClr val="FFFFFF"/>
                </a:solidFill>
              </a:defRPr>
            </a:pPr>
            <a:r>
              <a:t>Crucial Requirement: For a cluster to function correctly, every node must have a unique Hostname and a persistent Static IP address.</a:t>
            </a:r>
          </a:p>
          <a:p>
            <a:pPr>
              <a:spcBef>
                <a:spcPts val="800"/>
              </a:spcBef>
              <a:spcAft>
                <a:spcPts val="800"/>
              </a:spcAft>
              <a:defRPr sz="2000">
                <a:solidFill>
                  <a:srgbClr val="FFFFFF"/>
                </a:solidFill>
              </a:defRPr>
            </a:pPr>
            <a:r>
              <a:t>If an IP address changes after the cluster is formed, Corosync communication will break, causing the node to lose quorum and effectively disconnecting it from the datacenter.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1 Checkpoint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pvecm is the primary command-line tool for managing the cluster lifecycle, wrapping the underlying Corosync engine.</a:t>
            </a:r>
          </a:p>
          <a:p>
            <a:pPr>
              <a:spcBef>
                <a:spcPts val="800"/>
              </a:spcBef>
              <a:spcAft>
                <a:spcPts val="800"/>
              </a:spcAft>
              <a:defRPr sz="2000">
                <a:solidFill>
                  <a:srgbClr val="FFFFFF"/>
                </a:solidFill>
              </a:defRPr>
            </a:pPr>
            <a:r>
              <a:t>Cluster Requirements are strict: nodes must have unique hostnames, static network configurations, and a reliable low-latency network connection.</a:t>
            </a:r>
          </a:p>
          <a:p>
            <a:pPr>
              <a:spcBef>
                <a:spcPts val="800"/>
              </a:spcBef>
              <a:spcAft>
                <a:spcPts val="800"/>
              </a:spcAft>
              <a:defRPr sz="2000">
                <a:solidFill>
                  <a:srgbClr val="FFFFFF"/>
                </a:solidFill>
              </a:defRPr>
            </a:pPr>
            <a:r>
              <a:t>Joining involves a node authenticating to an existing cluster leader to download shared keys and configuration state.</a:t>
            </a:r>
          </a:p>
          <a:p>
            <a:pPr>
              <a:spcBef>
                <a:spcPts val="800"/>
              </a:spcBef>
              <a:spcAft>
                <a:spcPts val="800"/>
              </a:spcAft>
              <a:defRPr sz="2000">
                <a:solidFill>
                  <a:srgbClr val="FFFFFF"/>
                </a:solidFill>
              </a:defRPr>
            </a:pPr>
            <a:r>
              <a:t>Why does Proxmox use SSH keys for cluster communication alongside Corosync keys?</a:t>
            </a:r>
          </a:p>
          <a:p>
            <a:pPr>
              <a:spcBef>
                <a:spcPts val="800"/>
              </a:spcBef>
              <a:spcAft>
                <a:spcPts val="800"/>
              </a:spcAft>
              <a:defRPr sz="2000">
                <a:solidFill>
                  <a:srgbClr val="FFFFFF"/>
                </a:solidFill>
              </a:defRPr>
            </a:pPr>
            <a:r>
              <a:t>What is the impact on the cluster configuration file /etc/pve/corosync.conf if you change a node's IP address without updating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1 Checkpoint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Proxmox VE Cluster Manager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2. Quorum: The Rule of Majority Algorithm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2.1 The Split Brain Condition</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Divergence: Node A cannot see Node B and assumes Node B has failed. Simultaneously, Node B assumes Node A has failed.</a:t>
            </a:r>
          </a:p>
          <a:p>
            <a:pPr>
              <a:spcBef>
                <a:spcPts val="800"/>
              </a:spcBef>
              <a:spcAft>
                <a:spcPts val="800"/>
              </a:spcAft>
              <a:defRPr sz="2000">
                <a:solidFill>
                  <a:srgbClr val="FFFFFF"/>
                </a:solidFill>
              </a:defRPr>
            </a:pPr>
            <a:r>
              <a:t>The Conflict: Both nodes promote themselves to "Master" status and attempt to take ownership of the same resources (e.g., VM ID 100).</a:t>
            </a:r>
          </a:p>
          <a:p>
            <a:pPr>
              <a:spcBef>
                <a:spcPts val="800"/>
              </a:spcBef>
              <a:spcAft>
                <a:spcPts val="800"/>
              </a:spcAft>
              <a:defRPr sz="2000">
                <a:solidFill>
                  <a:srgbClr val="FFFFFF"/>
                </a:solidFill>
              </a:defRPr>
            </a:pPr>
            <a:r>
              <a:t>The Consequence: Both nodes mount the same shared storage volume and attempt to write data concurrently.</a:t>
            </a:r>
          </a:p>
          <a:p>
            <a:pPr>
              <a:spcBef>
                <a:spcPts val="800"/>
              </a:spcBef>
              <a:spcAft>
                <a:spcPts val="800"/>
              </a:spcAft>
              <a:defRPr sz="2000">
                <a:solidFill>
                  <a:srgbClr val="FFFFFF"/>
                </a:solidFill>
              </a:defRPr>
            </a:pPr>
            <a:r>
              <a:t>The Result: Since they are unaware of each other's write operations, they overwrite each other's filesystem journals, leading to irreversible data corruption within milliseconds.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2.2 Quorum Logic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In a 2-Node Cluster, there are 2 total votes.</a:t>
            </a:r>
          </a:p>
          <a:p>
            <a:pPr>
              <a:spcBef>
                <a:spcPts val="800"/>
              </a:spcBef>
              <a:spcAft>
                <a:spcPts val="800"/>
              </a:spcAft>
              <a:defRPr sz="2000">
                <a:solidFill>
                  <a:srgbClr val="FFFFFF"/>
                </a:solidFill>
              </a:defRPr>
            </a:pPr>
            <a:r>
              <a:t>The majority needed is (2/2) + 1 = 2.</a:t>
            </a:r>
          </a:p>
          <a:p>
            <a:pPr>
              <a:spcBef>
                <a:spcPts val="800"/>
              </a:spcBef>
              <a:spcAft>
                <a:spcPts val="800"/>
              </a:spcAft>
              <a:defRPr sz="2000">
                <a:solidFill>
                  <a:srgbClr val="FFFFFF"/>
                </a:solidFill>
              </a:defRPr>
            </a:pPr>
            <a:r>
              <a:t>This implies that if a single node fails, the survivor has only 1 vote.</a:t>
            </a:r>
          </a:p>
          <a:p>
            <a:pPr>
              <a:spcBef>
                <a:spcPts val="800"/>
              </a:spcBef>
              <a:spcAft>
                <a:spcPts val="800"/>
              </a:spcAft>
              <a:defRPr sz="2000">
                <a:solidFill>
                  <a:srgbClr val="FFFFFF"/>
                </a:solidFill>
              </a:defRPr>
            </a:pPr>
            <a:r>
              <a:t>Since 1 is less than 2, Quorum is lost.</a:t>
            </a:r>
          </a:p>
          <a:p>
            <a:pPr>
              <a:spcBef>
                <a:spcPts val="800"/>
              </a:spcBef>
              <a:spcAft>
                <a:spcPts val="800"/>
              </a:spcAft>
              <a:defRPr sz="2000">
                <a:solidFill>
                  <a:srgbClr val="FFFFFF"/>
                </a:solidFill>
              </a:defRPr>
            </a:pPr>
            <a:r>
              <a:t>The surviving node essentially "locks down," forcing the filesystem into Read-Only mode to prevent any possibility of corruption.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2.2 Quorum Logic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In a 3-Node Cluster, there are 3 total votes.</a:t>
            </a:r>
          </a:p>
          <a:p>
            <a:pPr>
              <a:spcBef>
                <a:spcPts val="800"/>
              </a:spcBef>
              <a:spcAft>
                <a:spcPts val="800"/>
              </a:spcAft>
              <a:defRPr sz="2000">
                <a:solidFill>
                  <a:srgbClr val="FFFFFF"/>
                </a:solidFill>
              </a:defRPr>
            </a:pPr>
            <a:r>
              <a:t>The majority needed is (3/2) + 1 = 2.5 (which rounds down to integer 2).</a:t>
            </a:r>
          </a:p>
          <a:p>
            <a:pPr>
              <a:spcBef>
                <a:spcPts val="800"/>
              </a:spcBef>
              <a:spcAft>
                <a:spcPts val="800"/>
              </a:spcAft>
              <a:defRPr sz="2000">
                <a:solidFill>
                  <a:srgbClr val="FFFFFF"/>
                </a:solidFill>
              </a:defRPr>
            </a:pPr>
            <a:r>
              <a:t>If one node fails, the remaining two nodes have 2 votes.</a:t>
            </a:r>
          </a:p>
          <a:p>
            <a:pPr>
              <a:spcBef>
                <a:spcPts val="800"/>
              </a:spcBef>
              <a:spcAft>
                <a:spcPts val="800"/>
              </a:spcAft>
              <a:defRPr sz="2000">
                <a:solidFill>
                  <a:srgbClr val="FFFFFF"/>
                </a:solidFill>
              </a:defRPr>
            </a:pPr>
            <a:r>
              <a:t>Since 2 equals 2, Quorum is maintained, and the cluster remains fully operational.</a:t>
            </a:r>
          </a:p>
          <a:p>
            <a:pPr>
              <a:spcBef>
                <a:spcPts val="800"/>
              </a:spcBef>
              <a:spcAft>
                <a:spcPts val="800"/>
              </a:spcAft>
              <a:defRPr sz="2000">
                <a:solidFill>
                  <a:srgbClr val="FFFFFF"/>
                </a:solidFill>
              </a:defRPr>
            </a:pPr>
            <a:r>
              <a:t>This highlights the architectural best practice of always designing clusters with an ODD number of nodes (3, 5, 7) to allow for reliable tie-breaking.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2 Checkpoint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Quorum enforces the "Rule of Majority" using the formula (Total/2)+1 to ensure only one part of a partitioned cluster remains active.</a:t>
            </a:r>
          </a:p>
          <a:p>
            <a:pPr>
              <a:spcBef>
                <a:spcPts val="800"/>
              </a:spcBef>
              <a:spcAft>
                <a:spcPts val="800"/>
              </a:spcAft>
              <a:defRPr sz="2000">
                <a:solidFill>
                  <a:srgbClr val="FFFFFF"/>
                </a:solidFill>
              </a:defRPr>
            </a:pPr>
            <a:r>
              <a:t>Split Brain occurs when disconnected nodes both attempt to become Master, leading to guaranteed data corruption.</a:t>
            </a:r>
          </a:p>
          <a:p>
            <a:pPr>
              <a:spcBef>
                <a:spcPts val="800"/>
              </a:spcBef>
              <a:spcAft>
                <a:spcPts val="800"/>
              </a:spcAft>
              <a:defRPr sz="2000">
                <a:solidFill>
                  <a:srgbClr val="FFFFFF"/>
                </a:solidFill>
              </a:defRPr>
            </a:pPr>
            <a:r>
              <a:t>Safety Mechanism: If Quorum is lost, the cluster automatically locks down to Read-Only mode to preserve data integrity.</a:t>
            </a:r>
          </a:p>
          <a:p>
            <a:pPr>
              <a:spcBef>
                <a:spcPts val="800"/>
              </a:spcBef>
              <a:spcAft>
                <a:spcPts val="800"/>
              </a:spcAft>
              <a:defRPr sz="2000">
                <a:solidFill>
                  <a:srgbClr val="FFFFFF"/>
                </a:solidFill>
              </a:defRPr>
            </a:pPr>
            <a:r>
              <a:t>Why is a 2-node cluster considered "dangerous" without an external vote (QDevice)?</a:t>
            </a:r>
          </a:p>
          <a:p>
            <a:pPr>
              <a:spcBef>
                <a:spcPts val="800"/>
              </a:spcBef>
              <a:spcAft>
                <a:spcPts val="800"/>
              </a:spcAft>
              <a:defRPr sz="2000">
                <a:solidFill>
                  <a:srgbClr val="FFFFFF"/>
                </a:solidFill>
              </a:defRPr>
            </a:pPr>
            <a:r>
              <a:t>Does a "Majority" mean 51% (more than half) or exactly half?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2 Checkpoint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Corosync Project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3. High Availability (HA) Manager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3.1 Architecture Components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Cluster Resource Manager (pve-ha-crm) acts as the "Cluster Manager" or the "Boss." It runs as a single active instance on the current master node.</a:t>
            </a:r>
          </a:p>
          <a:p>
            <a:pPr>
              <a:spcBef>
                <a:spcPts val="800"/>
              </a:spcBef>
              <a:spcAft>
                <a:spcPts val="800"/>
              </a:spcAft>
              <a:defRPr sz="2000">
                <a:solidFill>
                  <a:srgbClr val="FFFFFF"/>
                </a:solidFill>
              </a:defRPr>
            </a:pPr>
            <a:r>
              <a:t>Its job is to maintain the state of the cluster and make high-level decisions about where services should live.</a:t>
            </a:r>
          </a:p>
          <a:p>
            <a:pPr>
              <a:spcBef>
                <a:spcPts val="800"/>
              </a:spcBef>
              <a:spcAft>
                <a:spcPts val="800"/>
              </a:spcAft>
              <a:defRPr sz="2000">
                <a:solidFill>
                  <a:srgbClr val="FFFFFF"/>
                </a:solidFill>
              </a:defRPr>
            </a:pPr>
            <a:r>
              <a:t>If the node running the active CRM fails, the cluster automatically elects a new master to take over this role.</a:t>
            </a:r>
          </a:p>
          <a:p>
            <a:pPr>
              <a:spcBef>
                <a:spcPts val="800"/>
              </a:spcBef>
              <a:spcAft>
                <a:spcPts val="800"/>
              </a:spcAft>
              <a:defRPr sz="2000">
                <a:solidFill>
                  <a:srgbClr val="FFFFFF"/>
                </a:solidFill>
              </a:defRPr>
            </a:pPr>
            <a:r>
              <a:t>The Local Resource Manager (pve-ha-lrm) acts as the "Worker." An instance runs on every single node in the cluster.</a:t>
            </a:r>
          </a:p>
          <a:p>
            <a:pPr>
              <a:spcBef>
                <a:spcPts val="800"/>
              </a:spcBef>
              <a:spcAft>
                <a:spcPts val="800"/>
              </a:spcAft>
              <a:defRPr sz="2000">
                <a:solidFill>
                  <a:srgbClr val="FFFFFF"/>
                </a:solidFill>
              </a:defRPr>
            </a:pPr>
            <a:r>
              <a:t>It receives orders from the CRM to start or stop services and reports the status of local resources back to the master.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3.1 Architecture Components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It is responsible for the actual execution of service management commands on the local hypervisor.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3.2 Fencing Mechanism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If Node A stops responding to heartbeats, Node B cannot know if Node A has crashed or if just the network cable was unplugged.</a:t>
            </a:r>
          </a:p>
          <a:p>
            <a:pPr>
              <a:spcBef>
                <a:spcPts val="800"/>
              </a:spcBef>
              <a:spcAft>
                <a:spcPts val="800"/>
              </a:spcAft>
              <a:defRPr sz="2000">
                <a:solidFill>
                  <a:srgbClr val="FFFFFF"/>
                </a:solidFill>
              </a:defRPr>
            </a:pPr>
            <a:r>
              <a:t>If Node B starts Node A's VMs while Node A is still running them, both nodes would attempt to write to the same virtual disks simultaneously, guaranteeing severe data corruption.</a:t>
            </a:r>
          </a:p>
          <a:p>
            <a:pPr>
              <a:spcBef>
                <a:spcPts val="800"/>
              </a:spcBef>
              <a:spcAft>
                <a:spcPts val="800"/>
              </a:spcAft>
              <a:defRPr sz="2000">
                <a:solidFill>
                  <a:srgbClr val="FFFFFF"/>
                </a:solidFill>
              </a:defRPr>
            </a:pPr>
            <a:r>
              <a:t>To solve this, we use Fencing, often referred to by the acronym STONITH (Shoot The Other Node In The Head).</a:t>
            </a:r>
          </a:p>
          <a:p>
            <a:pPr>
              <a:spcBef>
                <a:spcPts val="800"/>
              </a:spcBef>
              <a:spcAft>
                <a:spcPts val="800"/>
              </a:spcAft>
              <a:defRPr sz="2000">
                <a:solidFill>
                  <a:srgbClr val="FFFFFF"/>
                </a:solidFill>
              </a:defRPr>
            </a:pPr>
            <a:r>
              <a:t>Upon detecting a failure, the cluster issues a command to a physical hardware device (like an IPMI controller or a Smart PDU) to physically cut power to the faulty node.</a:t>
            </a:r>
          </a:p>
          <a:p>
            <a:pPr>
              <a:spcBef>
                <a:spcPts val="800"/>
              </a:spcBef>
              <a:spcAft>
                <a:spcPts val="800"/>
              </a:spcAft>
              <a:defRPr sz="2000">
                <a:solidFill>
                  <a:srgbClr val="FFFFFF"/>
                </a:solidFill>
              </a:defRPr>
            </a:pPr>
            <a:r>
              <a:t>This guarantees the node is dead.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3.2 Fencing Mechanism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Only after this confirmation does the cluster restart the VMs on healthy nodes.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3 Checkpoint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High Availability (HA) automates the recovery of services by restarting VMs on healthy nodes after a hardware failure.</a:t>
            </a:r>
          </a:p>
          <a:p>
            <a:pPr>
              <a:spcBef>
                <a:spcPts val="800"/>
              </a:spcBef>
              <a:spcAft>
                <a:spcPts val="800"/>
              </a:spcAft>
              <a:defRPr sz="2000">
                <a:solidFill>
                  <a:srgbClr val="FFFFFF"/>
                </a:solidFill>
              </a:defRPr>
            </a:pPr>
            <a:r>
              <a:t>CRM and LRM act as the "Manager" and "Worker" services, respectively, to orchestrate the monitoring and recovery process.</a:t>
            </a:r>
          </a:p>
          <a:p>
            <a:pPr>
              <a:spcBef>
                <a:spcPts val="800"/>
              </a:spcBef>
              <a:spcAft>
                <a:spcPts val="800"/>
              </a:spcAft>
              <a:defRPr sz="2000">
                <a:solidFill>
                  <a:srgbClr val="FFFFFF"/>
                </a:solidFill>
              </a:defRPr>
            </a:pPr>
            <a:r>
              <a:t>Fencing (STONITH) is the essential safety mechanism that physically powers off a non-responsive node to prevent Split Brain before recovery begins.</a:t>
            </a:r>
          </a:p>
          <a:p>
            <a:pPr>
              <a:spcBef>
                <a:spcPts val="800"/>
              </a:spcBef>
              <a:spcAft>
                <a:spcPts val="800"/>
              </a:spcAft>
              <a:defRPr sz="2000">
                <a:solidFill>
                  <a:srgbClr val="FFFFFF"/>
                </a:solidFill>
              </a:defRPr>
            </a:pPr>
            <a:r>
              <a:t>Why is Fencing (STONITH) safer than just assuming a silent node is down?</a:t>
            </a:r>
          </a:p>
          <a:p>
            <a:pPr>
              <a:spcBef>
                <a:spcPts val="800"/>
              </a:spcBef>
              <a:spcAft>
                <a:spcPts val="800"/>
              </a:spcAft>
              <a:defRPr sz="2000">
                <a:solidFill>
                  <a:srgbClr val="FFFFFF"/>
                </a:solidFill>
              </a:defRPr>
            </a:pPr>
            <a:r>
              <a:t>Can you have High Availability without Shared Storage? (Consider the implications of ZFS Replication).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3 Checkpoint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Proxmox HA Simulator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4. Troubleshooting the Cluster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4.1 Check Quorum</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first step in any cluster diagnosis is to verify the voting state.</a:t>
            </a:r>
          </a:p>
          <a:p>
            <a:pPr>
              <a:spcBef>
                <a:spcPts val="800"/>
              </a:spcBef>
              <a:spcAft>
                <a:spcPts val="800"/>
              </a:spcAft>
              <a:defRPr sz="2000">
                <a:solidFill>
                  <a:srgbClr val="FFFFFF"/>
                </a:solidFill>
              </a:defRPr>
            </a:pPr>
            <a:r>
              <a:t>Run pvecm status to see the cluster's health from the perspective of the local node.</a:t>
            </a:r>
          </a:p>
          <a:p>
            <a:pPr>
              <a:spcBef>
                <a:spcPts val="800"/>
              </a:spcBef>
              <a:spcAft>
                <a:spcPts val="800"/>
              </a:spcAft>
              <a:defRPr sz="2000">
                <a:solidFill>
                  <a:srgbClr val="FFFFFF"/>
                </a:solidFill>
              </a:defRPr>
            </a:pPr>
            <a:r>
              <a:t>Key fields to observe are Votes (number of nodes currently active) and Quorate.</a:t>
            </a:r>
          </a:p>
          <a:p>
            <a:pPr>
              <a:spcBef>
                <a:spcPts val="800"/>
              </a:spcBef>
              <a:spcAft>
                <a:spcPts val="800"/>
              </a:spcAft>
              <a:defRPr sz="2000">
                <a:solidFill>
                  <a:srgbClr val="FFFFFF"/>
                </a:solidFill>
              </a:defRPr>
            </a:pPr>
            <a:r>
              <a:t>If Quorate is No, the cluster has lost its majority and will block any changes to the configuration database (pmxcfs) to prevent split-brain, effectively locking the cluster into a read-only mode.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4.2 Check Corosync</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If nodes are not syncing but the network appears up, the issue often lies with Corosync latency.</a:t>
            </a:r>
          </a:p>
          <a:p>
            <a:pPr>
              <a:spcBef>
                <a:spcPts val="800"/>
              </a:spcBef>
              <a:spcAft>
                <a:spcPts val="800"/>
              </a:spcAft>
              <a:defRPr sz="2000">
                <a:solidFill>
                  <a:srgbClr val="FFFFFF"/>
                </a:solidFill>
              </a:defRPr>
            </a:pPr>
            <a:r>
              <a:t>Use systemctl status corosync to check the service health.</a:t>
            </a:r>
          </a:p>
          <a:p>
            <a:pPr>
              <a:spcBef>
                <a:spcPts val="800"/>
              </a:spcBef>
              <a:spcAft>
                <a:spcPts val="800"/>
              </a:spcAft>
              <a:defRPr sz="2000">
                <a:solidFill>
                  <a:srgbClr val="FFFFFF"/>
                </a:solidFill>
              </a:defRPr>
            </a:pPr>
            <a:r>
              <a:t>The logs will reveal if the "token retransmit time" is being exceeded.</a:t>
            </a:r>
          </a:p>
          <a:p>
            <a:pPr>
              <a:spcBef>
                <a:spcPts val="800"/>
              </a:spcBef>
              <a:spcAft>
                <a:spcPts val="800"/>
              </a:spcAft>
              <a:defRPr sz="2000">
                <a:solidFill>
                  <a:srgbClr val="FFFFFF"/>
                </a:solidFill>
              </a:defRPr>
            </a:pPr>
            <a:r>
              <a:t>Corosync requires extremely low latency (typically &lt; 2ms) to function correctly.</a:t>
            </a:r>
          </a:p>
          <a:p>
            <a:pPr>
              <a:spcBef>
                <a:spcPts val="800"/>
              </a:spcBef>
              <a:spcAft>
                <a:spcPts val="800"/>
              </a:spcAft>
              <a:defRPr sz="2000">
                <a:solidFill>
                  <a:srgbClr val="FFFFFF"/>
                </a:solidFill>
              </a:defRPr>
            </a:pPr>
            <a:r>
              <a:t>High latency links, such as Wi-Fi or saturated 1Gbps uplinks during backups, often cause Corosync to drop packets and declare nodes dead falsely.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4.3 Force Quorum (Emergency Only)</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In a catastrophic scenario where you have a 2-node cluster and one node permanently fails, the survivor will lose quorum (1 vote &lt; 2 required). To recover management capability on the survivor, you can artificially lower the expected vote count.</a:t>
            </a:r>
          </a:p>
          <a:p>
            <a:pPr>
              <a:spcBef>
                <a:spcPts val="800"/>
              </a:spcBef>
              <a:spcAft>
                <a:spcPts val="800"/>
              </a:spcAft>
              <a:defRPr sz="2000">
                <a:solidFill>
                  <a:srgbClr val="FFFFFF"/>
                </a:solidFill>
              </a:defRPr>
            </a:pPr>
            <a:r>
              <a:t>Warning: This command tells the survivor, "Pretend we only expected 1 vote." This allows it to become quorate alone. You must only do this if you are absolutely certain the other node is dead. If the other node comes back online while this is active, you will cause a Split Brain scenario.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4 Checkpoint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pvecm status is the primary diagnostic tool for assessing voting health and determining if the cluster is Quorate.</a:t>
            </a:r>
          </a:p>
          <a:p>
            <a:pPr>
              <a:spcBef>
                <a:spcPts val="800"/>
              </a:spcBef>
              <a:spcAft>
                <a:spcPts val="800"/>
              </a:spcAft>
              <a:defRPr sz="2000">
                <a:solidFill>
                  <a:srgbClr val="FFFFFF"/>
                </a:solidFill>
              </a:defRPr>
            </a:pPr>
            <a:r>
              <a:t>Corosync Latency is the most common cause of instability; high latency triggers false failure detection.</a:t>
            </a:r>
          </a:p>
          <a:p>
            <a:pPr>
              <a:spcBef>
                <a:spcPts val="800"/>
              </a:spcBef>
              <a:spcAft>
                <a:spcPts val="800"/>
              </a:spcAft>
              <a:defRPr sz="2000">
                <a:solidFill>
                  <a:srgbClr val="FFFFFF"/>
                </a:solidFill>
              </a:defRPr>
            </a:pPr>
            <a:r>
              <a:t>Forcing Quorum (expected 1) is a destructive emergency measure to recover a surviving node in a broken cluster.</a:t>
            </a:r>
          </a:p>
          <a:p>
            <a:pPr>
              <a:spcBef>
                <a:spcPts val="800"/>
              </a:spcBef>
              <a:spcAft>
                <a:spcPts val="800"/>
              </a:spcAft>
              <a:defRPr sz="2000">
                <a:solidFill>
                  <a:srgbClr val="FFFFFF"/>
                </a:solidFill>
              </a:defRPr>
            </a:pPr>
            <a:r>
              <a:t>Why is latency (Ping time) so critical for Corosync compared to bandwidth?</a:t>
            </a:r>
          </a:p>
          <a:p>
            <a:pPr>
              <a:spcBef>
                <a:spcPts val="800"/>
              </a:spcBef>
              <a:spcAft>
                <a:spcPts val="800"/>
              </a:spcAft>
              <a:defRPr sz="2000">
                <a:solidFill>
                  <a:srgbClr val="FFFFFF"/>
                </a:solidFill>
              </a:defRPr>
            </a:pPr>
            <a:r>
              <a:t>What does "Quorate: No" actually mean for your ability to start, stop, or migrate VMs?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4 Checkpoint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Clusterlabs Troubleshooting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5. Live Migration CLI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5 Checkpoint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Live Migration moves active RAM state between nodes, allowing hardware maintenance without service interruption.</a:t>
            </a:r>
          </a:p>
          <a:p>
            <a:pPr>
              <a:spcBef>
                <a:spcPts val="800"/>
              </a:spcBef>
              <a:spcAft>
                <a:spcPts val="800"/>
              </a:spcAft>
              <a:defRPr sz="2000">
                <a:solidFill>
                  <a:srgbClr val="FFFFFF"/>
                </a:solidFill>
              </a:defRPr>
            </a:pPr>
            <a:r>
              <a:t>--online ensures the VM remains responsive during the transfer; without it, the VM would hibernate and resume (offline migration).</a:t>
            </a:r>
          </a:p>
          <a:p>
            <a:pPr>
              <a:spcBef>
                <a:spcPts val="800"/>
              </a:spcBef>
              <a:spcAft>
                <a:spcPts val="800"/>
              </a:spcAft>
              <a:defRPr sz="2000">
                <a:solidFill>
                  <a:srgbClr val="FFFFFF"/>
                </a:solidFill>
              </a:defRPr>
            </a:pPr>
            <a:r>
              <a:t>--with-local-disks enables migrations even without shared storage by copying the disk image alongside the RAM, though this takes significantly longer.</a:t>
            </a:r>
          </a:p>
          <a:p>
            <a:pPr>
              <a:spcBef>
                <a:spcPts val="800"/>
              </a:spcBef>
              <a:spcAft>
                <a:spcPts val="800"/>
              </a:spcAft>
              <a:defRPr sz="2000">
                <a:solidFill>
                  <a:srgbClr val="FFFFFF"/>
                </a:solidFill>
              </a:defRPr>
            </a:pPr>
            <a:r>
              <a:t>What happens to the VM if the network cable is unplugged during the RAM copy phase of a migration?</a:t>
            </a:r>
          </a:p>
          <a:p>
            <a:pPr>
              <a:spcBef>
                <a:spcPts val="800"/>
              </a:spcBef>
              <a:spcAft>
                <a:spcPts val="800"/>
              </a:spcAft>
              <a:defRPr sz="2000">
                <a:solidFill>
                  <a:srgbClr val="FFFFFF"/>
                </a:solidFill>
              </a:defRPr>
            </a:pPr>
            <a:r>
              <a:t>Why must the CPU Type often be set to kvm64 or host model carefully in heterogeneous clusters?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5 Checkpoint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QEMU Migration Documentation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6. Enterprise Shared Storage Architectures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6.1 Distributed Storage: Ceph (Advanced)</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OSD (Object Storage Daemon): The workhorse. One OSD runs per physical disk. It handles reading, writing, and replicating data.</a:t>
            </a:r>
          </a:p>
          <a:p>
            <a:pPr>
              <a:spcBef>
                <a:spcPts val="800"/>
              </a:spcBef>
              <a:spcAft>
                <a:spcPts val="800"/>
              </a:spcAft>
              <a:defRPr sz="2000">
                <a:solidFill>
                  <a:srgbClr val="FFFFFF"/>
                </a:solidFill>
              </a:defRPr>
            </a:pPr>
            <a:r>
              <a:t>MON (Monitor): The brain. It maintains the "Cluster Map"—the master list of which nodes are alive and where data lives. You usually need at least 3 MONs for quorum.</a:t>
            </a:r>
          </a:p>
          <a:p>
            <a:pPr>
              <a:spcBef>
                <a:spcPts val="800"/>
              </a:spcBef>
              <a:spcAft>
                <a:spcPts val="800"/>
              </a:spcAft>
              <a:defRPr sz="2000">
                <a:solidFill>
                  <a:srgbClr val="FFFFFF"/>
                </a:solidFill>
              </a:defRPr>
            </a:pPr>
            <a:r>
              <a:t>MGR (Manager): Collects metrics and state for the GUI dashboard.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6.2 External Shared Storage (SAN &amp; NAS)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Network Attached Storage (NAS): Uses NFS or SMB. The storage array manages the filesystem. Proxmox simply mounts a folder. It's easy, but effectively "Serial" (files are locked individually).</a:t>
            </a:r>
          </a:p>
          <a:p>
            <a:pPr>
              <a:spcBef>
                <a:spcPts val="800"/>
              </a:spcBef>
              <a:spcAft>
                <a:spcPts val="800"/>
              </a:spcAft>
              <a:defRPr sz="2000">
                <a:solidFill>
                  <a:srgbClr val="FFFFFF"/>
                </a:solidFill>
              </a:defRPr>
            </a:pPr>
            <a:r>
              <a:t>Storage Area Network (SAN): Uses iSCSI or Fibre Channel. Proxmox sees a raw block device over the network.</a:t>
            </a:r>
          </a:p>
          <a:p>
            <a:pPr>
              <a:spcBef>
                <a:spcPts val="800"/>
              </a:spcBef>
              <a:spcAft>
                <a:spcPts val="800"/>
              </a:spcAft>
              <a:defRPr sz="2000">
                <a:solidFill>
                  <a:srgbClr val="FFFFFF"/>
                </a:solidFill>
              </a:defRPr>
            </a:pPr>
            <a:r>
              <a:t>Parallel / Cluster File Systems: To allow multiple Proxmox nodes to mount the same SAN LUN simultaneously and write to it without corrupting data, we use a Clustered File System like GFS2 (Global File System 2) or OCFS2.</a:t>
            </a:r>
            <a:br/>
            <a:r>
              <a:t>Locking: These systems use a specialized Distributed Lock Manager (DLM) to ensure that if Node A is writing to a file, Node B knows about it instantly.</a:t>
            </a:r>
          </a:p>
          <a:p>
            <a:pPr>
              <a:spcBef>
                <a:spcPts val="800"/>
              </a:spcBef>
              <a:spcAft>
                <a:spcPts val="800"/>
              </a:spcAft>
              <a:defRPr sz="2000">
                <a:solidFill>
                  <a:srgbClr val="FFFFFF"/>
                </a:solidFill>
              </a:defRPr>
            </a:pPr>
            <a:r>
              <a:t>LVM-Shared: Alternatively, Proxmox often uses LVM on top of iSCSI in "Shared Mode" to manage raw disk volumes for VMs without a full filesystem layer.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6 Checkpoint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Ceph (HCI): Distributed, self-healing storage on compute nodes (3+ nodes req).</a:t>
            </a:r>
          </a:p>
          <a:p>
            <a:pPr>
              <a:spcBef>
                <a:spcPts val="800"/>
              </a:spcBef>
              <a:spcAft>
                <a:spcPts val="800"/>
              </a:spcAft>
              <a:defRPr sz="2000">
                <a:solidFill>
                  <a:srgbClr val="FFFFFF"/>
                </a:solidFill>
              </a:defRPr>
            </a:pPr>
            <a:r>
              <a:t>SAN/NAS: External storage arrays. Block (iSCSI/FC) vs File (NFS).</a:t>
            </a:r>
          </a:p>
          <a:p>
            <a:pPr>
              <a:spcBef>
                <a:spcPts val="800"/>
              </a:spcBef>
              <a:spcAft>
                <a:spcPts val="800"/>
              </a:spcAft>
              <a:defRPr sz="2000">
                <a:solidFill>
                  <a:srgbClr val="FFFFFF"/>
                </a:solidFill>
              </a:defRPr>
            </a:pPr>
            <a:r>
              <a:t>Cluster FS: GFS2/OCFS2 needed for simultaneous shared writes.</a:t>
            </a:r>
          </a:p>
          <a:p>
            <a:pPr>
              <a:spcBef>
                <a:spcPts val="800"/>
              </a:spcBef>
              <a:spcAft>
                <a:spcPts val="800"/>
              </a:spcAft>
              <a:defRPr sz="2000">
                <a:solidFill>
                  <a:srgbClr val="FFFFFF"/>
                </a:solidFill>
              </a:defRPr>
            </a:pPr>
            <a:r>
              <a:t>Why is a 10GbE network mandatory for Ceph?</a:t>
            </a:r>
          </a:p>
          <a:p>
            <a:pPr>
              <a:spcBef>
                <a:spcPts val="800"/>
              </a:spcBef>
              <a:spcAft>
                <a:spcPts val="800"/>
              </a:spcAft>
              <a:defRPr sz="2000">
                <a:solidFill>
                  <a:srgbClr val="FFFFFF"/>
                </a:solidFill>
              </a:defRPr>
            </a:pPr>
            <a:r>
              <a:t>What happens if two servers write to a standard ext4 non-clustered disk at the same time?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6 Checkpoint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Ceph Intro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7. Proxmox Backups (VZDump)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7.1 Backups (VZDump) vs Snapshots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Snapshot: A point-in-time "difference file" linked to the original disk. Dependent.</a:t>
            </a:r>
          </a:p>
          <a:p>
            <a:pPr>
              <a:spcBef>
                <a:spcPts val="800"/>
              </a:spcBef>
              <a:spcAft>
                <a:spcPts val="800"/>
              </a:spcAft>
              <a:defRPr sz="2000">
                <a:solidFill>
                  <a:srgbClr val="FFFFFF"/>
                </a:solidFill>
              </a:defRPr>
            </a:pPr>
            <a:r>
              <a:t>Backup (VZDump): A comprehensive, independent archive (config + compressed disk data, e.g., .vma.zst). It can be moved offsite for disaster recovery.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7.2 Proxmox Backup Modes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When performing a backup, the state of the VM determines the consistency of the data.</a:t>
            </a:r>
          </a:p>
          <a:p>
            <a:pPr>
              <a:spcBef>
                <a:spcPts val="800"/>
              </a:spcBef>
              <a:spcAft>
                <a:spcPts val="800"/>
              </a:spcAft>
              <a:defRPr sz="2000">
                <a:solidFill>
                  <a:srgbClr val="FFFFFF"/>
                </a:solidFill>
              </a:defRPr>
            </a:pPr>
            <a:r>
              <a:t>Figure 10: Proxmox Backup Modes - Live (Snapshot), Suspend (Frozen), and Stop (Consistent) modes balance uptime vs. data consistency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7 Checkpoint</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Backup: Independent Archive, essential for DR.</a:t>
            </a:r>
          </a:p>
          <a:p>
            <a:pPr>
              <a:spcBef>
                <a:spcPts val="800"/>
              </a:spcBef>
              <a:spcAft>
                <a:spcPts val="800"/>
              </a:spcAft>
              <a:defRPr sz="2000">
                <a:solidFill>
                  <a:srgbClr val="FFFFFF"/>
                </a:solidFill>
              </a:defRPr>
            </a:pPr>
            <a:r>
              <a:t>Modes: Snapshot (Live), Suspend (Frozen), Stop (Consistent).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8. Managing Storage via CLI (pvesm)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42A46"/>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8 Checkpoint</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pvesm helps when the GUI is unavailable.</a:t>
            </a:r>
          </a:p>
          <a:p>
            <a:pPr>
              <a:spcBef>
                <a:spcPts val="800"/>
              </a:spcBef>
              <a:spcAft>
                <a:spcPts val="800"/>
              </a:spcAft>
              <a:defRPr sz="2000">
                <a:solidFill>
                  <a:srgbClr val="FFFFFF"/>
                </a:solidFill>
              </a:defRPr>
            </a:pPr>
            <a:r>
              <a:t>storage.cfg is the cluster-wide storage definition file.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9. Additional Resources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10. Lab Exercises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Summary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