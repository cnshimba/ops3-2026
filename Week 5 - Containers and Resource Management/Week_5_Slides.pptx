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The Foundation: Namespaces and Control Groups (Part 1)</a:t>
            </a:r>
          </a:p>
          <a:p/>
          <a:p>
            <a:r>
              <a:t>Key Points:</a:t>
            </a:r>
          </a:p>
          <a:p>
            <a:r>
              <a:t>1. Linux namespaces provide the fundamental isolation mechanism enabling containers.</a:t>
            </a:r>
          </a:p>
          <a:p>
            <a:r>
              <a:t>2. Each namespace type isolates a different aspect of the system.</a:t>
            </a:r>
          </a:p>
          <a:p>
            <a:r>
              <a:t>3. The PID (Process ID) Namespace isolates the process tree.</a:t>
            </a:r>
          </a:p>
          <a:p>
            <a:r>
              <a:t>4. On a normal Linux system, all processes share a single process ID space.</a:t>
            </a:r>
          </a:p>
          <a:p>
            <a:r>
              <a:t>5. With PID namespaces, each namespace has its own isolated process tree.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The Foundation: Namespaces and Control Groups (Part 2)</a:t>
            </a:r>
          </a:p>
          <a:p/>
          <a:p>
            <a:r>
              <a:t>Key Points:</a:t>
            </a:r>
          </a:p>
          <a:p>
            <a:r>
              <a:t>1. The Network Namespace isolates network configuration completely.</a:t>
            </a:r>
          </a:p>
          <a:p>
            <a:r>
              <a:t>2. Each network namespace has its own network interfaces, IP addresses, routing tables, and firewall rules.</a:t>
            </a:r>
          </a:p>
          <a:p>
            <a:r>
              <a:t>3. This enables functionality that would otherwise conflict, such as multiple containers binding to port 80 on the same physical host.</a:t>
            </a:r>
          </a:p>
          <a:p>
            <a:r>
              <a:t>4. The Mount Namespace controls filesystem visibility, giving each container its own root filesystem (rootfs) that appears as the top of the directory tree.</a:t>
            </a:r>
          </a:p>
          <a:p>
            <a:r>
              <a:t>5. While namespaces provide isolation, they do not inherently limit resource consumption.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The Foundation: Namespaces and Control Groups (Part 3)</a:t>
            </a:r>
          </a:p>
          <a:p/>
          <a:p>
            <a:r>
              <a:t>Key Points:</a:t>
            </a:r>
          </a:p>
          <a:p>
            <a:r>
              <a:t>1. Without additional mechanisms, a process in a container could consume all available CPU time or memory.</a:t>
            </a:r>
          </a:p>
          <a:p>
            <a:r>
              <a:t>2. Control Groups (cgroups) solve this problem by providing resource limiting, accounting, and prioritization.</a:t>
            </a:r>
          </a:p>
          <a:p>
            <a:r>
              <a:t>3. Understanding cgroups is essential because they form the foundation of resource management in all modern container platforms, from Docker to Kubernetes.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Understanding Control Groups in Depth</a:t>
            </a:r>
          </a:p>
          <a:p/>
          <a:p>
            <a:r>
              <a:t>Key Points:</a:t>
            </a:r>
          </a:p>
          <a:p>
            <a:r>
              <a:t>1. Control Groups, commonly abbreviated as cgroups, are a Linux kernel feature that organizes processes into hierarchical groups and applies resource constraints to those groups.</a:t>
            </a:r>
          </a:p>
          <a:p>
            <a:r>
              <a:t>2. Think of cgroups as the traffic police of the Linux system: while namespaces create separate lanes of traffic (isolation), cgroups enforce speed limits and allocate road capacity (resource limits).</a:t>
            </a:r>
          </a:p>
          <a:p>
            <a:r>
              <a:t>3. When you create a container and specify that it can use "2 CPU cores" and "1GB of RAM," these limits are enforced through cgroups.</a:t>
            </a:r>
          </a:p>
          <a:p>
            <a:r>
              <a:t>4. The container runtime creates a cgroup for that container and configures the appropriate resource controllers.</a:t>
            </a:r>
          </a:p>
          <a:p>
            <a:r>
              <a:t>5. If the containerized application tries to exceed these limits, the kernel's cgroup subsystem intervenes to enforce the constraints.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The cgroup Hierarchy</a:t>
            </a:r>
          </a:p>
          <a:p/>
          <a:p>
            <a:r>
              <a:t>Key Points:</a:t>
            </a:r>
          </a:p>
          <a:p>
            <a:r>
              <a:t>1. Cgroups are organized in a tree-like hierarchy, similar to how processes form a process tree.</a:t>
            </a:r>
          </a:p>
          <a:p>
            <a:r>
              <a:t>2. Each cgroup can have child cgroups, and resource limits applied to a parent cgroup affect all its children.</a:t>
            </a:r>
          </a:p>
          <a:p>
            <a:r>
              <a:t>3. This hierarchical structure enables sophisticated resource allocation strategies.</a:t>
            </a:r>
          </a:p>
          <a:p>
            <a:r>
              <a:t>4. For example, you might create a parent cgroup allocating 50% of CPU to "production workloads" and 50% to "development workloads," then subdivide those allocations further among individual containers.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cgroup Controllers (Subsystems) (Part 1)</a:t>
            </a:r>
          </a:p>
          <a:p/>
          <a:p>
            <a:r>
              <a:t>Key Points:</a:t>
            </a:r>
          </a:p>
          <a:p>
            <a:r>
              <a:t>1. This controller regulates access to CPU time.</a:t>
            </a:r>
          </a:p>
          <a:p>
            <a:r>
              <a:t>2. Administrators can use several mechanisms to control CPU allocation:</a:t>
            </a:r>
          </a:p>
          <a:p>
            <a:r>
              <a:t>   - CPU Shares: A proportional weight system where containers with higher shares get more CPU time when there's contention.</a:t>
            </a:r>
          </a:p>
          <a:p>
            <a:r>
              <a:t>3. For example, if Container A has 1024 shares and Container B has 512 shares, Container A receives twice as much CPU time during periods of high demand.</a:t>
            </a:r>
          </a:p>
          <a:p>
            <a:r>
              <a:t>4. - CPU Quota: An absolute hard limit on CPU usage over a period.</a:t>
            </a:r>
          </a:p>
          <a:p>
            <a:r>
              <a:t>5. Setting a quota of 50000 microseconds per 100000 microsecond period limits the container to 50% of one CPU core.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cgroup Controllers (Subsystems) (Part 2)</a:t>
            </a:r>
          </a:p>
          <a:p/>
          <a:p>
            <a:r>
              <a:t>Key Points:</a:t>
            </a:r>
          </a:p>
          <a:p>
            <a:r>
              <a:t>1. This controller manages memory allocation and prevents containers from consuming excessive RAM:</a:t>
            </a:r>
          </a:p>
          <a:p>
            <a:r>
              <a:t>   - Memory Limit: Sets a hard cap on the amount of RAM a cgroup can use.</a:t>
            </a:r>
          </a:p>
          <a:p>
            <a:r>
              <a:t>2. When this limit is reached, the kernel may trigger the Out-Of-Memory (OOM) killer to terminate processes within the cgroup.</a:t>
            </a:r>
          </a:p>
          <a:p>
            <a:r>
              <a:t>3. - Memory Reservation: A soft limit that acts as a target.</a:t>
            </a:r>
          </a:p>
          <a:p>
            <a:r>
              <a:t>4. The kernel will attempt to reclaim memory from the cgroup when system-wide memory pressure occurs.</a:t>
            </a:r>
          </a:p>
          <a:p>
            <a:r>
              <a:t>5. - Swap Control: Determines whether the cgroup can use swap space and how much.</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Practical cgroup Management</a:t>
            </a:r>
          </a:p>
          <a:p/>
          <a:p>
            <a:r>
              <a:t>Key Points:</a:t>
            </a:r>
          </a:p>
          <a:p>
            <a:r>
              <a:t>1. On modern Linux systems, cgroups are typically managed through the systemd init system, which uses cgroups extensively for service management. However, understanding direct cgroup manipulation is valuable for troubleshooting and advanced container configurations.</a:t>
            </a:r>
          </a:p>
          <a:p>
            <a:r>
              <a:t>2. The cgroup filesystem is typically mounted at /sys/fs/cgroup/. Each controller has its own subdirectory, and creating a new cgroup is as simple as creating a directory within that hierarchy.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cgroups v1 vs v2</a:t>
            </a:r>
          </a:p>
          <a:p/>
          <a:p>
            <a:r>
              <a:t>Key Points:</a:t>
            </a:r>
          </a:p>
          <a:p>
            <a:r>
              <a:t>1. The Linux kernel has two major versions of the cgroup implementation.</a:t>
            </a:r>
          </a:p>
          <a:p>
            <a:r>
              <a:t>2. cgroups v1 (the original implementation) allowed each controller to operate independently with separate hierarchies.</a:t>
            </a:r>
          </a:p>
          <a:p>
            <a:r>
              <a:t>3. cgroups v2 (the modern unified hierarchy) consolidates all controllers into a single tree structure, simplifying management and improving consistency.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How Container Runtimes Use cgroups</a:t>
            </a:r>
          </a:p>
          <a:p/>
          <a:p>
            <a:r>
              <a:t>Key Points:</a:t>
            </a:r>
          </a:p>
          <a:p>
            <a:r>
              <a:t>1. When you run a container with resource limits, the container runtime (Docker, containerd, Podman, or LXC) performs these operations behind the scenes: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Example: Docker and cgroups</a:t>
            </a:r>
          </a:p>
          <a:p/>
          <a:p>
            <a:r>
              <a:t>Key Points:</a:t>
            </a:r>
          </a:p>
          <a:p>
            <a:r>
              <a:t>1. When you run the following Docker command:</a:t>
            </a:r>
          </a:p>
          <a:p>
            <a:r>
              <a:t>2. Docker creates a cgroup and configures it approximately like this:</a:t>
            </a:r>
          </a:p>
          <a:p>
            <a:r>
              <a:t>3. You can inspect these settings directly:</a:t>
            </a:r>
          </a:p>
          <a:p>
            <a:r>
              <a:t>4. Figure 2: Linux Namespaces and Cgroups - Namespaces provide isolation (PID, Network, Mount) while cgroups enforce resource limits (CPU, Memory)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Section 1 Checkpoint</a:t>
            </a:r>
          </a:p>
          <a:p/>
          <a:p>
            <a:r>
              <a:t>Key Points:</a:t>
            </a:r>
          </a:p>
          <a:p>
            <a:r>
              <a:t>1. Summary:</a:t>
            </a:r>
          </a:p>
          <a:p>
            <a:r>
              <a:t>Namespaces: Provide isolation (Network, PID, Mount). The "Walls".</a:t>
            </a:r>
          </a:p>
          <a:p>
            <a:r>
              <a:t>Control Groups (cgroups): Provide resource limiting (CPU, RAM). The "Police".</a:t>
            </a:r>
          </a:p>
          <a:p>
            <a:r>
              <a:t>Containers share the Hot Kernel; VMs use their own Kernel.</a:t>
            </a:r>
          </a:p>
          <a:p>
            <a:r>
              <a:t>2. Reflection:</a:t>
            </a:r>
          </a:p>
          <a:p>
            <a:r>
              <a:t>   If a container crashes the kernel, does the host crash? Why can't you run a Windows Container on a Linux Host (natively)?</a:t>
            </a:r>
          </a:p>
          <a:p>
            <a:r>
              <a:t>3. Resources:</a:t>
            </a:r>
          </a:p>
          <a:p>
            <a:r>
              <a:t>Red Hat: What are Linux Namespaces?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LXC (Linux Containers)</a:t>
            </a:r>
          </a:p>
          <a:p/>
          <a:p>
            <a:r>
              <a:t>Key Points:</a:t>
            </a:r>
          </a:p>
          <a:p>
            <a:r>
              <a:t>1. LXC provides System Containers.</a:t>
            </a:r>
          </a:p>
          <a:p>
            <a:r>
              <a:t>2. The philosophy behind LXC is to offer a lightweight virtual machine experience without the overhead of hardware emulation.</a:t>
            </a:r>
          </a:p>
          <a:p>
            <a:r>
              <a:t>3. An LXC container boots a full init system (like systemd), runs multiple services (SSH, Cron, Syslog), and persists data like a traditional server.</a:t>
            </a:r>
          </a:p>
          <a:p>
            <a:r>
              <a:t>4. It is ideal for infrastructure consolidation where you require long-running servers but want the density and efficiency of containers.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Docker</a:t>
            </a:r>
          </a:p>
          <a:p/>
          <a:p>
            <a:r>
              <a:t>Key Points:</a:t>
            </a:r>
          </a:p>
          <a:p>
            <a:r>
              <a:t>1. Docker popularized Application Containers.</a:t>
            </a:r>
          </a:p>
          <a:p>
            <a:r>
              <a:t>2. Unlike LXC, Docker allows you to package an application and its dependencies into a single runnable unit.</a:t>
            </a:r>
          </a:p>
          <a:p>
            <a:r>
              <a:t>3. A Docker container typically runs a single process (such as Nginx or Python) and is ephemeral in nature.</a:t>
            </a:r>
          </a:p>
          <a:p>
            <a:r>
              <a:t>4. Data is stored in external volumes, and the container itself can be destroyed and recreated easily.</a:t>
            </a:r>
          </a:p>
          <a:p>
            <a:r>
              <a:t>5. Docker is the standard for microservices and modern software delivery.</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Podman</a:t>
            </a:r>
          </a:p>
          <a:p/>
          <a:p>
            <a:r>
              <a:t>Key Points:</a:t>
            </a:r>
          </a:p>
          <a:p>
            <a:r>
              <a:t>1. Podman is a modern alternative to Docker, developed by Red Hat.</a:t>
            </a:r>
          </a:p>
          <a:p>
            <a:r>
              <a:t>2. It maintains compatibility with Docker's commands and image format (OCI) but differs significantly in architecture.</a:t>
            </a:r>
          </a:p>
          <a:p>
            <a:r>
              <a:t>3. Podman is daemonless; it does not require a background service running as root.</a:t>
            </a:r>
          </a:p>
          <a:p>
            <a:r>
              <a:t>4. Instead, it starts containers directly as child processes of the user.</a:t>
            </a:r>
          </a:p>
          <a:p>
            <a:r>
              <a:t>5. This architecture enhances security and natively supports "rootless" containers, allowing unprivileged users to run containers safely.</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Apptainer (formerly Singularity)</a:t>
            </a:r>
          </a:p>
          <a:p/>
          <a:p>
            <a:r>
              <a:t>Key Points:</a:t>
            </a:r>
          </a:p>
          <a:p>
            <a:r>
              <a:t>1. Apptainer is designed specifically for High Performance Computing (HPC) and research environments.</a:t>
            </a:r>
          </a:p>
          <a:p>
            <a:r>
              <a:t>2. In these environments, users run jobs on shared clusters where they do not have root access.</a:t>
            </a:r>
          </a:p>
          <a:p>
            <a:r>
              <a:t>3. Apptainer accommodates this by encapsulating the entire environment into a single file (.sif) and running it with the user's existing privileges.</a:t>
            </a:r>
          </a:p>
          <a:p>
            <a:r>
              <a:t>4. It prioritizes mobility of compute and integration with batch schedulers like Slurm.</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Comparison Table</a:t>
            </a:r>
          </a:p>
          <a:p/>
          <a:p>
            <a:r>
              <a:t>Key Points:</a:t>
            </a:r>
          </a:p>
          <a:p>
            <a:r>
              <a:t>1. Figure 3: Container Technologies Landscape - LXC for system containers, Docker for application containers, Podman for secure daemonless containers, Apptainer for HPC workloads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Section 2 Checkpoint (Part 1)</a:t>
            </a:r>
          </a:p>
          <a:p/>
          <a:p>
            <a:r>
              <a:t>Key Points:</a:t>
            </a:r>
          </a:p>
          <a:p>
            <a:r>
              <a:t>1. LXC: System Containers (OS-like, persistent). Used for VPS/Infrastructure.</a:t>
            </a:r>
          </a:p>
          <a:p>
            <a:r>
              <a:t>2. Docker: Application Containers (Single process, ephemeral). Used for Dev/Microservices.</a:t>
            </a:r>
          </a:p>
          <a:p>
            <a:r>
              <a:t>3. Podman: Daemonless, secure alternative to Docker.</a:t>
            </a:r>
          </a:p>
          <a:p>
            <a:r>
              <a:t>4. Why is "Daemonless" considered a security feature?</a:t>
            </a:r>
          </a:p>
          <a:p>
            <a:r>
              <a:t>5. Which technology would you use to host a permanent MySQL server: LXC or Docker?</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Section 2 Checkpoint (Part 2)</a:t>
            </a:r>
          </a:p>
          <a:p/>
          <a:p>
            <a:r>
              <a:t>Key Points:</a:t>
            </a:r>
          </a:p>
          <a:p>
            <a:r>
              <a:t>1. Open Container Initiative (OCI)</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Creating a Container</a:t>
            </a:r>
          </a:p>
          <a:p/>
          <a:p>
            <a:r>
              <a:t>Key Points:</a:t>
            </a:r>
          </a:p>
          <a:p>
            <a:r>
              <a:t>1. In the Docker ecosystem, users typically "pull" an image from a registry.</a:t>
            </a:r>
          </a:p>
          <a:p>
            <a:r>
              <a:t>2. In the LXC ecosystem, the process involves "creating" a container from a template.</a:t>
            </a:r>
          </a:p>
          <a:p>
            <a:r>
              <a:t>3. A template is a script or tarball that constructs the root filesystem for a specific Linux distribution.</a:t>
            </a:r>
          </a:p>
          <a:p>
            <a:r>
              <a:t>4. The lxc-create command handles this process, downloading the necessary files to a directory on the host (typically /var/lib/lxc).</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Listing and Monitoring</a:t>
            </a:r>
          </a:p>
          <a:p/>
          <a:p>
            <a:r>
              <a:t>Key Points:</a:t>
            </a:r>
          </a:p>
          <a:p>
            <a:r>
              <a:t>1. To view the status of containers, the lxc-ls command is used. The --fancy flag provides a formatted table showing the state (RUNNING or STOPPED), IP addresses (if running), and autostart configuration.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Starting a Container</a:t>
            </a:r>
          </a:p>
          <a:p/>
          <a:p>
            <a:r>
              <a:t>Key Points:</a:t>
            </a:r>
          </a:p>
          <a:p>
            <a:r>
              <a:t>1. Booting an LXC container is significantly faster than booting a virtual machine because there is no kernel initialization. The lxc-start command simply initiates the init system within the isolated namespace environment.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Accessing the Container</a:t>
            </a:r>
          </a:p>
          <a:p/>
          <a:p>
            <a:r>
              <a:t>Key Points:</a:t>
            </a:r>
          </a:p>
          <a:p>
            <a:r>
              <a:t>1. While it is possible to configure SSH for an LXC container, administrators often use lxc-attach to enter the container's namespace directly from the host.</a:t>
            </a:r>
          </a:p>
          <a:p>
            <a:r>
              <a:t>2. This works similarly to jumping into a chroot environment but respects the namespace boundaries.</a:t>
            </a:r>
          </a:p>
          <a:p>
            <a:r>
              <a:t>3. Once attached, you are the root user inside the container and can manage packages and services normally.</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Stopping and Destroying</a:t>
            </a:r>
          </a:p>
          <a:p/>
          <a:p>
            <a:r>
              <a:t>Key Points:</a:t>
            </a:r>
          </a:p>
          <a:p>
            <a:r>
              <a:t>1. Containers should be stopped gracefully to allow services to terminate correctly. The lxc-stop command sends the appropriate signals. When a container is no longer needed, lxc-destroy removes its configuration and deletes the root filesystem directory.</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 Section 3 Checkpoint (Part 1)</a:t>
            </a:r>
          </a:p>
          <a:p/>
          <a:p>
            <a:r>
              <a:t>Key Points:</a:t>
            </a:r>
          </a:p>
          <a:p>
            <a:r>
              <a:t>1. Create: Builds a rootfs from a Template (lxc-create).</a:t>
            </a:r>
          </a:p>
          <a:p>
            <a:r>
              <a:t>2. Start: Boots the init system inside the namespace (lxc-start).</a:t>
            </a:r>
          </a:p>
          <a:p>
            <a:r>
              <a:t>3. Attach: Enters the namespace directly (lxc-attach).</a:t>
            </a:r>
          </a:p>
          <a:p>
            <a:r>
              <a:t>4. How does lxc-attach differ from SSH?</a:t>
            </a:r>
          </a:p>
          <a:p>
            <a:r>
              <a:t>5. Where are the container filesystems actually stored on the host?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 Section 3 Checkpoint (Part 2)</a:t>
            </a:r>
          </a:p>
          <a:p/>
          <a:p>
            <a:r>
              <a:t>Key Points:</a:t>
            </a:r>
          </a:p>
          <a:p>
            <a:r>
              <a:t>1. Linux Containers (LXC) Project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Step 1: Downloading Templates</a:t>
            </a:r>
          </a:p>
          <a:p/>
          <a:p>
            <a:r>
              <a:t>Key Points:</a:t>
            </a:r>
          </a:p>
          <a:p>
            <a:r>
              <a:t>1. Before a container can be created, a template must be available on the configured storage.</a:t>
            </a:r>
          </a:p>
          <a:p>
            <a:r>
              <a:t>2. In the Proxmox GUI, navigate to the storage view (such as local or local-lvm).</a:t>
            </a:r>
          </a:p>
          <a:p>
            <a:r>
              <a:t>3. The CT Templates section provides a built-in browser for downloading official templates for various distributions like Ubuntu, Debian, Alpine, and CentOS, as well as TurnKey Linux appliances which come pre-configured with software stacks.</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Step 2: Creating a Container</a:t>
            </a:r>
          </a:p>
          <a:p/>
          <a:p>
            <a:r>
              <a:t>Key Points:</a:t>
            </a:r>
          </a:p>
          <a:p>
            <a:r>
              <a:t>1. The creation wizard guides you through the configuration.</a:t>
            </a:r>
          </a:p>
          <a:p>
            <a:r>
              <a:t>2. Important settings include the Hostname, which sets the container's internal identity, and the Unprivileged option.</a:t>
            </a:r>
          </a:p>
          <a:p>
            <a:r>
              <a:t>3. Unprivileged containers are the default and recommended choice; they use user namespaces to map the container's root user to a non-privileged user on the host, significantly reducing the impact of a potential container escape.</a:t>
            </a:r>
          </a:p>
          <a:p>
            <a:r>
              <a:t>4. During Disk and CPU/Memory configuration, you set the resource limits that cgroups will enforce.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Step 3: Managing Resources Dynamically</a:t>
            </a:r>
          </a:p>
          <a:p/>
          <a:p>
            <a:r>
              <a:t>Key Points:</a:t>
            </a:r>
          </a:p>
          <a:p>
            <a:r>
              <a:t>1. One of the key advantages of containers is the ability to adjust resources without rebooting.</a:t>
            </a:r>
          </a:p>
          <a:p>
            <a:r>
              <a:t>2. If a container is under memory pressure, you can navigate to the Resources tab in Proxmox and increase the Memory limit.</a:t>
            </a:r>
          </a:p>
          <a:p>
            <a:r>
              <a:t>3. The change is applied instantly to the running container's cgroup.</a:t>
            </a:r>
          </a:p>
          <a:p>
            <a:r>
              <a:t>4. This elasticity allows for highly efficient resource management compared to the static allocation often required for virtual machines.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 Section 4 Checkpoint (Part 1)</a:t>
            </a:r>
          </a:p>
          <a:p/>
          <a:p>
            <a:r>
              <a:t>Key Points:</a:t>
            </a:r>
          </a:p>
          <a:p>
            <a:r>
              <a:t>1. Proxmox uses typical LXC tech but wraps it in a GUI for ease of use.</a:t>
            </a:r>
          </a:p>
          <a:p>
            <a:r>
              <a:t>2. Templates: Must be downloaded to storage before creation.</a:t>
            </a:r>
          </a:p>
          <a:p>
            <a:r>
              <a:t>3. Unprivileged: Maps root inside container to non-root outside for security.</a:t>
            </a:r>
          </a:p>
          <a:p>
            <a:r>
              <a:t>4. Why is "Unprivileged" the default?</a:t>
            </a:r>
          </a:p>
          <a:p>
            <a:r>
              <a:t>5. How does dynamic resource resizing work with cgroups?</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 Section 4 Checkpoint (Part 2)</a:t>
            </a:r>
          </a:p>
          <a:p/>
          <a:p>
            <a:r>
              <a:t>Key Points:</a:t>
            </a:r>
          </a:p>
          <a:p>
            <a:r>
              <a:t>1. Proxmox VE: Linux Container (LXC)</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Docker Architecture Components (Part 1)</a:t>
            </a:r>
          </a:p>
          <a:p/>
          <a:p>
            <a:r>
              <a:t>Key Points:</a:t>
            </a:r>
          </a:p>
          <a:p>
            <a:r>
              <a:t>1. The Docker platform comprises several interconnected components forming a complete ecosystem.</a:t>
            </a:r>
          </a:p>
          <a:p>
            <a:r>
              <a:t>2. Understanding this architecture clarifies how Docker operates.</a:t>
            </a:r>
          </a:p>
          <a:p>
            <a:r>
              <a:t>3. At the foundation, the Docker daemon (dockerd) runs as a persistent background service, managing Docker objects like images, containers, networks, and volumes.</a:t>
            </a:r>
          </a:p>
          <a:p>
            <a:r>
              <a:t>4. The Docker CLI (docker) provides the familiar command-line interface.</a:t>
            </a:r>
          </a:p>
          <a:p>
            <a:r>
              <a:t>5. When you run a command, it translates this into API calls to the daemon.</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Docker Architecture Components (Part 2)</a:t>
            </a:r>
          </a:p>
          <a:p/>
          <a:p>
            <a:r>
              <a:t>Key Points:</a:t>
            </a:r>
          </a:p>
          <a:p>
            <a:r>
              <a:t>1. Docker Images serve as the templates from which containers instantiate.</a:t>
            </a:r>
          </a:p>
          <a:p>
            <a:r>
              <a:t>2. An image is a read-only layered filesystem containing everything needed to run an application: base OS files, application code, runtime environments, and system libraries.</a:t>
            </a:r>
          </a:p>
          <a:p>
            <a:r>
              <a:t>3. Registries are repositories that store and serve these images.</a:t>
            </a:r>
          </a:p>
          <a:p>
            <a:r>
              <a:t>4. Docker Hub is the public registry hosting millions of images, while organizations may operate private registries for proprietary applications.</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Running a Container</a:t>
            </a:r>
          </a:p>
          <a:p/>
          <a:p>
            <a:r>
              <a:t>Key Points:</a:t>
            </a:r>
          </a:p>
          <a:p>
            <a:r>
              <a:t>1. Breaking this command down: -d runs the container detached (in the background).</a:t>
            </a:r>
          </a:p>
          <a:p>
            <a:r>
              <a:t>2. --name web assigns a meaningful name, avoiding random identifiers.</a:t>
            </a:r>
          </a:p>
          <a:p>
            <a:r>
              <a:t>3. -p 8080:80 maps host port 8080 to container port 80, making the web server accessible at http://localhost:8080.</a:t>
            </a:r>
          </a:p>
          <a:p>
            <a:r>
              <a:t>4. The argument nginx specifies the image name; Docker pulls nginx:latest from Docker Hub by default.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Managing Container Lifecycle</a:t>
            </a:r>
          </a:p>
          <a:p/>
          <a:p>
            <a:r>
              <a:t>Key Points:</a:t>
            </a:r>
          </a:p>
          <a:p>
            <a:r>
              <a:t>1. Managing running containers involves a set of essential commands for inspection and control.</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Inspecting and Debugging</a:t>
            </a:r>
          </a:p>
          <a:p/>
          <a:p>
            <a:r>
              <a:t>Key Points:</a:t>
            </a:r>
          </a:p>
          <a:p>
            <a:r>
              <a:t>1. The docker exec command is particularly useful for troubleshooting. It allows you to execute commands inside a running container. The -it flags allocate an interactive pseudo-TTY, giving you a shell prompt inside the container to inspect processes or check configurations.</a:t>
            </a:r>
          </a:p>
          <a:p>
            <a:r>
              <a:t>2. Resource usage can be monitored using docker stats, which provides real-time information on CPU, memory, and network usage for running containers.</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Building Custom Images with Dockerfiles</a:t>
            </a:r>
          </a:p>
          <a:p/>
          <a:p>
            <a:r>
              <a:t>Key Points:</a:t>
            </a:r>
          </a:p>
          <a:p>
            <a:r>
              <a:t>1. Each instruction has a specific purpose.</a:t>
            </a:r>
          </a:p>
          <a:p>
            <a:r>
              <a:t>2. FROM establishes the base image.</a:t>
            </a:r>
          </a:p>
          <a:p>
            <a:r>
              <a:t>3. WORKDIR sets the working directory.</a:t>
            </a:r>
          </a:p>
          <a:p>
            <a:r>
              <a:t>4. The sequence of copying requirements.txt before the rest of the code leverages layer caching: if your application code changes but your dependencies do not, Docker reuses the layer where dependencies are installed, significantly speeding up rebuilds.</a:t>
            </a:r>
          </a:p>
          <a:p>
            <a:r>
              <a:t>5. USER switches to a non-privileged user, a critical security best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 Section 5 Checkpoint (Part 1)</a:t>
            </a:r>
          </a:p>
          <a:p/>
          <a:p>
            <a:r>
              <a:t>Key Points:</a:t>
            </a:r>
          </a:p>
          <a:p>
            <a:r>
              <a:t>1. Images: Read-only layers containing the app.</a:t>
            </a:r>
          </a:p>
          <a:p>
            <a:r>
              <a:t>2. Containers: Runnable instances of images.</a:t>
            </a:r>
          </a:p>
          <a:p>
            <a:r>
              <a:t>3. Dockerfile: Recipe for building images.</a:t>
            </a:r>
          </a:p>
          <a:p>
            <a:r>
              <a:t>4. Why do we put the dependencies copy/install step before copying the app code in a Dockerfile?</a:t>
            </a:r>
          </a:p>
          <a:p>
            <a:r>
              <a:t>5. What happens to data inside a Docker container when you delete it?</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 Section 5 Checkpoint (Part 2)</a:t>
            </a:r>
          </a:p>
          <a:p/>
          <a:p>
            <a:r>
              <a:t>Key Points:</a:t>
            </a:r>
          </a:p>
          <a:p>
            <a:r>
              <a:t>1. Docker Curriculum</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Running a Container (Rootless)</a:t>
            </a:r>
          </a:p>
          <a:p/>
          <a:p>
            <a:r>
              <a:t>Key Points:</a:t>
            </a:r>
          </a:p>
          <a:p>
            <a:r>
              <a:t>1. By default, Podman runs containers as the user who invoked the command, mapping the user's UID to root inside the container. This is a significant security advantage.</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 Pods</a:t>
            </a:r>
          </a:p>
          <a:p/>
          <a:p>
            <a:r>
              <a:t>Key Points:</a:t>
            </a:r>
          </a:p>
          <a:p>
            <a:r>
              <a:t>1. Podman allows you to manage "Pods" locally. A Pod is a group of containers that share the same network namespace (localhost), a concept directly compatible with Kubernetes.</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 Section 6 Checkpoint (Part 1)</a:t>
            </a:r>
          </a:p>
          <a:p/>
          <a:p>
            <a:r>
              <a:t>Key Points:</a:t>
            </a:r>
          </a:p>
          <a:p>
            <a:r>
              <a:t>1. Daemonless: Podman runs as the user process, avoiding the "Root Daemon" risk.</a:t>
            </a:r>
          </a:p>
          <a:p>
            <a:r>
              <a:t>2. Rootless: Allows unprivileged users to run containers safely.</a:t>
            </a:r>
          </a:p>
          <a:p>
            <a:r>
              <a:t>3. Pods: Groups of containers sharing a network namespace (localhost).</a:t>
            </a:r>
          </a:p>
          <a:p>
            <a:r>
              <a:t>4. How can a rootless container bind to port 80 (privileged port)?</a:t>
            </a:r>
          </a:p>
          <a:p>
            <a:r>
              <a:t>5. Why is Podman considered "Kubernetes-friendly"?</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 Section 6 Checkpoint (Part 2)</a:t>
            </a:r>
          </a:p>
          <a:p/>
          <a:p>
            <a:r>
              <a:t>Key Points:</a:t>
            </a:r>
          </a:p>
          <a:p>
            <a:r>
              <a:t>1. Podman: Getting Started</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The Core Concepts (The K8s Dictionary)</a:t>
            </a:r>
          </a:p>
          <a:p/>
          <a:p>
            <a:r>
              <a:t>Key Points:</a:t>
            </a:r>
          </a:p>
          <a:p>
            <a:r>
              <a:t>1. Understanding K8s requires learning a new vocabulary, distinct from Docker's:</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The Control Loop (Desired State)</a:t>
            </a:r>
          </a:p>
          <a:p/>
          <a:p>
            <a:r>
              <a:t>Key Points:</a:t>
            </a:r>
          </a:p>
          <a:p>
            <a:r>
              <a:t>1. Kubernetes is Declarative.</a:t>
            </a:r>
          </a:p>
          <a:p>
            <a:r>
              <a:t>2. Unlike Docker, where you say "Run this container" (Imperative), in Kubernetes you say "I want 3 Nginx Pods" (Declarative).</a:t>
            </a:r>
          </a:p>
          <a:p>
            <a:r>
              <a:t>3. The Control Plane constantly checks:</a:t>
            </a:r>
          </a:p>
          <a:p>
            <a:r>
              <a:t>1.</a:t>
            </a:r>
          </a:p>
          <a:p>
            <a:r>
              <a:t>4. What is the User's Desired State?</a:t>
            </a:r>
          </a:p>
          <a:p>
            <a:r>
              <a:t>5. (3 Pods)</a:t>
            </a:r>
          </a:p>
          <a:p>
            <a:r>
              <a:t>2.</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The kubectl CLI</a:t>
            </a:r>
          </a:p>
          <a:p/>
          <a:p>
            <a:r>
              <a:t>Key Points:</a:t>
            </a:r>
          </a:p>
          <a:p>
            <a:r>
              <a:t>1. Start familiarizing yourself with these commands now. You will use them extensively in Week 11.</a:t>
            </a:r>
          </a:p>
          <a:p>
            <a:r>
              <a:t>2. 1. Creating Resources (Imperative)</a:t>
            </a:r>
          </a:p>
          <a:p>
            <a:r>
              <a:t>3. 2. Inspecting Resources</a:t>
            </a:r>
          </a:p>
          <a:p>
            <a:r>
              <a:t>4. 3. Scaling Applications</a:t>
            </a:r>
          </a:p>
          <a:p>
            <a:r>
              <a:t>5. 4. Exposing to the World</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Self-Correction Checklist</a:t>
            </a:r>
          </a:p>
          <a:p/>
          <a:p>
            <a:r>
              <a:t>Key Points:</a:t>
            </a:r>
          </a:p>
          <a:p>
            <a:r>
              <a:t>1. Pod vs Container: A Pod wraps a container. K8s manages Pods, not containers directly.</a:t>
            </a:r>
          </a:p>
          <a:p>
            <a:r>
              <a:t>2. Service: Without a Service, you cannot reliably talk to a Pod because its IP changes every time it restarts.</a:t>
            </a:r>
          </a:p>
          <a:p>
            <a:r>
              <a:t>3. Magnum: We will use OpenStack Magnum to build the cluster, so we don't have to manage the Master Nodes ourselves.</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 Video Tutorials</a:t>
            </a:r>
          </a:p>
          <a:p/>
          <a:p>
            <a:r>
              <a:t>Key Points:</a:t>
            </a:r>
          </a:p>
          <a:p>
            <a:r>
              <a:t>1. LXC in Proxmox: YouTube (Compares to VMs, setup guide).</a:t>
            </a:r>
          </a:p>
          <a:p>
            <a:r>
              <a:t>2. Docker vs. Podman: YouTube (Explains differences, cloud use cases).</a:t>
            </a:r>
          </a:p>
          <a:p>
            <a:r>
              <a:t>3. Docker Basics: YouTube (Beginner guide to Docker containers).</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 Documentation &amp; Further Reading</a:t>
            </a:r>
          </a:p>
          <a:p/>
          <a:p>
            <a:r>
              <a:t>Key Points:</a:t>
            </a:r>
          </a:p>
          <a:p>
            <a:r>
              <a:t>1. Proxmox LXC Documentation</a:t>
            </a:r>
          </a:p>
          <a:p>
            <a:r>
              <a:t>2. Docker Documentation</a:t>
            </a:r>
          </a:p>
          <a:p>
            <a:r>
              <a:t>3. Podman Documentation</a:t>
            </a:r>
          </a:p>
          <a:p>
            <a:r>
              <a:t>4. OpenStack Zun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1828800"/>
            <a:ext cx="7315200" cy="731520"/>
          </a:xfrm>
          <a:prstGeom prst="rect">
            <a:avLst/>
          </a:prstGeom>
          <a:noFill/>
        </p:spPr>
        <p:txBody>
          <a:bodyPr wrap="none">
            <a:spAutoFit/>
          </a:bodyPr>
          <a:lstStyle/>
          <a:p>
            <a:pPr algn="ctr">
              <a:defRPr sz="3600" b="1">
                <a:solidFill>
                  <a:srgbClr val="C9984A"/>
                </a:solidFill>
              </a:defRPr>
            </a:pPr>
            <a:r>
              <a:t>Week 5</a:t>
            </a:r>
          </a:p>
        </p:txBody>
      </p:sp>
      <p:sp>
        <p:nvSpPr>
          <p:cNvPr id="4" name="TextBox 3"/>
          <p:cNvSpPr txBox="1"/>
          <p:nvPr/>
        </p:nvSpPr>
        <p:spPr>
          <a:xfrm>
            <a:off x="457200" y="2743200"/>
            <a:ext cx="8229600" cy="1828800"/>
          </a:xfrm>
          <a:prstGeom prst="rect">
            <a:avLst/>
          </a:prstGeom>
          <a:noFill/>
        </p:spPr>
        <p:txBody>
          <a:bodyPr wrap="square">
            <a:spAutoFit/>
          </a:bodyPr>
          <a:lstStyle/>
          <a:p>
            <a:pPr algn="ctr">
              <a:defRPr sz="4400" b="1">
                <a:solidFill>
                  <a:srgbClr val="FFFFFF"/>
                </a:solidFill>
              </a:defRPr>
            </a:pPr>
            <a:r>
              <a:t>Containers and Resource Management</a:t>
            </a:r>
          </a:p>
        </p:txBody>
      </p:sp>
      <p:sp>
        <p:nvSpPr>
          <p:cNvPr id="5" name="TextBox 4"/>
          <p:cNvSpPr txBox="1"/>
          <p:nvPr/>
        </p:nvSpPr>
        <p:spPr>
          <a:xfrm>
            <a:off x="914400" y="5029200"/>
            <a:ext cx="7315200" cy="548640"/>
          </a:xfrm>
          <a:prstGeom prst="rect">
            <a:avLst/>
          </a:prstGeom>
          <a:noFill/>
        </p:spPr>
        <p:txBody>
          <a:bodyPr wrap="none">
            <a:spAutoFit/>
          </a:bodyPr>
          <a:lstStyle/>
          <a:p>
            <a:pPr algn="ctr">
              <a:defRPr sz="2000">
                <a:solidFill>
                  <a:srgbClr val="C8C8C8"/>
                </a:solidFill>
              </a:defRPr>
            </a:pPr>
            <a:r>
              <a:t>OPS3 - Virtualization and Cloud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600" b="1">
                <a:solidFill>
                  <a:srgbClr val="C9984A"/>
                </a:solidFill>
              </a:defRPr>
            </a:pPr>
            <a:r>
              <a:t>What You Will Learn This Week</a:t>
            </a:r>
          </a:p>
        </p:txBody>
      </p:sp>
      <p:sp>
        <p:nvSpPr>
          <p:cNvPr id="4" name="TextBox 3"/>
          <p:cNvSpPr txBox="1"/>
          <p:nvPr/>
        </p:nvSpPr>
        <p:spPr>
          <a:xfrm>
            <a:off x="1097280" y="2011680"/>
            <a:ext cx="6949440" cy="4114800"/>
          </a:xfrm>
          <a:prstGeom prst="rect">
            <a:avLst/>
          </a:prstGeom>
          <a:noFill/>
        </p:spPr>
        <p:txBody>
          <a:bodyPr wrap="square">
            <a:spAutoFit/>
          </a:bodyPr>
          <a:lstStyle/>
          <a:p>
            <a:pPr>
              <a:spcBef>
                <a:spcPts val="1000"/>
              </a:spcBef>
              <a:spcAft>
                <a:spcPts val="1000"/>
              </a:spcAft>
              <a:defRPr sz="2200">
                <a:solidFill>
                  <a:srgbClr val="FFFFFF"/>
                </a:solidFill>
              </a:defRPr>
            </a:pPr>
            <a:r>
              <a:t>Understand welcome to week 5!</a:t>
            </a:r>
          </a:p>
          <a:p>
            <a:pPr>
              <a:spcBef>
                <a:spcPts val="1000"/>
              </a:spcBef>
              <a:spcAft>
                <a:spcPts val="1000"/>
              </a:spcAft>
              <a:defRPr sz="2200">
                <a:solidFill>
                  <a:srgbClr val="FFFFFF"/>
                </a:solidFill>
              </a:defRPr>
            </a:pPr>
            <a:r>
              <a:t>Understand what you'll learn this week</a:t>
            </a:r>
          </a:p>
          <a:p>
            <a:pPr>
              <a:spcBef>
                <a:spcPts val="1000"/>
              </a:spcBef>
              <a:spcAft>
                <a:spcPts val="1000"/>
              </a:spcAft>
              <a:defRPr sz="2200">
                <a:solidFill>
                  <a:srgbClr val="FFFFFF"/>
                </a:solidFill>
              </a:defRPr>
            </a:pPr>
            <a:r>
              <a:t>Understand 1. the container paradigm</a:t>
            </a:r>
          </a:p>
          <a:p>
            <a:pPr>
              <a:spcBef>
                <a:spcPts val="1000"/>
              </a:spcBef>
              <a:spcAft>
                <a:spcPts val="1000"/>
              </a:spcAft>
              <a:defRPr sz="2200">
                <a:solidFill>
                  <a:srgbClr val="FFFFFF"/>
                </a:solidFill>
              </a:defRPr>
            </a:pPr>
            <a:r>
              <a:t>Understand 2. the container technologies landscape</a:t>
            </a:r>
          </a:p>
          <a:p>
            <a:pPr>
              <a:spcBef>
                <a:spcPts val="1000"/>
              </a:spcBef>
              <a:spcAft>
                <a:spcPts val="1000"/>
              </a:spcAft>
              <a:defRPr sz="2200">
                <a:solidFill>
                  <a:srgbClr val="FFFFFF"/>
                </a:solidFill>
              </a:defRPr>
            </a:pPr>
            <a:r>
              <a:t>Understand 3. working with system containers (lxc cli)</a:t>
            </a:r>
          </a:p>
          <a:p>
            <a:pPr>
              <a:spcBef>
                <a:spcPts val="1000"/>
              </a:spcBef>
              <a:spcAft>
                <a:spcPts val="1000"/>
              </a:spcAft>
              <a:defRPr sz="2200">
                <a:solidFill>
                  <a:srgbClr val="FFFFFF"/>
                </a:solidFill>
              </a:defRPr>
            </a:pPr>
            <a:r>
              <a:t>Understand 4. lxc in proxmox ve (gui workflow)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Welcome to Week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What You'll Learn This Week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 The Container Paradigm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Foundation: Namespaces and Control Groups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Linux namespaces provide the fundamental isolation mechanism enabling containers.</a:t>
            </a:r>
          </a:p>
          <a:p>
            <a:pPr>
              <a:spcBef>
                <a:spcPts val="800"/>
              </a:spcBef>
              <a:spcAft>
                <a:spcPts val="800"/>
              </a:spcAft>
              <a:defRPr sz="2000">
                <a:solidFill>
                  <a:srgbClr val="FFFFFF"/>
                </a:solidFill>
              </a:defRPr>
            </a:pPr>
            <a:r>
              <a:t>Each namespace type isolates a different aspect of the system.</a:t>
            </a:r>
          </a:p>
          <a:p>
            <a:pPr>
              <a:spcBef>
                <a:spcPts val="800"/>
              </a:spcBef>
              <a:spcAft>
                <a:spcPts val="800"/>
              </a:spcAft>
              <a:defRPr sz="2000">
                <a:solidFill>
                  <a:srgbClr val="FFFFFF"/>
                </a:solidFill>
              </a:defRPr>
            </a:pPr>
            <a:r>
              <a:t>The PID (Process ID) Namespace isolates the process tree.</a:t>
            </a:r>
          </a:p>
          <a:p>
            <a:pPr>
              <a:spcBef>
                <a:spcPts val="800"/>
              </a:spcBef>
              <a:spcAft>
                <a:spcPts val="800"/>
              </a:spcAft>
              <a:defRPr sz="2000">
                <a:solidFill>
                  <a:srgbClr val="FFFFFF"/>
                </a:solidFill>
              </a:defRPr>
            </a:pPr>
            <a:r>
              <a:t>On a normal Linux system, all processes share a single process ID space.</a:t>
            </a:r>
          </a:p>
          <a:p>
            <a:pPr>
              <a:spcBef>
                <a:spcPts val="800"/>
              </a:spcBef>
              <a:spcAft>
                <a:spcPts val="800"/>
              </a:spcAft>
              <a:defRPr sz="2000">
                <a:solidFill>
                  <a:srgbClr val="FFFFFF"/>
                </a:solidFill>
              </a:defRPr>
            </a:pPr>
            <a:r>
              <a:t>With PID namespaces, each namespace has its own isolated process tree.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Foundation: Namespaces and Control Groups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Network Namespace isolates network configuration completely.</a:t>
            </a:r>
          </a:p>
          <a:p>
            <a:pPr>
              <a:spcBef>
                <a:spcPts val="800"/>
              </a:spcBef>
              <a:spcAft>
                <a:spcPts val="800"/>
              </a:spcAft>
              <a:defRPr sz="2000">
                <a:solidFill>
                  <a:srgbClr val="FFFFFF"/>
                </a:solidFill>
              </a:defRPr>
            </a:pPr>
            <a:r>
              <a:t>Each network namespace has its own network interfaces, IP addresses, routing tables, and firewall rules.</a:t>
            </a:r>
          </a:p>
          <a:p>
            <a:pPr>
              <a:spcBef>
                <a:spcPts val="800"/>
              </a:spcBef>
              <a:spcAft>
                <a:spcPts val="800"/>
              </a:spcAft>
              <a:defRPr sz="2000">
                <a:solidFill>
                  <a:srgbClr val="FFFFFF"/>
                </a:solidFill>
              </a:defRPr>
            </a:pPr>
            <a:r>
              <a:t>This enables functionality that would otherwise conflict, such as multiple containers binding to port 80 on the same physical host.</a:t>
            </a:r>
          </a:p>
          <a:p>
            <a:pPr>
              <a:spcBef>
                <a:spcPts val="800"/>
              </a:spcBef>
              <a:spcAft>
                <a:spcPts val="800"/>
              </a:spcAft>
              <a:defRPr sz="2000">
                <a:solidFill>
                  <a:srgbClr val="FFFFFF"/>
                </a:solidFill>
              </a:defRPr>
            </a:pPr>
            <a:r>
              <a:t>The Mount Namespace controls filesystem visibility, giving each container its own root filesystem (rootfs) that appears as the top of the directory tree.</a:t>
            </a:r>
          </a:p>
          <a:p>
            <a:pPr>
              <a:spcBef>
                <a:spcPts val="800"/>
              </a:spcBef>
              <a:spcAft>
                <a:spcPts val="800"/>
              </a:spcAft>
              <a:defRPr sz="2000">
                <a:solidFill>
                  <a:srgbClr val="FFFFFF"/>
                </a:solidFill>
              </a:defRPr>
            </a:pPr>
            <a:r>
              <a:t>While namespaces provide isolation, they do not inherently limit resource consumption.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Foundation: Namespaces and Control Groups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Without additional mechanisms, a process in a container could consume all available CPU time or memory.</a:t>
            </a:r>
          </a:p>
          <a:p>
            <a:pPr>
              <a:spcBef>
                <a:spcPts val="800"/>
              </a:spcBef>
              <a:spcAft>
                <a:spcPts val="800"/>
              </a:spcAft>
              <a:defRPr sz="2000">
                <a:solidFill>
                  <a:srgbClr val="FFFFFF"/>
                </a:solidFill>
              </a:defRPr>
            </a:pPr>
            <a:r>
              <a:t>Control Groups (cgroups) solve this problem by providing resource limiting, accounting, and prioritization.</a:t>
            </a:r>
          </a:p>
          <a:p>
            <a:pPr>
              <a:spcBef>
                <a:spcPts val="800"/>
              </a:spcBef>
              <a:spcAft>
                <a:spcPts val="800"/>
              </a:spcAft>
              <a:defRPr sz="2000">
                <a:solidFill>
                  <a:srgbClr val="FFFFFF"/>
                </a:solidFill>
              </a:defRPr>
            </a:pPr>
            <a:r>
              <a:t>Understanding cgroups is essential because they form the foundation of resource management in all modern container platforms, from Docker to Kubernetes.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Understanding Control Groups in Depth</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Control Groups, commonly abbreviated as cgroups, are a Linux kernel feature that organizes processes into hierarchical groups and applies resource constraints to those groups.</a:t>
            </a:r>
          </a:p>
          <a:p>
            <a:pPr>
              <a:spcBef>
                <a:spcPts val="800"/>
              </a:spcBef>
              <a:spcAft>
                <a:spcPts val="800"/>
              </a:spcAft>
              <a:defRPr sz="2000">
                <a:solidFill>
                  <a:srgbClr val="FFFFFF"/>
                </a:solidFill>
              </a:defRPr>
            </a:pPr>
            <a:r>
              <a:t>Think of cgroups as the traffic police of the Linux system: while namespaces create separate lanes of traffic (isolation), cgroups enforce speed limits and allocate road capacity (resource limits).</a:t>
            </a:r>
          </a:p>
          <a:p>
            <a:pPr>
              <a:spcBef>
                <a:spcPts val="800"/>
              </a:spcBef>
              <a:spcAft>
                <a:spcPts val="800"/>
              </a:spcAft>
              <a:defRPr sz="2000">
                <a:solidFill>
                  <a:srgbClr val="FFFFFF"/>
                </a:solidFill>
              </a:defRPr>
            </a:pPr>
            <a:r>
              <a:t>When you create a container and specify that it can use "2 CPU cores" and "1GB of RAM," these limits are enforced through cgroups.</a:t>
            </a:r>
          </a:p>
          <a:p>
            <a:pPr>
              <a:spcBef>
                <a:spcPts val="800"/>
              </a:spcBef>
              <a:spcAft>
                <a:spcPts val="800"/>
              </a:spcAft>
              <a:defRPr sz="2000">
                <a:solidFill>
                  <a:srgbClr val="FFFFFF"/>
                </a:solidFill>
              </a:defRPr>
            </a:pPr>
            <a:r>
              <a:t>The container runtime creates a cgroup for that container and configures the appropriate resource controllers.</a:t>
            </a:r>
          </a:p>
          <a:p>
            <a:pPr>
              <a:spcBef>
                <a:spcPts val="800"/>
              </a:spcBef>
              <a:spcAft>
                <a:spcPts val="800"/>
              </a:spcAft>
              <a:defRPr sz="2000">
                <a:solidFill>
                  <a:srgbClr val="FFFFFF"/>
                </a:solidFill>
              </a:defRPr>
            </a:pPr>
            <a:r>
              <a:t>If the containerized application tries to exceed these limits, the kernel's cgroup subsystem intervenes to enforce the constraints.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The cgroup Hierarchy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Cgroups are organized in a tree-like hierarchy, similar to how processes form a process tree.</a:t>
            </a:r>
          </a:p>
          <a:p>
            <a:pPr>
              <a:spcBef>
                <a:spcPts val="800"/>
              </a:spcBef>
              <a:spcAft>
                <a:spcPts val="800"/>
              </a:spcAft>
              <a:defRPr sz="2000">
                <a:solidFill>
                  <a:srgbClr val="FFFFFF"/>
                </a:solidFill>
              </a:defRPr>
            </a:pPr>
            <a:r>
              <a:t>Each cgroup can have child cgroups, and resource limits applied to a parent cgroup affect all its children.</a:t>
            </a:r>
          </a:p>
          <a:p>
            <a:pPr>
              <a:spcBef>
                <a:spcPts val="800"/>
              </a:spcBef>
              <a:spcAft>
                <a:spcPts val="800"/>
              </a:spcAft>
              <a:defRPr sz="2000">
                <a:solidFill>
                  <a:srgbClr val="FFFFFF"/>
                </a:solidFill>
              </a:defRPr>
            </a:pPr>
            <a:r>
              <a:t>This hierarchical structure enables sophisticated resource allocation strategies.</a:t>
            </a:r>
          </a:p>
          <a:p>
            <a:pPr>
              <a:spcBef>
                <a:spcPts val="800"/>
              </a:spcBef>
              <a:spcAft>
                <a:spcPts val="800"/>
              </a:spcAft>
              <a:defRPr sz="2000">
                <a:solidFill>
                  <a:srgbClr val="FFFFFF"/>
                </a:solidFill>
              </a:defRPr>
            </a:pPr>
            <a:r>
              <a:t>For example, you might create a parent cgroup allocating 50% of CPU to "production workloads" and 50% to "development workloads," then subdivide those allocations further among individual containers.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1.4. cgroup Controllers (Subsystems)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controller regulates access to CPU time.</a:t>
            </a:r>
          </a:p>
          <a:p>
            <a:pPr>
              <a:spcBef>
                <a:spcPts val="800"/>
              </a:spcBef>
              <a:spcAft>
                <a:spcPts val="800"/>
              </a:spcAft>
              <a:defRPr sz="2000">
                <a:solidFill>
                  <a:srgbClr val="FFFFFF"/>
                </a:solidFill>
              </a:defRPr>
            </a:pPr>
            <a:r>
              <a:t>Administrators can use several mechanisms to control CPU allocation:</a:t>
            </a:r>
            <a:br/>
            <a:r>
              <a:t>   - CPU Shares: A proportional weight system where containers with higher shares get more CPU time when there's contention.</a:t>
            </a:r>
          </a:p>
          <a:p>
            <a:pPr>
              <a:spcBef>
                <a:spcPts val="800"/>
              </a:spcBef>
              <a:spcAft>
                <a:spcPts val="800"/>
              </a:spcAft>
              <a:defRPr sz="2000">
                <a:solidFill>
                  <a:srgbClr val="FFFFFF"/>
                </a:solidFill>
              </a:defRPr>
            </a:pPr>
            <a:r>
              <a:t>For example, if Container A has 1024 shares and Container B has 512 shares, Container A receives twice as much CPU time during periods of high demand.</a:t>
            </a:r>
          </a:p>
          <a:p>
            <a:pPr>
              <a:spcBef>
                <a:spcPts val="800"/>
              </a:spcBef>
              <a:spcAft>
                <a:spcPts val="800"/>
              </a:spcAft>
              <a:defRPr sz="2000">
                <a:solidFill>
                  <a:srgbClr val="FFFFFF"/>
                </a:solidFill>
              </a:defRPr>
            </a:pPr>
            <a:r>
              <a:t>- CPU Quota: An absolute hard limit on CPU usage over a period.</a:t>
            </a:r>
          </a:p>
          <a:p>
            <a:pPr>
              <a:spcBef>
                <a:spcPts val="800"/>
              </a:spcBef>
              <a:spcAft>
                <a:spcPts val="800"/>
              </a:spcAft>
              <a:defRPr sz="2000">
                <a:solidFill>
                  <a:srgbClr val="FFFFFF"/>
                </a:solidFill>
              </a:defRPr>
            </a:pPr>
            <a:r>
              <a:t>Setting a quota of 50000 microseconds per 100000 microsecond period limits the container to 50% of one CPU 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1.4. cgroup Controllers (Subsystems)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controller manages memory allocation and prevents containers from consuming excessive RAM:</a:t>
            </a:r>
            <a:br/>
            <a:r>
              <a:t>   - Memory Limit: Sets a hard cap on the amount of RAM a cgroup can use.</a:t>
            </a:r>
          </a:p>
          <a:p>
            <a:pPr>
              <a:spcBef>
                <a:spcPts val="800"/>
              </a:spcBef>
              <a:spcAft>
                <a:spcPts val="800"/>
              </a:spcAft>
              <a:defRPr sz="2000">
                <a:solidFill>
                  <a:srgbClr val="FFFFFF"/>
                </a:solidFill>
              </a:defRPr>
            </a:pPr>
            <a:r>
              <a:t>When this limit is reached, the kernel may trigger the Out-Of-Memory (OOM) killer to terminate processes within the cgroup.</a:t>
            </a:r>
          </a:p>
          <a:p>
            <a:pPr>
              <a:spcBef>
                <a:spcPts val="800"/>
              </a:spcBef>
              <a:spcAft>
                <a:spcPts val="800"/>
              </a:spcAft>
              <a:defRPr sz="2000">
                <a:solidFill>
                  <a:srgbClr val="FFFFFF"/>
                </a:solidFill>
              </a:defRPr>
            </a:pPr>
            <a:r>
              <a:t>- Memory Reservation: A soft limit that acts as a target.</a:t>
            </a:r>
          </a:p>
          <a:p>
            <a:pPr>
              <a:spcBef>
                <a:spcPts val="800"/>
              </a:spcBef>
              <a:spcAft>
                <a:spcPts val="800"/>
              </a:spcAft>
              <a:defRPr sz="2000">
                <a:solidFill>
                  <a:srgbClr val="FFFFFF"/>
                </a:solidFill>
              </a:defRPr>
            </a:pPr>
            <a:r>
              <a:t>The kernel will attempt to reclaim memory from the cgroup when system-wide memory pressure occurs.</a:t>
            </a:r>
          </a:p>
          <a:p>
            <a:pPr>
              <a:spcBef>
                <a:spcPts val="800"/>
              </a:spcBef>
              <a:spcAft>
                <a:spcPts val="800"/>
              </a:spcAft>
              <a:defRPr sz="2000">
                <a:solidFill>
                  <a:srgbClr val="FFFFFF"/>
                </a:solidFill>
              </a:defRPr>
            </a:pPr>
            <a:r>
              <a:t>- Swap Control: Determines whether the cgroup can use swap space and how much.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1.5. Practical cgroup Management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On modern Linux systems, cgroups are typically managed through the systemd init system, which uses cgroups extensively for service management. However, understanding direct cgroup manipulation is valuable for troubleshooting and advanced container configurations.</a:t>
            </a:r>
          </a:p>
          <a:p>
            <a:pPr>
              <a:spcBef>
                <a:spcPts val="800"/>
              </a:spcBef>
              <a:spcAft>
                <a:spcPts val="800"/>
              </a:spcAft>
              <a:defRPr sz="2000">
                <a:solidFill>
                  <a:srgbClr val="FFFFFF"/>
                </a:solidFill>
              </a:defRPr>
            </a:pPr>
            <a:r>
              <a:t>The cgroup filesystem is typically mounted at /sys/fs/cgroup/. Each controller has its own subdirectory, and creating a new cgroup is as simple as creating a directory within that hierarchy.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1.6. cgroups v1 vs v2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Linux kernel has two major versions of the cgroup implementation.</a:t>
            </a:r>
          </a:p>
          <a:p>
            <a:pPr>
              <a:spcBef>
                <a:spcPts val="800"/>
              </a:spcBef>
              <a:spcAft>
                <a:spcPts val="800"/>
              </a:spcAft>
              <a:defRPr sz="2000">
                <a:solidFill>
                  <a:srgbClr val="FFFFFF"/>
                </a:solidFill>
              </a:defRPr>
            </a:pPr>
            <a:r>
              <a:t>cgroups v1 (the original implementation) allowed each controller to operate independently with separate hierarchies.</a:t>
            </a:r>
          </a:p>
          <a:p>
            <a:pPr>
              <a:spcBef>
                <a:spcPts val="800"/>
              </a:spcBef>
              <a:spcAft>
                <a:spcPts val="800"/>
              </a:spcAft>
              <a:defRPr sz="2000">
                <a:solidFill>
                  <a:srgbClr val="FFFFFF"/>
                </a:solidFill>
              </a:defRPr>
            </a:pPr>
            <a:r>
              <a:t>cgroups v2 (the modern unified hierarchy) consolidates all controllers into a single tree structure, simplifying management and improving consistency.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1.7. How Container Runtimes Use cgroups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you run a container with resource limits, the container runtime (Docker, containerd, Podman, or LXC) performs these operations behind the scenes: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1.8. Example: Docker and cgroups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you run the following Docker command:</a:t>
            </a:r>
          </a:p>
          <a:p>
            <a:pPr>
              <a:spcBef>
                <a:spcPts val="800"/>
              </a:spcBef>
              <a:spcAft>
                <a:spcPts val="800"/>
              </a:spcAft>
              <a:defRPr sz="2000">
                <a:solidFill>
                  <a:srgbClr val="FFFFFF"/>
                </a:solidFill>
              </a:defRPr>
            </a:pPr>
            <a:r>
              <a:t>Docker creates a cgroup and configures it approximately like this:</a:t>
            </a:r>
          </a:p>
          <a:p>
            <a:pPr>
              <a:spcBef>
                <a:spcPts val="800"/>
              </a:spcBef>
              <a:spcAft>
                <a:spcPts val="800"/>
              </a:spcAft>
              <a:defRPr sz="2000">
                <a:solidFill>
                  <a:srgbClr val="FFFFFF"/>
                </a:solidFill>
              </a:defRPr>
            </a:pPr>
            <a:r>
              <a:t>You can inspect these settings directly:</a:t>
            </a:r>
          </a:p>
          <a:p>
            <a:pPr>
              <a:spcBef>
                <a:spcPts val="800"/>
              </a:spcBef>
              <a:spcAft>
                <a:spcPts val="800"/>
              </a:spcAft>
              <a:defRPr sz="2000">
                <a:solidFill>
                  <a:srgbClr val="FFFFFF"/>
                </a:solidFill>
              </a:defRPr>
            </a:pPr>
            <a:r>
              <a:t>Figure 2: Linux Namespaces and Cgroups - Namespaces provide isolation (PID, Network, Mount) while cgroups enforce resource limits (CPU, Memory)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1.9. Section 1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Summary:</a:t>
            </a:r>
            <a:br/>
            <a:r>
              <a:t>Namespaces: Provide isolation (Network, PID, Mount). The "Walls".</a:t>
            </a:r>
            <a:br/>
            <a:r>
              <a:t>Control Groups (cgroups): Provide resource limiting (CPU, RAM). The "Police".</a:t>
            </a:r>
            <a:br/>
            <a:r>
              <a:t>Containers share the Hot Kernel; VMs use their own Kernel.</a:t>
            </a:r>
          </a:p>
          <a:p>
            <a:pPr>
              <a:spcBef>
                <a:spcPts val="800"/>
              </a:spcBef>
              <a:spcAft>
                <a:spcPts val="800"/>
              </a:spcAft>
              <a:defRPr sz="2000">
                <a:solidFill>
                  <a:srgbClr val="FFFFFF"/>
                </a:solidFill>
              </a:defRPr>
            </a:pPr>
            <a:r>
              <a:t>Reflection:</a:t>
            </a:r>
            <a:br/>
            <a:r>
              <a:t>   If a container crashes the kernel, does the host crash? Why can't you run a Windows Container on a Linux Host (natively)?</a:t>
            </a:r>
          </a:p>
          <a:p>
            <a:pPr>
              <a:spcBef>
                <a:spcPts val="800"/>
              </a:spcBef>
              <a:spcAft>
                <a:spcPts val="800"/>
              </a:spcAft>
              <a:defRPr sz="2000">
                <a:solidFill>
                  <a:srgbClr val="FFFFFF"/>
                </a:solidFill>
              </a:defRPr>
            </a:pPr>
            <a:r>
              <a:t>Resources:</a:t>
            </a:r>
            <a:br/>
            <a:r>
              <a:t>Red Hat: What are Linux Namespaces?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2. The Container Technologies Landscape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LXC (Linux Containers)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LXC provides System Containers.</a:t>
            </a:r>
          </a:p>
          <a:p>
            <a:pPr>
              <a:spcBef>
                <a:spcPts val="800"/>
              </a:spcBef>
              <a:spcAft>
                <a:spcPts val="800"/>
              </a:spcAft>
              <a:defRPr sz="2000">
                <a:solidFill>
                  <a:srgbClr val="FFFFFF"/>
                </a:solidFill>
              </a:defRPr>
            </a:pPr>
            <a:r>
              <a:t>The philosophy behind LXC is to offer a lightweight virtual machine experience without the overhead of hardware emulation.</a:t>
            </a:r>
          </a:p>
          <a:p>
            <a:pPr>
              <a:spcBef>
                <a:spcPts val="800"/>
              </a:spcBef>
              <a:spcAft>
                <a:spcPts val="800"/>
              </a:spcAft>
              <a:defRPr sz="2000">
                <a:solidFill>
                  <a:srgbClr val="FFFFFF"/>
                </a:solidFill>
              </a:defRPr>
            </a:pPr>
            <a:r>
              <a:t>An LXC container boots a full init system (like systemd), runs multiple services (SSH, Cron, Syslog), and persists data like a traditional server.</a:t>
            </a:r>
          </a:p>
          <a:p>
            <a:pPr>
              <a:spcBef>
                <a:spcPts val="800"/>
              </a:spcBef>
              <a:spcAft>
                <a:spcPts val="800"/>
              </a:spcAft>
              <a:defRPr sz="2000">
                <a:solidFill>
                  <a:srgbClr val="FFFFFF"/>
                </a:solidFill>
              </a:defRPr>
            </a:pPr>
            <a:r>
              <a:t>It is ideal for infrastructure consolidation where you require long-running servers but want the density and efficiency of containers.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Docker</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Docker popularized Application Containers.</a:t>
            </a:r>
          </a:p>
          <a:p>
            <a:pPr>
              <a:spcBef>
                <a:spcPts val="800"/>
              </a:spcBef>
              <a:spcAft>
                <a:spcPts val="800"/>
              </a:spcAft>
              <a:defRPr sz="2000">
                <a:solidFill>
                  <a:srgbClr val="FFFFFF"/>
                </a:solidFill>
              </a:defRPr>
            </a:pPr>
            <a:r>
              <a:t>Unlike LXC, Docker allows you to package an application and its dependencies into a single runnable unit.</a:t>
            </a:r>
          </a:p>
          <a:p>
            <a:pPr>
              <a:spcBef>
                <a:spcPts val="800"/>
              </a:spcBef>
              <a:spcAft>
                <a:spcPts val="800"/>
              </a:spcAft>
              <a:defRPr sz="2000">
                <a:solidFill>
                  <a:srgbClr val="FFFFFF"/>
                </a:solidFill>
              </a:defRPr>
            </a:pPr>
            <a:r>
              <a:t>A Docker container typically runs a single process (such as Nginx or Python) and is ephemeral in nature.</a:t>
            </a:r>
          </a:p>
          <a:p>
            <a:pPr>
              <a:spcBef>
                <a:spcPts val="800"/>
              </a:spcBef>
              <a:spcAft>
                <a:spcPts val="800"/>
              </a:spcAft>
              <a:defRPr sz="2000">
                <a:solidFill>
                  <a:srgbClr val="FFFFFF"/>
                </a:solidFill>
              </a:defRPr>
            </a:pPr>
            <a:r>
              <a:t>Data is stored in external volumes, and the container itself can be destroyed and recreated easily.</a:t>
            </a:r>
          </a:p>
          <a:p>
            <a:pPr>
              <a:spcBef>
                <a:spcPts val="800"/>
              </a:spcBef>
              <a:spcAft>
                <a:spcPts val="800"/>
              </a:spcAft>
              <a:defRPr sz="2000">
                <a:solidFill>
                  <a:srgbClr val="FFFFFF"/>
                </a:solidFill>
              </a:defRPr>
            </a:pPr>
            <a:r>
              <a:t>Docker is the standard for microservices and modern software delivery.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 Podman</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Podman is a modern alternative to Docker, developed by Red Hat.</a:t>
            </a:r>
          </a:p>
          <a:p>
            <a:pPr>
              <a:spcBef>
                <a:spcPts val="800"/>
              </a:spcBef>
              <a:spcAft>
                <a:spcPts val="800"/>
              </a:spcAft>
              <a:defRPr sz="2000">
                <a:solidFill>
                  <a:srgbClr val="FFFFFF"/>
                </a:solidFill>
              </a:defRPr>
            </a:pPr>
            <a:r>
              <a:t>It maintains compatibility with Docker's commands and image format (OCI) but differs significantly in architecture.</a:t>
            </a:r>
          </a:p>
          <a:p>
            <a:pPr>
              <a:spcBef>
                <a:spcPts val="800"/>
              </a:spcBef>
              <a:spcAft>
                <a:spcPts val="800"/>
              </a:spcAft>
              <a:defRPr sz="2000">
                <a:solidFill>
                  <a:srgbClr val="FFFFFF"/>
                </a:solidFill>
              </a:defRPr>
            </a:pPr>
            <a:r>
              <a:t>Podman is daemonless; it does not require a background service running as root.</a:t>
            </a:r>
          </a:p>
          <a:p>
            <a:pPr>
              <a:spcBef>
                <a:spcPts val="800"/>
              </a:spcBef>
              <a:spcAft>
                <a:spcPts val="800"/>
              </a:spcAft>
              <a:defRPr sz="2000">
                <a:solidFill>
                  <a:srgbClr val="FFFFFF"/>
                </a:solidFill>
              </a:defRPr>
            </a:pPr>
            <a:r>
              <a:t>Instead, it starts containers directly as child processes of the user.</a:t>
            </a:r>
          </a:p>
          <a:p>
            <a:pPr>
              <a:spcBef>
                <a:spcPts val="800"/>
              </a:spcBef>
              <a:spcAft>
                <a:spcPts val="800"/>
              </a:spcAft>
              <a:defRPr sz="2000">
                <a:solidFill>
                  <a:srgbClr val="FFFFFF"/>
                </a:solidFill>
              </a:defRPr>
            </a:pPr>
            <a:r>
              <a:t>This architecture enhances security and natively supports "rootless" containers, allowing unprivileged users to run containers safely.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2.4. Apptainer (formerly Singularity)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Apptainer is designed specifically for High Performance Computing (HPC) and research environments.</a:t>
            </a:r>
          </a:p>
          <a:p>
            <a:pPr>
              <a:spcBef>
                <a:spcPts val="800"/>
              </a:spcBef>
              <a:spcAft>
                <a:spcPts val="800"/>
              </a:spcAft>
              <a:defRPr sz="2000">
                <a:solidFill>
                  <a:srgbClr val="FFFFFF"/>
                </a:solidFill>
              </a:defRPr>
            </a:pPr>
            <a:r>
              <a:t>In these environments, users run jobs on shared clusters where they do not have root access.</a:t>
            </a:r>
          </a:p>
          <a:p>
            <a:pPr>
              <a:spcBef>
                <a:spcPts val="800"/>
              </a:spcBef>
              <a:spcAft>
                <a:spcPts val="800"/>
              </a:spcAft>
              <a:defRPr sz="2000">
                <a:solidFill>
                  <a:srgbClr val="FFFFFF"/>
                </a:solidFill>
              </a:defRPr>
            </a:pPr>
            <a:r>
              <a:t>Apptainer accommodates this by encapsulating the entire environment into a single file (.sif) and running it with the user's existing privileges.</a:t>
            </a:r>
          </a:p>
          <a:p>
            <a:pPr>
              <a:spcBef>
                <a:spcPts val="800"/>
              </a:spcBef>
              <a:spcAft>
                <a:spcPts val="800"/>
              </a:spcAft>
              <a:defRPr sz="2000">
                <a:solidFill>
                  <a:srgbClr val="FFFFFF"/>
                </a:solidFill>
              </a:defRPr>
            </a:pPr>
            <a:r>
              <a:t>It prioritizes mobility of compute and integration with batch schedulers like Slurm.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2.5. Comparison Table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Figure 3: Container Technologies Landscape - LXC for system containers, Docker for application containers, Podman for secure daemonless containers, Apptainer for HPC workloads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2.6. Section 2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LXC: System Containers (OS-like, persistent). Used for VPS/Infrastructure.</a:t>
            </a:r>
          </a:p>
          <a:p>
            <a:pPr>
              <a:spcBef>
                <a:spcPts val="800"/>
              </a:spcBef>
              <a:spcAft>
                <a:spcPts val="800"/>
              </a:spcAft>
              <a:defRPr sz="2000">
                <a:solidFill>
                  <a:srgbClr val="FFFFFF"/>
                </a:solidFill>
              </a:defRPr>
            </a:pPr>
            <a:r>
              <a:t>Docker: Application Containers (Single process, ephemeral). Used for Dev/Microservices.</a:t>
            </a:r>
          </a:p>
          <a:p>
            <a:pPr>
              <a:spcBef>
                <a:spcPts val="800"/>
              </a:spcBef>
              <a:spcAft>
                <a:spcPts val="800"/>
              </a:spcAft>
              <a:defRPr sz="2000">
                <a:solidFill>
                  <a:srgbClr val="FFFFFF"/>
                </a:solidFill>
              </a:defRPr>
            </a:pPr>
            <a:r>
              <a:t>Podman: Daemonless, secure alternative to Docker.</a:t>
            </a:r>
          </a:p>
          <a:p>
            <a:pPr>
              <a:spcBef>
                <a:spcPts val="800"/>
              </a:spcBef>
              <a:spcAft>
                <a:spcPts val="800"/>
              </a:spcAft>
              <a:defRPr sz="2000">
                <a:solidFill>
                  <a:srgbClr val="FFFFFF"/>
                </a:solidFill>
              </a:defRPr>
            </a:pPr>
            <a:r>
              <a:t>Why is "Daemonless" considered a security feature?</a:t>
            </a:r>
          </a:p>
          <a:p>
            <a:pPr>
              <a:spcBef>
                <a:spcPts val="800"/>
              </a:spcBef>
              <a:spcAft>
                <a:spcPts val="800"/>
              </a:spcAft>
              <a:defRPr sz="2000">
                <a:solidFill>
                  <a:srgbClr val="FFFFFF"/>
                </a:solidFill>
              </a:defRPr>
            </a:pPr>
            <a:r>
              <a:t>Which technology would you use to host a permanent MySQL server: LXC or Docker?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2.6. Section 2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Open Container Initiative (OCI)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3. Working with System Containers (LXC CLI)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Creating a Container</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the Docker ecosystem, users typically "pull" an image from a registry.</a:t>
            </a:r>
          </a:p>
          <a:p>
            <a:pPr>
              <a:spcBef>
                <a:spcPts val="800"/>
              </a:spcBef>
              <a:spcAft>
                <a:spcPts val="800"/>
              </a:spcAft>
              <a:defRPr sz="2000">
                <a:solidFill>
                  <a:srgbClr val="FFFFFF"/>
                </a:solidFill>
              </a:defRPr>
            </a:pPr>
            <a:r>
              <a:t>In the LXC ecosystem, the process involves "creating" a container from a template.</a:t>
            </a:r>
          </a:p>
          <a:p>
            <a:pPr>
              <a:spcBef>
                <a:spcPts val="800"/>
              </a:spcBef>
              <a:spcAft>
                <a:spcPts val="800"/>
              </a:spcAft>
              <a:defRPr sz="2000">
                <a:solidFill>
                  <a:srgbClr val="FFFFFF"/>
                </a:solidFill>
              </a:defRPr>
            </a:pPr>
            <a:r>
              <a:t>A template is a script or tarball that constructs the root filesystem for a specific Linux distribution.</a:t>
            </a:r>
          </a:p>
          <a:p>
            <a:pPr>
              <a:spcBef>
                <a:spcPts val="800"/>
              </a:spcBef>
              <a:spcAft>
                <a:spcPts val="800"/>
              </a:spcAft>
              <a:defRPr sz="2000">
                <a:solidFill>
                  <a:srgbClr val="FFFFFF"/>
                </a:solidFill>
              </a:defRPr>
            </a:pPr>
            <a:r>
              <a:t>The lxc-create command handles this process, downloading the necessary files to a directory on the host (typically /var/lib/lxc).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 Listing and Monitoring</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To view the status of containers, the lxc-ls command is used. The --fancy flag provides a formatted table showing the state (RUNNING or STOPPED), IP addresses (if running), and autostart configuration.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3.3. Starting a Container</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Booting an LXC container is significantly faster than booting a virtual machine because there is no kernel initialization. The lxc-start command simply initiates the init system within the isolated namespace environment.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3.4. Accessing the Container</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While it is possible to configure SSH for an LXC container, administrators often use lxc-attach to enter the container's namespace directly from the host.</a:t>
            </a:r>
          </a:p>
          <a:p>
            <a:pPr>
              <a:spcBef>
                <a:spcPts val="800"/>
              </a:spcBef>
              <a:spcAft>
                <a:spcPts val="800"/>
              </a:spcAft>
              <a:defRPr sz="2000">
                <a:solidFill>
                  <a:srgbClr val="FFFFFF"/>
                </a:solidFill>
              </a:defRPr>
            </a:pPr>
            <a:r>
              <a:t>This works similarly to jumping into a chroot environment but respects the namespace boundaries.</a:t>
            </a:r>
          </a:p>
          <a:p>
            <a:pPr>
              <a:spcBef>
                <a:spcPts val="800"/>
              </a:spcBef>
              <a:spcAft>
                <a:spcPts val="800"/>
              </a:spcAft>
              <a:defRPr sz="2000">
                <a:solidFill>
                  <a:srgbClr val="FFFFFF"/>
                </a:solidFill>
              </a:defRPr>
            </a:pPr>
            <a:r>
              <a:t>Once attached, you are the root user inside the container and can manage packages and services normally.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3.5. Stopping and Destroying</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Containers should be stopped gracefully to allow services to terminate correctly. The lxc-stop command sends the appropriate signals. When a container is no longer needed, lxc-destroy removes its configuration and deletes the root filesystem directory.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3.6. Section 3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Create: Builds a rootfs from a Template (lxc-create).</a:t>
            </a:r>
          </a:p>
          <a:p>
            <a:pPr>
              <a:spcBef>
                <a:spcPts val="800"/>
              </a:spcBef>
              <a:spcAft>
                <a:spcPts val="800"/>
              </a:spcAft>
              <a:defRPr sz="2000">
                <a:solidFill>
                  <a:srgbClr val="FFFFFF"/>
                </a:solidFill>
              </a:defRPr>
            </a:pPr>
            <a:r>
              <a:t>Start: Boots the init system inside the namespace (lxc-start).</a:t>
            </a:r>
          </a:p>
          <a:p>
            <a:pPr>
              <a:spcBef>
                <a:spcPts val="800"/>
              </a:spcBef>
              <a:spcAft>
                <a:spcPts val="800"/>
              </a:spcAft>
              <a:defRPr sz="2000">
                <a:solidFill>
                  <a:srgbClr val="FFFFFF"/>
                </a:solidFill>
              </a:defRPr>
            </a:pPr>
            <a:r>
              <a:t>Attach: Enters the namespace directly (lxc-attach).</a:t>
            </a:r>
          </a:p>
          <a:p>
            <a:pPr>
              <a:spcBef>
                <a:spcPts val="800"/>
              </a:spcBef>
              <a:spcAft>
                <a:spcPts val="800"/>
              </a:spcAft>
              <a:defRPr sz="2000">
                <a:solidFill>
                  <a:srgbClr val="FFFFFF"/>
                </a:solidFill>
              </a:defRPr>
            </a:pPr>
            <a:r>
              <a:t>How does lxc-attach differ from SSH?</a:t>
            </a:r>
          </a:p>
          <a:p>
            <a:pPr>
              <a:spcBef>
                <a:spcPts val="800"/>
              </a:spcBef>
              <a:spcAft>
                <a:spcPts val="800"/>
              </a:spcAft>
              <a:defRPr sz="2000">
                <a:solidFill>
                  <a:srgbClr val="FFFFFF"/>
                </a:solidFill>
              </a:defRPr>
            </a:pPr>
            <a:r>
              <a:t>Where are the container filesystems actually stored on the host?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3.6. Section 3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Linux Containers (LXC) Project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4. LXC in Proxmox VE (GUI Workflow)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4.1. Step 1: Downloading Templates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Before a container can be created, a template must be available on the configured storage.</a:t>
            </a:r>
          </a:p>
          <a:p>
            <a:pPr>
              <a:spcBef>
                <a:spcPts val="800"/>
              </a:spcBef>
              <a:spcAft>
                <a:spcPts val="800"/>
              </a:spcAft>
              <a:defRPr sz="2000">
                <a:solidFill>
                  <a:srgbClr val="FFFFFF"/>
                </a:solidFill>
              </a:defRPr>
            </a:pPr>
            <a:r>
              <a:t>In the Proxmox GUI, navigate to the storage view (such as local or local-lvm).</a:t>
            </a:r>
          </a:p>
          <a:p>
            <a:pPr>
              <a:spcBef>
                <a:spcPts val="800"/>
              </a:spcBef>
              <a:spcAft>
                <a:spcPts val="800"/>
              </a:spcAft>
              <a:defRPr sz="2000">
                <a:solidFill>
                  <a:srgbClr val="FFFFFF"/>
                </a:solidFill>
              </a:defRPr>
            </a:pPr>
            <a:r>
              <a:t>The CT Templates section provides a built-in browser for downloading official templates for various distributions like Ubuntu, Debian, Alpine, and CentOS, as well as TurnKey Linux appliances which come pre-configured with software stacks.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4.2. Step 2: Creating a Container</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creation wizard guides you through the configuration.</a:t>
            </a:r>
          </a:p>
          <a:p>
            <a:pPr>
              <a:spcBef>
                <a:spcPts val="800"/>
              </a:spcBef>
              <a:spcAft>
                <a:spcPts val="800"/>
              </a:spcAft>
              <a:defRPr sz="2000">
                <a:solidFill>
                  <a:srgbClr val="FFFFFF"/>
                </a:solidFill>
              </a:defRPr>
            </a:pPr>
            <a:r>
              <a:t>Important settings include the Hostname, which sets the container's internal identity, and the Unprivileged option.</a:t>
            </a:r>
          </a:p>
          <a:p>
            <a:pPr>
              <a:spcBef>
                <a:spcPts val="800"/>
              </a:spcBef>
              <a:spcAft>
                <a:spcPts val="800"/>
              </a:spcAft>
              <a:defRPr sz="2000">
                <a:solidFill>
                  <a:srgbClr val="FFFFFF"/>
                </a:solidFill>
              </a:defRPr>
            </a:pPr>
            <a:r>
              <a:t>Unprivileged containers are the default and recommended choice; they use user namespaces to map the container's root user to a non-privileged user on the host, significantly reducing the impact of a potential container escape.</a:t>
            </a:r>
          </a:p>
          <a:p>
            <a:pPr>
              <a:spcBef>
                <a:spcPts val="800"/>
              </a:spcBef>
              <a:spcAft>
                <a:spcPts val="800"/>
              </a:spcAft>
              <a:defRPr sz="2000">
                <a:solidFill>
                  <a:srgbClr val="FFFFFF"/>
                </a:solidFill>
              </a:defRPr>
            </a:pPr>
            <a:r>
              <a:t>During Disk and CPU/Memory configuration, you set the resource limits that cgroups will enforce.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4.3. Step 3: Managing Resources Dynamically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One of the key advantages of containers is the ability to adjust resources without rebooting.</a:t>
            </a:r>
          </a:p>
          <a:p>
            <a:pPr>
              <a:spcBef>
                <a:spcPts val="800"/>
              </a:spcBef>
              <a:spcAft>
                <a:spcPts val="800"/>
              </a:spcAft>
              <a:defRPr sz="2000">
                <a:solidFill>
                  <a:srgbClr val="FFFFFF"/>
                </a:solidFill>
              </a:defRPr>
            </a:pPr>
            <a:r>
              <a:t>If a container is under memory pressure, you can navigate to the Resources tab in Proxmox and increase the Memory limit.</a:t>
            </a:r>
          </a:p>
          <a:p>
            <a:pPr>
              <a:spcBef>
                <a:spcPts val="800"/>
              </a:spcBef>
              <a:spcAft>
                <a:spcPts val="800"/>
              </a:spcAft>
              <a:defRPr sz="2000">
                <a:solidFill>
                  <a:srgbClr val="FFFFFF"/>
                </a:solidFill>
              </a:defRPr>
            </a:pPr>
            <a:r>
              <a:t>The change is applied instantly to the running container's cgroup.</a:t>
            </a:r>
          </a:p>
          <a:p>
            <a:pPr>
              <a:spcBef>
                <a:spcPts val="800"/>
              </a:spcBef>
              <a:spcAft>
                <a:spcPts val="800"/>
              </a:spcAft>
              <a:defRPr sz="2000">
                <a:solidFill>
                  <a:srgbClr val="FFFFFF"/>
                </a:solidFill>
              </a:defRPr>
            </a:pPr>
            <a:r>
              <a:t>This elasticity allows for highly efficient resource management compared to the static allocation often required for virtual machines.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4.4. Section 4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uses typical LXC tech but wraps it in a GUI for ease of use.</a:t>
            </a:r>
          </a:p>
          <a:p>
            <a:pPr>
              <a:spcBef>
                <a:spcPts val="800"/>
              </a:spcBef>
              <a:spcAft>
                <a:spcPts val="800"/>
              </a:spcAft>
              <a:defRPr sz="2000">
                <a:solidFill>
                  <a:srgbClr val="FFFFFF"/>
                </a:solidFill>
              </a:defRPr>
            </a:pPr>
            <a:r>
              <a:t>Templates: Must be downloaded to storage before creation.</a:t>
            </a:r>
          </a:p>
          <a:p>
            <a:pPr>
              <a:spcBef>
                <a:spcPts val="800"/>
              </a:spcBef>
              <a:spcAft>
                <a:spcPts val="800"/>
              </a:spcAft>
              <a:defRPr sz="2000">
                <a:solidFill>
                  <a:srgbClr val="FFFFFF"/>
                </a:solidFill>
              </a:defRPr>
            </a:pPr>
            <a:r>
              <a:t>Unprivileged: Maps root inside container to non-root outside for security.</a:t>
            </a:r>
          </a:p>
          <a:p>
            <a:pPr>
              <a:spcBef>
                <a:spcPts val="800"/>
              </a:spcBef>
              <a:spcAft>
                <a:spcPts val="800"/>
              </a:spcAft>
              <a:defRPr sz="2000">
                <a:solidFill>
                  <a:srgbClr val="FFFFFF"/>
                </a:solidFill>
              </a:defRPr>
            </a:pPr>
            <a:r>
              <a:t>Why is "Unprivileged" the default?</a:t>
            </a:r>
          </a:p>
          <a:p>
            <a:pPr>
              <a:spcBef>
                <a:spcPts val="800"/>
              </a:spcBef>
              <a:spcAft>
                <a:spcPts val="800"/>
              </a:spcAft>
              <a:defRPr sz="2000">
                <a:solidFill>
                  <a:srgbClr val="FFFFFF"/>
                </a:solidFill>
              </a:defRPr>
            </a:pPr>
            <a:r>
              <a:t>How does dynamic resource resizing work with cgroups?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4.4. Section 4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VE: Linux Container (LXC)</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5. Working with Application Containers (Docker CLI)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5.1. Docker Architecture Components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Docker platform comprises several interconnected components forming a complete ecosystem.</a:t>
            </a:r>
          </a:p>
          <a:p>
            <a:pPr>
              <a:spcBef>
                <a:spcPts val="800"/>
              </a:spcBef>
              <a:spcAft>
                <a:spcPts val="800"/>
              </a:spcAft>
              <a:defRPr sz="2000">
                <a:solidFill>
                  <a:srgbClr val="FFFFFF"/>
                </a:solidFill>
              </a:defRPr>
            </a:pPr>
            <a:r>
              <a:t>Understanding this architecture clarifies how Docker operates.</a:t>
            </a:r>
          </a:p>
          <a:p>
            <a:pPr>
              <a:spcBef>
                <a:spcPts val="800"/>
              </a:spcBef>
              <a:spcAft>
                <a:spcPts val="800"/>
              </a:spcAft>
              <a:defRPr sz="2000">
                <a:solidFill>
                  <a:srgbClr val="FFFFFF"/>
                </a:solidFill>
              </a:defRPr>
            </a:pPr>
            <a:r>
              <a:t>At the foundation, the Docker daemon (dockerd) runs as a persistent background service, managing Docker objects like images, containers, networks, and volumes.</a:t>
            </a:r>
          </a:p>
          <a:p>
            <a:pPr>
              <a:spcBef>
                <a:spcPts val="800"/>
              </a:spcBef>
              <a:spcAft>
                <a:spcPts val="800"/>
              </a:spcAft>
              <a:defRPr sz="2000">
                <a:solidFill>
                  <a:srgbClr val="FFFFFF"/>
                </a:solidFill>
              </a:defRPr>
            </a:pPr>
            <a:r>
              <a:t>The Docker CLI (docker) provides the familiar command-line interface.</a:t>
            </a:r>
          </a:p>
          <a:p>
            <a:pPr>
              <a:spcBef>
                <a:spcPts val="800"/>
              </a:spcBef>
              <a:spcAft>
                <a:spcPts val="800"/>
              </a:spcAft>
              <a:defRPr sz="2000">
                <a:solidFill>
                  <a:srgbClr val="FFFFFF"/>
                </a:solidFill>
              </a:defRPr>
            </a:pPr>
            <a:r>
              <a:t>When you run a command, it translates this into API calls to the daemon.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5.1. Docker Architecture Components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Docker Images serve as the templates from which containers instantiate.</a:t>
            </a:r>
          </a:p>
          <a:p>
            <a:pPr>
              <a:spcBef>
                <a:spcPts val="800"/>
              </a:spcBef>
              <a:spcAft>
                <a:spcPts val="800"/>
              </a:spcAft>
              <a:defRPr sz="2000">
                <a:solidFill>
                  <a:srgbClr val="FFFFFF"/>
                </a:solidFill>
              </a:defRPr>
            </a:pPr>
            <a:r>
              <a:t>An image is a read-only layered filesystem containing everything needed to run an application: base OS files, application code, runtime environments, and system libraries.</a:t>
            </a:r>
          </a:p>
          <a:p>
            <a:pPr>
              <a:spcBef>
                <a:spcPts val="800"/>
              </a:spcBef>
              <a:spcAft>
                <a:spcPts val="800"/>
              </a:spcAft>
              <a:defRPr sz="2000">
                <a:solidFill>
                  <a:srgbClr val="FFFFFF"/>
                </a:solidFill>
              </a:defRPr>
            </a:pPr>
            <a:r>
              <a:t>Registries are repositories that store and serve these images.</a:t>
            </a:r>
          </a:p>
          <a:p>
            <a:pPr>
              <a:spcBef>
                <a:spcPts val="800"/>
              </a:spcBef>
              <a:spcAft>
                <a:spcPts val="800"/>
              </a:spcAft>
              <a:defRPr sz="2000">
                <a:solidFill>
                  <a:srgbClr val="FFFFFF"/>
                </a:solidFill>
              </a:defRPr>
            </a:pPr>
            <a:r>
              <a:t>Docker Hub is the public registry hosting millions of images, while organizations may operate private registries for proprietary applications.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5.2. Running a Container</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Breaking this command down: -d runs the container detached (in the background).</a:t>
            </a:r>
          </a:p>
          <a:p>
            <a:pPr>
              <a:spcBef>
                <a:spcPts val="800"/>
              </a:spcBef>
              <a:spcAft>
                <a:spcPts val="800"/>
              </a:spcAft>
              <a:defRPr sz="2000">
                <a:solidFill>
                  <a:srgbClr val="FFFFFF"/>
                </a:solidFill>
              </a:defRPr>
            </a:pPr>
            <a:r>
              <a:t>--name web assigns a meaningful name, avoiding random identifiers.</a:t>
            </a:r>
          </a:p>
          <a:p>
            <a:pPr>
              <a:spcBef>
                <a:spcPts val="800"/>
              </a:spcBef>
              <a:spcAft>
                <a:spcPts val="800"/>
              </a:spcAft>
              <a:defRPr sz="2000">
                <a:solidFill>
                  <a:srgbClr val="FFFFFF"/>
                </a:solidFill>
              </a:defRPr>
            </a:pPr>
            <a:r>
              <a:t>-p 8080:80 maps host port 8080 to container port 80, making the web server accessible at http://localhost:8080.</a:t>
            </a:r>
          </a:p>
          <a:p>
            <a:pPr>
              <a:spcBef>
                <a:spcPts val="800"/>
              </a:spcBef>
              <a:spcAft>
                <a:spcPts val="800"/>
              </a:spcAft>
              <a:defRPr sz="2000">
                <a:solidFill>
                  <a:srgbClr val="FFFFFF"/>
                </a:solidFill>
              </a:defRPr>
            </a:pPr>
            <a:r>
              <a:t>The argument nginx specifies the image name; Docker pulls nginx:latest from Docker Hub by default.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5.3. Managing Container Lifecycle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Managing running containers involves a set of essential commands for inspection and control.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5.4. Inspecting and Debugging</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docker exec command is particularly useful for troubleshooting. It allows you to execute commands inside a running container. The -it flags allocate an interactive pseudo-TTY, giving you a shell prompt inside the container to inspect processes or check configurations.</a:t>
            </a:r>
          </a:p>
          <a:p>
            <a:pPr>
              <a:spcBef>
                <a:spcPts val="800"/>
              </a:spcBef>
              <a:spcAft>
                <a:spcPts val="800"/>
              </a:spcAft>
              <a:defRPr sz="2000">
                <a:solidFill>
                  <a:srgbClr val="FFFFFF"/>
                </a:solidFill>
              </a:defRPr>
            </a:pPr>
            <a:r>
              <a:t>Resource usage can be monitored using docker stats, which provides real-time information on CPU, memory, and network usage for running containers.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5.5. Building Custom Images with Dockerfiles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Each instruction has a specific purpose.</a:t>
            </a:r>
          </a:p>
          <a:p>
            <a:pPr>
              <a:spcBef>
                <a:spcPts val="800"/>
              </a:spcBef>
              <a:spcAft>
                <a:spcPts val="800"/>
              </a:spcAft>
              <a:defRPr sz="2000">
                <a:solidFill>
                  <a:srgbClr val="FFFFFF"/>
                </a:solidFill>
              </a:defRPr>
            </a:pPr>
            <a:r>
              <a:t>FROM establishes the base image.</a:t>
            </a:r>
          </a:p>
          <a:p>
            <a:pPr>
              <a:spcBef>
                <a:spcPts val="800"/>
              </a:spcBef>
              <a:spcAft>
                <a:spcPts val="800"/>
              </a:spcAft>
              <a:defRPr sz="2000">
                <a:solidFill>
                  <a:srgbClr val="FFFFFF"/>
                </a:solidFill>
              </a:defRPr>
            </a:pPr>
            <a:r>
              <a:t>WORKDIR sets the working directory.</a:t>
            </a:r>
          </a:p>
          <a:p>
            <a:pPr>
              <a:spcBef>
                <a:spcPts val="800"/>
              </a:spcBef>
              <a:spcAft>
                <a:spcPts val="800"/>
              </a:spcAft>
              <a:defRPr sz="2000">
                <a:solidFill>
                  <a:srgbClr val="FFFFFF"/>
                </a:solidFill>
              </a:defRPr>
            </a:pPr>
            <a:r>
              <a:t>The sequence of copying requirements.txt before the rest of the code leverages layer caching: if your application code changes but your dependencies do not, Docker reuses the layer where dependencies are installed, significantly speeding up rebuilds.</a:t>
            </a:r>
          </a:p>
          <a:p>
            <a:pPr>
              <a:spcBef>
                <a:spcPts val="800"/>
              </a:spcBef>
              <a:spcAft>
                <a:spcPts val="800"/>
              </a:spcAft>
              <a:defRPr sz="2000">
                <a:solidFill>
                  <a:srgbClr val="FFFFFF"/>
                </a:solidFill>
              </a:defRPr>
            </a:pPr>
            <a:r>
              <a:t>USER switches to a non-privileged user, a critical security best practice.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5.6. Section 5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Images: Read-only layers containing the app.</a:t>
            </a:r>
          </a:p>
          <a:p>
            <a:pPr>
              <a:spcBef>
                <a:spcPts val="800"/>
              </a:spcBef>
              <a:spcAft>
                <a:spcPts val="800"/>
              </a:spcAft>
              <a:defRPr sz="2000">
                <a:solidFill>
                  <a:srgbClr val="FFFFFF"/>
                </a:solidFill>
              </a:defRPr>
            </a:pPr>
            <a:r>
              <a:t>Containers: Runnable instances of images.</a:t>
            </a:r>
          </a:p>
          <a:p>
            <a:pPr>
              <a:spcBef>
                <a:spcPts val="800"/>
              </a:spcBef>
              <a:spcAft>
                <a:spcPts val="800"/>
              </a:spcAft>
              <a:defRPr sz="2000">
                <a:solidFill>
                  <a:srgbClr val="FFFFFF"/>
                </a:solidFill>
              </a:defRPr>
            </a:pPr>
            <a:r>
              <a:t>Dockerfile: Recipe for building images.</a:t>
            </a:r>
          </a:p>
          <a:p>
            <a:pPr>
              <a:spcBef>
                <a:spcPts val="800"/>
              </a:spcBef>
              <a:spcAft>
                <a:spcPts val="800"/>
              </a:spcAft>
              <a:defRPr sz="2000">
                <a:solidFill>
                  <a:srgbClr val="FFFFFF"/>
                </a:solidFill>
              </a:defRPr>
            </a:pPr>
            <a:r>
              <a:t>Why do we put the dependencies copy/install step before copying the app code in a Dockerfile?</a:t>
            </a:r>
          </a:p>
          <a:p>
            <a:pPr>
              <a:spcBef>
                <a:spcPts val="800"/>
              </a:spcBef>
              <a:spcAft>
                <a:spcPts val="800"/>
              </a:spcAft>
              <a:defRPr sz="2000">
                <a:solidFill>
                  <a:srgbClr val="FFFFFF"/>
                </a:solidFill>
              </a:defRPr>
            </a:pPr>
            <a:r>
              <a:t>What happens to data inside a Docker container when you delete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5.6. Section 5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Docker Curriculum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6. Working with Podman (Daemonless CLI)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6.1. Running a Container (Rootless)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By default, Podman runs containers as the user who invoked the command, mapping the user's UID to root inside the container. This is a significant security advantage.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6.2. Pods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Podman allows you to manage "Pods" locally. A Pod is a group of containers that share the same network namespace (localhost), a concept directly compatible with Kubernetes.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6.3. Section 6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Daemonless: Podman runs as the user process, avoiding the "Root Daemon" risk.</a:t>
            </a:r>
          </a:p>
          <a:p>
            <a:pPr>
              <a:spcBef>
                <a:spcPts val="800"/>
              </a:spcBef>
              <a:spcAft>
                <a:spcPts val="800"/>
              </a:spcAft>
              <a:defRPr sz="2000">
                <a:solidFill>
                  <a:srgbClr val="FFFFFF"/>
                </a:solidFill>
              </a:defRPr>
            </a:pPr>
            <a:r>
              <a:t>Rootless: Allows unprivileged users to run containers safely.</a:t>
            </a:r>
          </a:p>
          <a:p>
            <a:pPr>
              <a:spcBef>
                <a:spcPts val="800"/>
              </a:spcBef>
              <a:spcAft>
                <a:spcPts val="800"/>
              </a:spcAft>
              <a:defRPr sz="2000">
                <a:solidFill>
                  <a:srgbClr val="FFFFFF"/>
                </a:solidFill>
              </a:defRPr>
            </a:pPr>
            <a:r>
              <a:t>Pods: Groups of containers sharing a network namespace (localhost).</a:t>
            </a:r>
          </a:p>
          <a:p>
            <a:pPr>
              <a:spcBef>
                <a:spcPts val="800"/>
              </a:spcBef>
              <a:spcAft>
                <a:spcPts val="800"/>
              </a:spcAft>
              <a:defRPr sz="2000">
                <a:solidFill>
                  <a:srgbClr val="FFFFFF"/>
                </a:solidFill>
              </a:defRPr>
            </a:pPr>
            <a:r>
              <a:t>How can a rootless container bind to port 80 (privileged port)?</a:t>
            </a:r>
          </a:p>
          <a:p>
            <a:pPr>
              <a:spcBef>
                <a:spcPts val="800"/>
              </a:spcBef>
              <a:spcAft>
                <a:spcPts val="800"/>
              </a:spcAft>
              <a:defRPr sz="2000">
                <a:solidFill>
                  <a:srgbClr val="FFFFFF"/>
                </a:solidFill>
              </a:defRPr>
            </a:pPr>
            <a:r>
              <a:t>Why is Podman considered "Kubernetes-friendly"?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6.3. Section 6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Podman: Getting Started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7. Future Preview: Kubernetes and kubectl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7.1. The Core Concepts (The K8s Dictionary)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Understanding K8s requires learning a new vocabulary, distinct from Docker's: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7.2. The Control Loop (Desired State)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Kubernetes is Declarative.</a:t>
            </a:r>
          </a:p>
          <a:p>
            <a:pPr>
              <a:spcBef>
                <a:spcPts val="800"/>
              </a:spcBef>
              <a:spcAft>
                <a:spcPts val="800"/>
              </a:spcAft>
              <a:defRPr sz="2000">
                <a:solidFill>
                  <a:srgbClr val="FFFFFF"/>
                </a:solidFill>
              </a:defRPr>
            </a:pPr>
            <a:r>
              <a:t>Unlike Docker, where you say "Run this container" (Imperative), in Kubernetes you say "I want 3 Nginx Pods" (Declarative).</a:t>
            </a:r>
          </a:p>
          <a:p>
            <a:pPr>
              <a:spcBef>
                <a:spcPts val="800"/>
              </a:spcBef>
              <a:spcAft>
                <a:spcPts val="800"/>
              </a:spcAft>
              <a:defRPr sz="2000">
                <a:solidFill>
                  <a:srgbClr val="FFFFFF"/>
                </a:solidFill>
              </a:defRPr>
            </a:pPr>
            <a:r>
              <a:t>The Control Plane constantly checks:</a:t>
            </a:r>
            <a:br/>
            <a:r>
              <a:t>1.</a:t>
            </a:r>
          </a:p>
          <a:p>
            <a:pPr>
              <a:spcBef>
                <a:spcPts val="800"/>
              </a:spcBef>
              <a:spcAft>
                <a:spcPts val="800"/>
              </a:spcAft>
              <a:defRPr sz="2000">
                <a:solidFill>
                  <a:srgbClr val="FFFFFF"/>
                </a:solidFill>
              </a:defRPr>
            </a:pPr>
            <a:r>
              <a:t>What is the User's Desired State?</a:t>
            </a:r>
          </a:p>
          <a:p>
            <a:pPr>
              <a:spcBef>
                <a:spcPts val="800"/>
              </a:spcBef>
              <a:spcAft>
                <a:spcPts val="800"/>
              </a:spcAft>
              <a:defRPr sz="2000">
                <a:solidFill>
                  <a:srgbClr val="FFFFFF"/>
                </a:solidFill>
              </a:defRPr>
            </a:pPr>
            <a:r>
              <a:t>(3 Pods)</a:t>
            </a:r>
            <a:br/>
            <a:r>
              <a:t>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7.3. The kubectl CLI</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Start familiarizing yourself with these commands now. You will use them extensively in Week 11.</a:t>
            </a:r>
          </a:p>
          <a:p>
            <a:pPr>
              <a:spcBef>
                <a:spcPts val="800"/>
              </a:spcBef>
              <a:spcAft>
                <a:spcPts val="800"/>
              </a:spcAft>
              <a:defRPr sz="2000">
                <a:solidFill>
                  <a:srgbClr val="FFFFFF"/>
                </a:solidFill>
              </a:defRPr>
            </a:pPr>
            <a:r>
              <a:t>1. Creating Resources (Imperative)</a:t>
            </a:r>
          </a:p>
          <a:p>
            <a:pPr>
              <a:spcBef>
                <a:spcPts val="800"/>
              </a:spcBef>
              <a:spcAft>
                <a:spcPts val="800"/>
              </a:spcAft>
              <a:defRPr sz="2000">
                <a:solidFill>
                  <a:srgbClr val="FFFFFF"/>
                </a:solidFill>
              </a:defRPr>
            </a:pPr>
            <a:r>
              <a:t>2. Inspecting Resources</a:t>
            </a:r>
          </a:p>
          <a:p>
            <a:pPr>
              <a:spcBef>
                <a:spcPts val="800"/>
              </a:spcBef>
              <a:spcAft>
                <a:spcPts val="800"/>
              </a:spcAft>
              <a:defRPr sz="2000">
                <a:solidFill>
                  <a:srgbClr val="FFFFFF"/>
                </a:solidFill>
              </a:defRPr>
            </a:pPr>
            <a:r>
              <a:t>3. Scaling Applications</a:t>
            </a:r>
          </a:p>
          <a:p>
            <a:pPr>
              <a:spcBef>
                <a:spcPts val="800"/>
              </a:spcBef>
              <a:spcAft>
                <a:spcPts val="800"/>
              </a:spcAft>
              <a:defRPr sz="2000">
                <a:solidFill>
                  <a:srgbClr val="FFFFFF"/>
                </a:solidFill>
              </a:defRPr>
            </a:pPr>
            <a:r>
              <a:t>4. Exposing to the World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7.4. Self-Correction Checklist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Pod vs Container: A Pod wraps a container. K8s manages Pods, not containers directly.</a:t>
            </a:r>
          </a:p>
          <a:p>
            <a:pPr>
              <a:spcBef>
                <a:spcPts val="800"/>
              </a:spcBef>
              <a:spcAft>
                <a:spcPts val="800"/>
              </a:spcAft>
              <a:defRPr sz="2000">
                <a:solidFill>
                  <a:srgbClr val="FFFFFF"/>
                </a:solidFill>
              </a:defRPr>
            </a:pPr>
            <a:r>
              <a:t>Service: Without a Service, you cannot reliably talk to a Pod because its IP changes every time it restarts.</a:t>
            </a:r>
          </a:p>
          <a:p>
            <a:pPr>
              <a:spcBef>
                <a:spcPts val="800"/>
              </a:spcBef>
              <a:spcAft>
                <a:spcPts val="800"/>
              </a:spcAft>
              <a:defRPr sz="2000">
                <a:solidFill>
                  <a:srgbClr val="FFFFFF"/>
                </a:solidFill>
              </a:defRPr>
            </a:pPr>
            <a:r>
              <a:t>Magnum: We will use OpenStack Magnum to build the cluster, so we don't have to manage the Master Nodes ourselves.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8. Summary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9. Additional Resources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9.1. Video Tutorials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LXC in Proxmox: YouTube (Compares to VMs, setup guide).</a:t>
            </a:r>
          </a:p>
          <a:p>
            <a:pPr>
              <a:spcBef>
                <a:spcPts val="800"/>
              </a:spcBef>
              <a:spcAft>
                <a:spcPts val="800"/>
              </a:spcAft>
              <a:defRPr sz="2000">
                <a:solidFill>
                  <a:srgbClr val="FFFFFF"/>
                </a:solidFill>
              </a:defRPr>
            </a:pPr>
            <a:r>
              <a:t>Docker vs. Podman: YouTube (Explains differences, cloud use cases).</a:t>
            </a:r>
          </a:p>
          <a:p>
            <a:pPr>
              <a:spcBef>
                <a:spcPts val="800"/>
              </a:spcBef>
              <a:spcAft>
                <a:spcPts val="800"/>
              </a:spcAft>
              <a:defRPr sz="2000">
                <a:solidFill>
                  <a:srgbClr val="FFFFFF"/>
                </a:solidFill>
              </a:defRPr>
            </a:pPr>
            <a:r>
              <a:t>Docker Basics: YouTube (Beginner guide to Docker containers).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9.2. Documentation &amp; Further Reading</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LXC Documentation</a:t>
            </a:r>
          </a:p>
          <a:p>
            <a:pPr>
              <a:spcBef>
                <a:spcPts val="800"/>
              </a:spcBef>
              <a:spcAft>
                <a:spcPts val="800"/>
              </a:spcAft>
              <a:defRPr sz="2000">
                <a:solidFill>
                  <a:srgbClr val="FFFFFF"/>
                </a:solidFill>
              </a:defRPr>
            </a:pPr>
            <a:r>
              <a:t>Docker Documentation</a:t>
            </a:r>
          </a:p>
          <a:p>
            <a:pPr>
              <a:spcBef>
                <a:spcPts val="800"/>
              </a:spcBef>
              <a:spcAft>
                <a:spcPts val="800"/>
              </a:spcAft>
              <a:defRPr sz="2000">
                <a:solidFill>
                  <a:srgbClr val="FFFFFF"/>
                </a:solidFill>
              </a:defRPr>
            </a:pPr>
            <a:r>
              <a:t>Podman Documentation</a:t>
            </a:r>
          </a:p>
          <a:p>
            <a:pPr>
              <a:spcBef>
                <a:spcPts val="800"/>
              </a:spcBef>
              <a:spcAft>
                <a:spcPts val="800"/>
              </a:spcAft>
              <a:defRPr sz="2000">
                <a:solidFill>
                  <a:srgbClr val="FFFFFF"/>
                </a:solidFill>
              </a:defRPr>
            </a:pPr>
            <a:r>
              <a:t>OpenStack Zun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10. Lab Exercises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