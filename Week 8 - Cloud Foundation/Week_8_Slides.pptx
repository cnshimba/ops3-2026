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Case Study: The "Nebula Inc." Startup (Part 1)</a:t>
            </a:r>
          </a:p>
          <a:p/>
          <a:p>
            <a:r>
              <a:t>Key Points:</a:t>
            </a:r>
          </a:p>
          <a:p>
            <a:r>
              <a:t>1. To understand how a cloud is built, we will follow a continuous scenario for the next three weeks.</a:t>
            </a:r>
          </a:p>
          <a:p>
            <a:r>
              <a:t>2. You</a:t>
            </a:r>
          </a:p>
          <a:p>
            <a:r>
              <a:t>                have been hired as the Lead Cloud Engineer for a new software startup called "Nebula</a:t>
            </a:r>
          </a:p>
          <a:p>
            <a:r>
              <a:t>                    Inc." Currently, they have no infrastructure—just a credit card and a dream.</a:t>
            </a:r>
          </a:p>
          <a:p>
            <a:r>
              <a:t>3. Your job is to</a:t>
            </a:r>
          </a:p>
          <a:p>
            <a:r>
              <a:t>                build their Virtual Data Center (VDC) from scratch using OpenStack.</a:t>
            </a:r>
          </a:p>
          <a:p>
            <a:r>
              <a:t>4. This is not a theoretical exercise;</a:t>
            </a:r>
          </a:p>
          <a:p>
            <a:r>
              <a:t>                you will be typing the actual commands that cloud administrators use daily to construct the digital</a:t>
            </a:r>
          </a:p>
          <a:p>
            <a:r>
              <a:t>                fabric of the modern internet.</a:t>
            </a:r>
          </a:p>
          <a:p>
            <a:r>
              <a:t>5. Week 8 (Foundation): You must create the secure environment. This involves setting</a:t>
            </a:r>
          </a:p>
          <a:p>
            <a:r>
              <a:t>                    up the company's "Tenant" (Project), hiring the staff (Users), purchasing the software licenses</a:t>
            </a:r>
          </a:p>
          <a:p>
            <a:r>
              <a:t>                    (Images), and cabling the office (Networking).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Case Study: The "Nebula Inc." Startup (Part 2)</a:t>
            </a:r>
          </a:p>
          <a:p/>
          <a:p>
            <a:r>
              <a:t>Key Points:</a:t>
            </a:r>
          </a:p>
          <a:p>
            <a:r>
              <a:t>1. Week 9 (Compute): You will deploy their first web servers and secure them with</a:t>
            </a:r>
          </a:p>
          <a:p>
            <a:r>
              <a:t>                    firewalls.</a:t>
            </a:r>
          </a:p>
          <a:p>
            <a:r>
              <a:t>2. Week 10 (Storage): You will attach persistent storage for their customer database.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Authentication Workflow (The "Token Dance")</a:t>
            </a:r>
          </a:p>
          <a:p/>
          <a:p>
            <a:r>
              <a:t>Key Points:</a:t>
            </a:r>
          </a:p>
          <a:p>
            <a:r>
              <a:t>1. When you run a command like openstack server list, a complex sequence of events, often</a:t>
            </a:r>
          </a:p>
          <a:p>
            <a:r>
              <a:t>                called the "Token Dance," occurs in the background before you see any output.</a:t>
            </a:r>
          </a:p>
          <a:p>
            <a:r>
              <a:t>2. Figure 1: The Keystone "Token Dance" - Documenting the 7-step process of authentication and</a:t>
            </a:r>
          </a:p>
          <a:p>
            <a:r>
              <a:t>                    authorization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The Backend (Where are users stored?)</a:t>
            </a:r>
          </a:p>
          <a:p/>
          <a:p>
            <a:r>
              <a:t>Key Points:</a:t>
            </a:r>
          </a:p>
          <a:p>
            <a:r>
              <a:t>1. SQL (Local): Users are stored in the OpenStack database (MariaDB). This is the</a:t>
            </a:r>
          </a:p>
          <a:p>
            <a:r>
              <a:t>                    standard configuration for small deployments and our lab environment.</a:t>
            </a:r>
          </a:p>
          <a:p>
            <a:r>
              <a:t>2. LDAP / Active Directory (Enterprise): In large enterprises, you do not want to</a:t>
            </a:r>
          </a:p>
          <a:p>
            <a:r>
              <a:t>                    create separate accounts for every system. Keystone can plug directly into the corporate Active</a:t>
            </a:r>
          </a:p>
          <a:p>
            <a:r>
              <a:t>                    Directory. When a user logs in, Keystone forwards the password to the Domain Controller for</a:t>
            </a:r>
          </a:p>
          <a:p>
            <a:r>
              <a:t>                    validation, ensuring Single Sign-On (SSO).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2.3 Token Providers (Fernet vs UUID)</a:t>
            </a:r>
          </a:p>
          <a:p/>
          <a:p>
            <a:r>
              <a:t>Key Points:</a:t>
            </a:r>
          </a:p>
          <a:p>
            <a:r>
              <a:t>1. UUID (Legacy): A random string stored in the Keystone Database. The problem with</a:t>
            </a:r>
          </a:p>
          <a:p>
            <a:r>
              <a:t>                    this method is that every validation requires a Database Lookup. In massive clouds handling</a:t>
            </a:r>
          </a:p>
          <a:p>
            <a:r>
              <a:t>                    10,000 requests per second, this would crush the database.</a:t>
            </a:r>
          </a:p>
          <a:p>
            <a:r>
              <a:t>2. Fernet (Modern): A cryptographic token format. The token contains the User ID and</a:t>
            </a:r>
          </a:p>
          <a:p>
            <a:r>
              <a:t>                    Expiry Time, encrypted using a secret key held by the Keystone server. The major benefit is</a:t>
            </a:r>
          </a:p>
          <a:p>
            <a:r>
              <a:t>                    that Keystone does not need to store the token in a database. To validate it, it simply</a:t>
            </a:r>
          </a:p>
          <a:p>
            <a:r>
              <a:t>                    decrypts the token significantly reducing database load and allowing Keystone to scale infinitely.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2.4 The Hierarchy</a:t>
            </a:r>
          </a:p>
          <a:p/>
          <a:p>
            <a:r>
              <a:t>Key Points:</a:t>
            </a:r>
          </a:p>
          <a:p>
            <a:r>
              <a:t>1. Domain: A high-level container (e.g., "Default" or "Corporate_A"). Use for</a:t>
            </a:r>
          </a:p>
          <a:p>
            <a:r>
              <a:t>                    multi-tenant isolation.</a:t>
            </a:r>
          </a:p>
          <a:p>
            <a:r>
              <a:t>2. Project (Tenant): The workspace. Resources (VMs, Networks) belong to a Project.</a:t>
            </a:r>
          </a:p>
          <a:p>
            <a:r>
              <a:t>3. User: The human or service account.</a:t>
            </a:r>
          </a:p>
          <a:p>
            <a:r>
              <a:t>4. Role: The permission set. A User must have a Role on a Project to do</a:t>
            </a:r>
          </a:p>
          <a:p>
            <a:r>
              <a:t>                    anything.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 CLI Implementation (Case Study: Nebula Inc.) (Part 1)</a:t>
            </a:r>
          </a:p>
          <a:p/>
          <a:p>
            <a:r>
              <a:t>Key Points:</a:t>
            </a:r>
          </a:p>
          <a:p>
            <a:r>
              <a:t>1. Now we apply this theory to our startup.</a:t>
            </a:r>
          </a:p>
          <a:p>
            <a:r>
              <a:t>2. "Nebula Inc." requires a dedicated, isolated environment where</a:t>
            </a:r>
          </a:p>
          <a:p>
            <a:r>
              <a:t>                its developers can work without interfering with other departments.</a:t>
            </a:r>
          </a:p>
          <a:p>
            <a:r>
              <a:t>3. In OpenStack, we achieve this</a:t>
            </a:r>
          </a:p>
          <a:p>
            <a:r>
              <a:t>                "Multi-Tenancy" by creating a specific Project.</a:t>
            </a:r>
          </a:p>
          <a:p>
            <a:r>
              <a:t>4. This project will act as the container</a:t>
            </a:r>
          </a:p>
          <a:p>
            <a:r>
              <a:t>                for all their future VMs, networks, and storage volumes.</a:t>
            </a:r>
          </a:p>
          <a:p>
            <a:r>
              <a:t>5. It also allows us to set quotas (e.g., "Maximum</a:t>
            </a:r>
          </a:p>
          <a:p>
            <a:r>
              <a:t>                10 CPUs") to control their budget.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 CLI Implementation (Case Study: Nebula Inc.) (Part 2)</a:t>
            </a:r>
          </a:p>
          <a:p/>
          <a:p>
            <a:r>
              <a:t>Key Points:</a:t>
            </a:r>
          </a:p>
          <a:p>
            <a:r>
              <a:t>1. Explanation:</a:t>
            </a:r>
          </a:p>
          <a:p>
            <a:r>
              <a:t>--domain default: Specifies that this project lives in the default domain.</a:t>
            </a:r>
          </a:p>
          <a:p>
            <a:r>
              <a:t>--description: Metadata for admins.</a:t>
            </a:r>
          </a:p>
          <a:p>
            <a:r>
              <a:t>Result: Creates a record in the projects table. Returns a UUID</a:t>
            </a:r>
          </a:p>
          <a:p>
            <a:r>
              <a:t>                            (e.g., a1b2c3...).</a:t>
            </a:r>
          </a:p>
          <a:p>
            <a:r>
              <a:t>2. Explanation:</a:t>
            </a:r>
          </a:p>
          <a:p>
            <a:r>
              <a:t>--password-prompt: Hides input for security.</a:t>
            </a:r>
          </a:p>
          <a:p>
            <a:r>
              <a:t>Result: Creating a user identity does NOT grant access. The user is</a:t>
            </a:r>
          </a:p>
          <a:p>
            <a:r>
              <a:t>                            currently "unemployed".</a:t>
            </a:r>
          </a:p>
          <a:p>
            <a:r>
              <a:t>3. Explanation:</a:t>
            </a:r>
          </a:p>
          <a:p>
            <a:r>
              <a:t>member: The standard permission level (can create VMs/Networks but cannot</a:t>
            </a:r>
          </a:p>
          <a:p>
            <a:r>
              <a:t>                            delete other users).</a:t>
            </a:r>
          </a:p>
          <a:p>
            <a:r>
              <a:t>Result: Creates a row in the role_assignments table linking</a:t>
            </a:r>
          </a:p>
          <a:p>
            <a:r>
              <a:t>                            User+Project+Role.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2.6 Identity Verification &amp; Management (Part 1)</a:t>
            </a:r>
          </a:p>
          <a:p/>
          <a:p>
            <a:r>
              <a:t>Key Points:</a:t>
            </a:r>
          </a:p>
          <a:p>
            <a:r>
              <a:t>1. In a production cloud, security is an ongoing process, not a one-time setup.</a:t>
            </a:r>
          </a:p>
          <a:p>
            <a:r>
              <a:t>2. The "Principle of Least</a:t>
            </a:r>
          </a:p>
          <a:p>
            <a:r>
              <a:t>                Privilege" dictates that we must continuously verify that only the correct people have access to our</a:t>
            </a:r>
          </a:p>
          <a:p>
            <a:r>
              <a:t>                sensitive data.</a:t>
            </a:r>
          </a:p>
          <a:p>
            <a:r>
              <a:t>3. Simply listing the users in the system is insufficient; a user might exist but have no</a:t>
            </a:r>
          </a:p>
          <a:p>
            <a:r>
              <a:t>                access to anything.</a:t>
            </a:r>
          </a:p>
          <a:p>
            <a:r>
              <a:t>4. To audit this, we must inspect the Role Assignments.</a:t>
            </a:r>
          </a:p>
          <a:p>
            <a:r>
              <a:t>5. Explanation:</a:t>
            </a:r>
          </a:p>
          <a:p>
            <a:r>
              <a:t>--names: Resolves UUIDs to human-readable names.</a:t>
            </a:r>
          </a:p>
          <a:p>
            <a:r>
              <a:t>Result: Displays exactly which project the user can access and with what</a:t>
            </a:r>
          </a:p>
          <a:p>
            <a:r>
              <a:t>                            level of authority.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2.6 Identity Verification &amp; Management (Part 2)</a:t>
            </a:r>
          </a:p>
          <a:p/>
          <a:p>
            <a:r>
              <a:t>Key Points:</a:t>
            </a:r>
          </a:p>
          <a:p>
            <a:r>
              <a:t>1. Disabling a User:</a:t>
            </a:r>
          </a:p>
          <a:p>
            <a:r>
              <a:t>                        bash</a:t>
            </a:r>
          </a:p>
          <a:p>
            <a:r>
              <a:t>    openstack user set --disable nebula_admin</a:t>
            </a:r>
          </a:p>
          <a:p/>
          <a:p/>
          <a:p>
            <a:r>
              <a:t>Explanation: Sets enabled=False in the DB. The user cannot</a:t>
            </a:r>
          </a:p>
          <a:p>
            <a:r>
              <a:t>                            request new tokens.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 (Part 1)</a:t>
            </a:r>
          </a:p>
          <a:p/>
          <a:p>
            <a:r>
              <a:t>Key Points:</a:t>
            </a:r>
          </a:p>
          <a:p>
            <a:r>
              <a:t>1. Keystone: The core authentication and authorization service; without it, nothing</a:t>
            </a:r>
          </a:p>
          <a:p>
            <a:r>
              <a:t>                    works.</a:t>
            </a:r>
          </a:p>
          <a:p>
            <a:r>
              <a:t>2. Fernet Tokens: Modern, stateless tokens that improve performance by removing</a:t>
            </a:r>
          </a:p>
          <a:p>
            <a:r>
              <a:t>                    database lookups.</a:t>
            </a:r>
          </a:p>
          <a:p>
            <a:r>
              <a:t>3. Role Assignments: The critical link that grants a User permission on a Project.</a:t>
            </a:r>
          </a:p>
          <a:p>
            <a:r>
              <a:t>4. Reflection:</a:t>
            </a:r>
          </a:p>
          <a:p>
            <a:r>
              <a:t>                1.</a:t>
            </a:r>
          </a:p>
          <a:p>
            <a:r>
              <a:t>5. Why do we use tokens (like Fernet) instead of just passing the username/password to every service?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 (Part 2)</a:t>
            </a:r>
          </a:p>
          <a:p/>
          <a:p>
            <a:r>
              <a:t>Key Points:</a:t>
            </a:r>
          </a:p>
          <a:p>
            <a:r>
              <a:t>1. (Hint: Performance and Security).</a:t>
            </a:r>
          </a:p>
          <a:p>
            <a:r>
              <a:t>2. 2.</a:t>
            </a:r>
          </a:p>
          <a:p>
            <a:r>
              <a:t>3. If you delete a user, their history disappears.</a:t>
            </a:r>
          </a:p>
          <a:p>
            <a:r>
              <a:t>4. OpenStack Keystone Guide</a:t>
            </a:r>
          </a:p>
          <a:p>
            <a:r>
              <a:t>5. AWS Identity and Access Management (IAM)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 (Part 3)</a:t>
            </a:r>
          </a:p>
          <a:p/>
          <a:p>
            <a:r>
              <a:t>Key Points:</a:t>
            </a:r>
          </a:p>
          <a:p>
            <a:r>
              <a:t>1. Microsoft Entra ID (Azure AD)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Understanding Disk Formats</a:t>
            </a:r>
          </a:p>
          <a:p/>
          <a:p>
            <a:r>
              <a:t>Key Points:</a:t>
            </a:r>
          </a:p>
          <a:p>
            <a:r>
              <a:t>1. QCOW2 (QEMU Copy On Write) is the standard format for OpenStack.</a:t>
            </a:r>
          </a:p>
          <a:p>
            <a:r>
              <a:t>2. It supports compression</a:t>
            </a:r>
          </a:p>
          <a:p>
            <a:r>
              <a:t>                and "Thin Provisioning," meaning a 10GB drive with only 100MB of data takes up only 100MB of physical</a:t>
            </a:r>
          </a:p>
          <a:p>
            <a:r>
              <a:t>                space.</a:t>
            </a:r>
          </a:p>
          <a:p>
            <a:r>
              <a:t>3. Crucially, it logic enables snapshot capabilities, allowing you to save the state of a VM</a:t>
            </a:r>
          </a:p>
          <a:p>
            <a:r>
              <a:t>                instantly.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Glance Architecture</a:t>
            </a:r>
          </a:p>
          <a:p/>
          <a:p>
            <a:r>
              <a:t>Key Points:</a:t>
            </a:r>
          </a:p>
          <a:p>
            <a:r>
              <a:t>1. Glance API: The front-end service that accepts user requests (e.g., "Upload this</a:t>
            </a:r>
          </a:p>
          <a:p>
            <a:r>
              <a:t>                    image", "List images"). It verifies the user's token with Keystone before proceeding.</a:t>
            </a:r>
          </a:p>
          <a:p>
            <a:r>
              <a:t>2. Glance Registry: An internal service that stores the metadata about images</a:t>
            </a:r>
          </a:p>
          <a:p>
            <a:r>
              <a:t>                    (Name, Size, Format, Owner) in the SQL database.</a:t>
            </a:r>
          </a:p>
          <a:p>
            <a:r>
              <a:t>3. Backend Store: The driver responsible for storing the actual binary data</a:t>
            </a:r>
          </a:p>
          <a:p>
            <a:r>
              <a:t>                    (the heavy bits). While this can be a local file system (/var/lib/glance), production</a:t>
            </a:r>
          </a:p>
          <a:p>
            <a:r>
              <a:t>                    clouds typically use a distributed storage cluster like Ceph or an object store</a:t>
            </a:r>
          </a:p>
          <a:p>
            <a:r>
              <a:t>                    like AWS S3 to ensure data durability and accessibility across all compute nodes.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3.3 CLI Implementation (Case Study: Nebula Inc.) (Part 1)</a:t>
            </a:r>
          </a:p>
          <a:p/>
          <a:p>
            <a:r>
              <a:t>Key Points:</a:t>
            </a:r>
          </a:p>
          <a:p>
            <a:r>
              <a:t>1. For any software company, consistency is key.</a:t>
            </a:r>
          </a:p>
          <a:p>
            <a:r>
              <a:t>2. We cannot have one developer running Ubuntu 20.04 and</a:t>
            </a:r>
          </a:p>
          <a:p>
            <a:r>
              <a:t>                another running Fedora 35, as this leads to the infamous "it works on my machine" problem.</a:t>
            </a:r>
          </a:p>
          <a:p>
            <a:r>
              <a:t>3. To solve</a:t>
            </a:r>
          </a:p>
          <a:p>
            <a:r>
              <a:t>                this, Nebula Inc.</a:t>
            </a:r>
          </a:p>
          <a:p>
            <a:r>
              <a:t>4. enforces a Standard Operating Environment (SOE).</a:t>
            </a:r>
          </a:p>
          <a:p>
            <a:r>
              <a:t>5. We will upload a</a:t>
            </a:r>
          </a:p>
          <a:p>
            <a:r>
              <a:t>                "Golden Image"—a pre-approved, security-hardened operating system template that all staff must 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3.3 CLI Implementation (Case Study: Nebula Inc.) (Part 2)</a:t>
            </a:r>
          </a:p>
          <a:p/>
          <a:p>
            <a:r>
              <a:t>Key Points:</a:t>
            </a:r>
          </a:p>
          <a:p>
            <a:r>
              <a:t>1. Explanation: We assume we are on the "Jumpbox" or Controller node. Browsers cannot</a:t>
            </a:r>
          </a:p>
          <a:p>
            <a:r>
              <a:t>                    upload directly to Glance CLI; the file must exist locally.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3.4 Managing Images (Day 2 Operations) (Part 1)</a:t>
            </a:r>
          </a:p>
          <a:p/>
          <a:p>
            <a:r>
              <a:t>Key Points:</a:t>
            </a:r>
          </a:p>
          <a:p>
            <a:r>
              <a:t>1. Explanation: Returns a table of available images.</a:t>
            </a:r>
          </a:p>
          <a:p>
            <a:r>
              <a:t>2. Result: Checks ID, Name, and Status. Status should be active. If</a:t>
            </a:r>
          </a:p>
          <a:p>
            <a:r>
              <a:t>                    status is queued, the upload failed.</a:t>
            </a:r>
          </a:p>
          <a:p>
            <a:r>
              <a:t>3. Explanation: Adds a custom key-value pair to the image metadata. The Scheduler use</a:t>
            </a:r>
          </a:p>
          <a:p>
            <a:r>
              <a:t>                    this to ensure the VM lands on Intel hardware, not ARM.</a:t>
            </a:r>
          </a:p>
          <a:p>
            <a:r>
              <a:t>4. Result: The Glance Registry is updated; the actual file is untouched.</a:t>
            </a:r>
          </a:p>
          <a:p>
            <a:r>
              <a:t>5. Explanation: Marks the image for deletion.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3.4 Managing Images (Day 2 Operations) (Part 2)</a:t>
            </a:r>
          </a:p>
          <a:p/>
          <a:p>
            <a:r>
              <a:t>Key Points:</a:t>
            </a:r>
          </a:p>
          <a:p>
            <a:r>
              <a:t>1. Result: The metadata is removed from the Registry, and the backend storage driver</a:t>
            </a:r>
          </a:p>
          <a:p>
            <a:r>
              <a:t>                    (Ceph/File) is instructed to free the space.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 (Part 1)</a:t>
            </a:r>
          </a:p>
          <a:p/>
          <a:p>
            <a:r>
              <a:t>Key Points:</a:t>
            </a:r>
          </a:p>
          <a:p>
            <a:r>
              <a:t>1. Glance: The image repository that provides boot disks to Nova.</a:t>
            </a:r>
          </a:p>
          <a:p>
            <a:r>
              <a:t>2. QCOW2: The preferred format for cloud images due to thin provisioning and snapshot</a:t>
            </a:r>
          </a:p>
          <a:p>
            <a:r>
              <a:t>                    support.</a:t>
            </a:r>
          </a:p>
          <a:p>
            <a:r>
              <a:t>3. SOE: Standard Operating Environment ensuring consistency across all machines.</a:t>
            </a:r>
          </a:p>
          <a:p>
            <a:r>
              <a:t>4. Reflection:</a:t>
            </a:r>
          </a:p>
          <a:p>
            <a:r>
              <a:t>                1.</a:t>
            </a:r>
          </a:p>
          <a:p>
            <a:r>
              <a:t>5. If you have a slow 1Gb link interconnecting your data centers, which image format (RAW or QCOW2)</a:t>
            </a:r>
          </a:p>
          <a:p>
            <a:r>
              <a:t>                would be faster to replicate?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 (Part 2)</a:t>
            </a:r>
          </a:p>
          <a:p/>
          <a:p>
            <a:r>
              <a:t>Key Points:</a:t>
            </a:r>
          </a:p>
          <a:p>
            <a:r>
              <a:t>1. Why?</a:t>
            </a:r>
          </a:p>
          <a:p>
            <a:r>
              <a:t>2. 2.</a:t>
            </a:r>
          </a:p>
          <a:p>
            <a:r>
              <a:t>3. Why is it dangerous to make every image --public?</a:t>
            </a:r>
          </a:p>
          <a:p>
            <a:r>
              <a:t>4. OpenStack Glance Guide</a:t>
            </a:r>
          </a:p>
          <a:p>
            <a:r>
              <a:t>5. AWS AMIs (Amazon Machine</a:t>
            </a:r>
          </a:p>
          <a:p>
            <a:r>
              <a:t>                        Images)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 (Part 3)</a:t>
            </a:r>
          </a:p>
          <a:p/>
          <a:p>
            <a:r>
              <a:t>Key Points:</a:t>
            </a:r>
          </a:p>
          <a:p>
            <a:r>
              <a:t>1. Azure</a:t>
            </a:r>
          </a:p>
          <a:p>
            <a:r>
              <a:t>                        Compute Gallery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What is SDN (Software Defined Networking)? (Part 1)</a:t>
            </a:r>
          </a:p>
          <a:p/>
          <a:p>
            <a:r>
              <a:t>Key Points:</a:t>
            </a:r>
          </a:p>
          <a:p>
            <a:r>
              <a:t>1. Network Engineers often rely on physical switches and routers to move traffic.</a:t>
            </a:r>
          </a:p>
          <a:p>
            <a:r>
              <a:t>2. In the cloud, we</a:t>
            </a:r>
          </a:p>
          <a:p>
            <a:r>
              <a:t>                virtualize this entirely using Software Defined Networking (SDN).</a:t>
            </a:r>
          </a:p>
          <a:p>
            <a:r>
              <a:t>3. The core concept of</a:t>
            </a:r>
          </a:p>
          <a:p>
            <a:r>
              <a:t>                SDN is the separation of the Control Plane (The Brain) from the Data</a:t>
            </a:r>
          </a:p>
          <a:p>
            <a:r>
              <a:t>                    Plane (The Muscle).</a:t>
            </a:r>
          </a:p>
          <a:p>
            <a:r>
              <a:t>4. The Control Plane (Neutron API/Server) acts as the brain of the operation.</a:t>
            </a:r>
          </a:p>
          <a:p>
            <a:r>
              <a:t>5. When you</a:t>
            </a:r>
          </a:p>
          <a:p>
            <a:r>
              <a:t>                execute a command to create a network or open port 80, you are communicating with the Control Plane.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What is SDN (Software Defined Networking)? (Part 2)</a:t>
            </a:r>
          </a:p>
          <a:p/>
          <a:p>
            <a:r>
              <a:t>Key Points:</a:t>
            </a:r>
          </a:p>
          <a:p>
            <a:r>
              <a:t>1. It</a:t>
            </a:r>
          </a:p>
          <a:p>
            <a:r>
              <a:t>                calculates the necessary logic and updates the state of the cloud database, but it does not touch a</a:t>
            </a:r>
          </a:p>
          <a:p>
            <a:r>
              <a:t>                single network packet itself.</a:t>
            </a:r>
          </a:p>
          <a:p>
            <a:r>
              <a:t>2. The Data Plane (OVS Agent/L2 Agent) sits on every compute node and acts as the muscle.</a:t>
            </a:r>
          </a:p>
          <a:p>
            <a:r>
              <a:t>3. It receives instructions from the Control Plane via a message bus (RabbitMQ) and implements them by</a:t>
            </a:r>
          </a:p>
          <a:p>
            <a:r>
              <a:t>                programming the local virtual switch.</a:t>
            </a:r>
          </a:p>
          <a:p>
            <a:r>
              <a:t>4. It is the actual software responsible for moving packets from your</a:t>
            </a:r>
          </a:p>
          <a:p>
            <a:r>
              <a:t>                VM to the physical network card.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The Virtual Switch: Open vSwitch (OVS)</a:t>
            </a:r>
          </a:p>
          <a:p/>
          <a:p>
            <a:r>
              <a:t>Key Points:</a:t>
            </a:r>
          </a:p>
          <a:p>
            <a:r>
              <a:t>1. In a physical rack, servers plug into a top-of-rack switch.</a:t>
            </a:r>
          </a:p>
          <a:p>
            <a:r>
              <a:t>2. In OpenStack, VMs plug into a virtual switch</a:t>
            </a:r>
          </a:p>
          <a:p>
            <a:r>
              <a:t>                called Open vSwitch (OVS).</a:t>
            </a:r>
          </a:p>
          <a:p>
            <a:r>
              <a:t>3. Unlike a standard unmanaged switch that simply learns MAC</a:t>
            </a:r>
          </a:p>
          <a:p>
            <a:r>
              <a:t>                addresses, OVS is a production-quality, multilayer virtual switch that uses Flow</a:t>
            </a:r>
          </a:p>
          <a:p>
            <a:r>
              <a:t>                    Tables.</a:t>
            </a:r>
          </a:p>
          <a:p>
            <a:r>
              <a:t>4. A Flow Table is a list of programmable rules that match specific packets (e.g., "If</a:t>
            </a:r>
          </a:p>
          <a:p>
            <a:r>
              <a:t>                source IP is A and dest IP is B...") and applies specific actions (e.g., "...drop packet" or "...tag</a:t>
            </a:r>
          </a:p>
          <a:p>
            <a:r>
              <a:t>                with VLAN 100").</a:t>
            </a:r>
          </a:p>
          <a:p>
            <a:r>
              <a:t>5. Neutron programs these flow tables dynamically to implement sophisticated features like</a:t>
            </a:r>
          </a:p>
          <a:p>
            <a:r>
              <a:t>                Security Groups (Distributed Firewalls) and Virtual Routing.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Under the Hood: The Linux Connection</a:t>
            </a:r>
          </a:p>
          <a:p/>
          <a:p>
            <a:r>
              <a:t>Key Points:</a:t>
            </a:r>
          </a:p>
          <a:p>
            <a:r>
              <a:t>1. Isolation = Namespaces: When you create a Router or a DHCP server, Neutron creates</a:t>
            </a:r>
          </a:p>
          <a:p>
            <a:r>
              <a:t>                    a Linux Network Namespace (ip netns). This allows Project A and</a:t>
            </a:r>
          </a:p>
          <a:p>
            <a:r>
              <a:t>                    Project B to both use "192.168.0.1" without conflict; they live in parallel, isolated universes.</a:t>
            </a:r>
          </a:p>
          <a:p>
            <a:r>
              <a:t>2. Cabling = Veth Pairs: When a VM "plugs in" to the OVS Bridge, Neutron creates a</a:t>
            </a:r>
          </a:p>
          <a:p>
            <a:r>
              <a:t>                    Virtual Ethernet (veth) pair. One end connects to the VM's interface (inside KVM),</a:t>
            </a:r>
          </a:p>
          <a:p>
            <a:r>
              <a:t>                    and the other connects to the OVS Bridge.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 Flow of Traffic (North-South vs East-West) (Part 1)</a:t>
            </a:r>
          </a:p>
          <a:p/>
          <a:p>
            <a:r>
              <a:t>Key Points:</a:t>
            </a:r>
          </a:p>
          <a:p>
            <a:r>
              <a:t>1. East-West Traffic refers to communication between VMs inside the same cloud</a:t>
            </a:r>
          </a:p>
          <a:p>
            <a:r>
              <a:t>                environment (e.g., Web Server A talking to Database Server B).</a:t>
            </a:r>
          </a:p>
          <a:p>
            <a:r>
              <a:t>2. Ideally, this traffic should never leave</a:t>
            </a:r>
          </a:p>
          <a:p>
            <a:r>
              <a:t>                the virtual infrastructure.</a:t>
            </a:r>
          </a:p>
          <a:p>
            <a:r>
              <a:t>3. It flows from the source VM, through the local OVS Bridge, and is typically</a:t>
            </a:r>
          </a:p>
          <a:p>
            <a:r>
              <a:t>                encapsulated in a tunnel protocol like VXLAN to cross the physical network before</a:t>
            </a:r>
          </a:p>
          <a:p>
            <a:r>
              <a:t>                arriving at the destination compute node.</a:t>
            </a:r>
          </a:p>
          <a:p>
            <a:r>
              <a:t>4. North-South Traffic refers to communication entering or leaving the cloud (e.g., a User</a:t>
            </a:r>
          </a:p>
          <a:p>
            <a:r>
              <a:t>                accessing your Web Server from the Internet).</a:t>
            </a:r>
          </a:p>
          <a:p>
            <a:r>
              <a:t>5. This traffic must leave the virtual overlay network.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 Flow of Traffic (North-South vs East-West) (Part 2)</a:t>
            </a:r>
          </a:p>
          <a:p/>
          <a:p>
            <a:r>
              <a:t>Key Points:</a:t>
            </a:r>
          </a:p>
          <a:p>
            <a:r>
              <a:t>1. It</a:t>
            </a:r>
          </a:p>
          <a:p>
            <a:r>
              <a:t>                passes through the Neutron Router (which lives inside a Network Namespace), undergoes</a:t>
            </a:r>
          </a:p>
          <a:p>
            <a:r>
              <a:t>                SNAT (Source NAT) to mask its private IP, and exits via the external provider network</a:t>
            </a:r>
          </a:p>
          <a:p>
            <a:r>
              <a:t>                gateway.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CLI Implementation (Case Study: Nebula Inc.) (Part 1)</a:t>
            </a:r>
          </a:p>
          <a:p/>
          <a:p>
            <a:r>
              <a:t>Key Points:</a:t>
            </a:r>
          </a:p>
          <a:p>
            <a:r>
              <a:t>1. Now that we understand the theory of pipelines and flows, it is time to build.</a:t>
            </a:r>
          </a:p>
          <a:p>
            <a:r>
              <a:t>2. Nebula Inc.</a:t>
            </a:r>
          </a:p>
          <a:p>
            <a:r>
              <a:t>3. requires a</a:t>
            </a:r>
          </a:p>
          <a:p>
            <a:r>
              <a:t>                private, isolated network segment where their web servers can communicate safely.</a:t>
            </a:r>
          </a:p>
          <a:p>
            <a:r>
              <a:t>4. We will construct a</a:t>
            </a:r>
          </a:p>
          <a:p>
            <a:r>
              <a:t>                topology consisting of a private Virtual Switch (nebula_net), an IP addressing scheme</a:t>
            </a:r>
          </a:p>
          <a:p>
            <a:r>
              <a:t>                (nebula_subnet), and a Virtual Router (nebula_router) to connect to the</a:t>
            </a:r>
          </a:p>
          <a:p>
            <a:r>
              <a:t>                outside world.</a:t>
            </a:r>
          </a:p>
          <a:p>
            <a:r>
              <a:t>5. Explanation: Initializes the logical switch in the database (Control Plane).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CLI Implementation (Case Study: Nebula Inc.) (Part 2)</a:t>
            </a:r>
          </a:p>
          <a:p/>
          <a:p>
            <a:r>
              <a:t>Key Points:</a:t>
            </a:r>
          </a:p>
          <a:p>
            <a:r>
              <a:t>1. Result: A network UUID is created. OVS is not touched yet.</a:t>
            </a:r>
          </a:p>
          <a:p>
            <a:r>
              <a:t>2. Explanation:</a:t>
            </a:r>
          </a:p>
          <a:p>
            <a:r>
              <a:t>--network nebula_net: Attaches this IP logic to the switch.</a:t>
            </a:r>
          </a:p>
          <a:p>
            <a:r>
              <a:t>Result: The DHCP Agent (Data Plane) spawns a dnsmasq process</a:t>
            </a:r>
          </a:p>
          <a:p>
            <a:r>
              <a:t>                            in a namespace to serve IPs.</a:t>
            </a:r>
          </a:p>
          <a:p>
            <a:r>
              <a:t>3. Explanation: Creates a virtual router instance.</a:t>
            </a:r>
          </a:p>
          <a:p>
            <a:r>
              <a:t>4. Explanation: This is the equivalent of plugging a patch cable from the Switch</a:t>
            </a:r>
          </a:p>
          <a:p>
            <a:r>
              <a:t>                    (nebula_subnet) into the Router's LAN port.</a:t>
            </a:r>
          </a:p>
          <a:p>
            <a:r>
              <a:t>5. Result: The L3 Agent creates a generic router namespace and assigns the gateway IP</a:t>
            </a:r>
          </a:p>
          <a:p>
            <a:r>
              <a:t>                    192.168.50.1.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CLI Implementation (Case Study: Nebula Inc.) (Part 3)</a:t>
            </a:r>
          </a:p>
          <a:p/>
          <a:p>
            <a:r>
              <a:t>Key Points:</a:t>
            </a:r>
          </a:p>
          <a:p>
            <a:r>
              <a:t>1. Explanation: Connects the Router's WAN port to the Provider Network</a:t>
            </a:r>
          </a:p>
          <a:p>
            <a:r>
              <a:t>                    (public).</a:t>
            </a:r>
          </a:p>
          <a:p>
            <a:r>
              <a:t>2. Result: Enables the router to route traffic to the internet (North-South flow).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4.6 Verification</a:t>
            </a:r>
          </a:p>
          <a:p/>
          <a:p>
            <a:r>
              <a:t>Key Points:</a:t>
            </a:r>
          </a:p>
          <a:p>
            <a:r>
              <a:t>1. Log in to Horizon -&gt; Network -&gt; Network Topology. You should see the Nebula Router</a:t>
            </a:r>
          </a:p>
          <a:p>
            <a:r>
              <a:t>                creating a bridge between the Blue (Private) line and the Red (Public) line.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1)</a:t>
            </a:r>
          </a:p>
          <a:p/>
          <a:p>
            <a:r>
              <a:t>Key Points:</a:t>
            </a:r>
          </a:p>
          <a:p>
            <a:r>
              <a:t>1. SDN: Separates the "Brain" (Neutron API) from the "Muscle" (OVS/Agents).</a:t>
            </a:r>
          </a:p>
          <a:p>
            <a:r>
              <a:t>2. OVS: Uses Flow Tables to direct traffic and enforce security, replacing physical</a:t>
            </a:r>
          </a:p>
          <a:p>
            <a:r>
              <a:t>                    switch logic.</a:t>
            </a:r>
          </a:p>
          <a:p>
            <a:r>
              <a:t>3. Linux Foundations: Capabilities like Namespaces and Veth pairs are the building</a:t>
            </a:r>
          </a:p>
          <a:p>
            <a:r>
              <a:t>                    blocks of the cloud.</a:t>
            </a:r>
          </a:p>
          <a:p>
            <a:r>
              <a:t>4. Reflection:</a:t>
            </a:r>
          </a:p>
          <a:p>
            <a:r>
              <a:t>                1.</a:t>
            </a:r>
          </a:p>
          <a:p>
            <a:r>
              <a:t>5. Recall: In Week 4, we used ip netns exec.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2)</a:t>
            </a:r>
          </a:p>
          <a:p/>
          <a:p>
            <a:r>
              <a:t>Key Points:</a:t>
            </a:r>
          </a:p>
          <a:p>
            <a:r>
              <a:t>1. How does that relate to a</a:t>
            </a:r>
          </a:p>
          <a:p>
            <a:r>
              <a:t>                Neutron Router?</a:t>
            </a:r>
          </a:p>
          <a:p>
            <a:r>
              <a:t>2. 2.</a:t>
            </a:r>
          </a:p>
          <a:p>
            <a:r>
              <a:t>3. Flows: If you add a Security Group rule to allow SSH, what actually changes on the</a:t>
            </a:r>
          </a:p>
          <a:p>
            <a:r>
              <a:t>                Compute Node?</a:t>
            </a:r>
          </a:p>
          <a:p>
            <a:r>
              <a:t>4. OpenStack Neutron Guide</a:t>
            </a:r>
          </a:p>
          <a:p>
            <a:r>
              <a:t>5. AWS VPC (Virtual Private Cloud)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3)</a:t>
            </a:r>
          </a:p>
          <a:p/>
          <a:p>
            <a:r>
              <a:t>Key Points:</a:t>
            </a:r>
          </a:p>
          <a:p>
            <a:r>
              <a:t>1. Azure</a:t>
            </a:r>
          </a:p>
          <a:p>
            <a:r>
              <a:t>                        Virtual Network (VNet)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6.2 The "Standard Operating Environment" across</a:t>
            </a:r>
          </a:p>
          <a:p>
            <a:r>
              <a:t>                Clouds</a:t>
            </a:r>
          </a:p>
          <a:p/>
          <a:p>
            <a:r>
              <a:t>Key Points:</a:t>
            </a:r>
          </a:p>
          <a:p>
            <a:r>
              <a:t>1. OpenStack: You use Packer to build a QCOW2 image and upload it to</a:t>
            </a:r>
          </a:p>
          <a:p>
            <a:r>
              <a:t>                    Glance.</a:t>
            </a:r>
          </a:p>
          <a:p>
            <a:r>
              <a:t>2. AWS: You use Packer to build an AMI and upload it to</a:t>
            </a:r>
          </a:p>
          <a:p>
            <a:r>
              <a:t>                    EC2.</a:t>
            </a:r>
          </a:p>
          <a:p>
            <a:r>
              <a:t>3. Azure: You use Packer to build a VHD and upload it to</a:t>
            </a:r>
          </a:p>
          <a:p>
            <a:r>
              <a:t>                    Azure Compute Gallery.</a:t>
            </a:r>
          </a:p>
          <a:p>
            <a:r>
              <a:t>4. The Conclusion: The tool (Packer) and the workflow (Build -&gt; Validate -&gt; Upload) are</a:t>
            </a:r>
          </a:p>
          <a:p>
            <a:r>
              <a:t>                    identical; only the target file format changes.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984A"/>
                </a:solidFill>
              </a:defRPr>
            </a:pPr>
            <a:r>
              <a:t>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Cloud Foundation</a:t>
            </a:r>
          </a:p>
          <a:p>
            <a:r>
              <a:t>                        (OpenStack)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OPS3 - Virtualization and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Welcome to Week 8!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 Case Study: The "Nebula Inc." Startup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understand how a cloud is built, we will follow a continuous scenario for the next three weeks.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You</a:t>
            </a:r>
            <a:br/>
            <a:r>
              <a:t>                have been hired as the Lead Cloud Engineer for a new software startup called "Nebula</a:t>
            </a:r>
            <a:br/>
            <a:r>
              <a:t>                    Inc." Currently, they have no infrastructure—just a credit card and a dream.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Your job is to</a:t>
            </a:r>
            <a:br/>
            <a:r>
              <a:t>                build their Virtual Data Center (VDC) from scratch using OpenStack.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is not a theoretical exercise;</a:t>
            </a:r>
            <a:br/>
            <a:r>
              <a:t>                you will be typing the actual commands that cloud administrators use daily to construct the digital</a:t>
            </a:r>
            <a:br/>
            <a:r>
              <a:t>                fabric of the modern internet.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Week 8 (Foundation): You must create the secure environment. This involves setting</a:t>
            </a:r>
            <a:br/>
            <a:r>
              <a:t>                    up the company's "Tenant" (Project), hiring the staff (Users), purchasing the software licenses</a:t>
            </a:r>
            <a:br/>
            <a:r>
              <a:t>                    (Images), and cabling the office (Networking).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 Case Study: The "Nebula Inc." Startup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Week 9 (Compute): You will deploy their first web servers and secure them with</a:t>
            </a:r>
            <a:br/>
            <a:r>
              <a:t>                    firewalls.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Week 10 (Storage): You will attach persistent storage for their customer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2. Deep Dive: Identity Management (Keystone)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Authentication Workflow (The "Token Dance")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 run a command like openstack server list, a complex sequence of events, often</a:t>
            </a:r>
            <a:br/>
            <a:r>
              <a:t>                called the "Token Dance," occurs in the background before you see any output.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Figure 1: The Keystone "Token Dance" - Documenting the 7-step process of authentication and</a:t>
            </a:r>
            <a:br/>
            <a:r>
              <a:t>                    authorization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The Backend (Where are users stored?)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SQL (Local): Users are stored in the OpenStack database (MariaDB). This is the</a:t>
            </a:r>
            <a:br/>
            <a:r>
              <a:t>                    standard configuration for small deployments and our lab environment.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LDAP / Active Directory (Enterprise): In large enterprises, you do not want to</a:t>
            </a:r>
            <a:br/>
            <a:r>
              <a:t>                    create separate accounts for every system. Keystone can plug directly into the corporate Active</a:t>
            </a:r>
            <a:br/>
            <a:r>
              <a:t>                    Directory. When a user logs in, Keystone forwards the password to the Domain Controller for</a:t>
            </a:r>
            <a:br/>
            <a:r>
              <a:t>                    validation, ensuring Single Sign-On (SSO).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2.3 Token Providers (Fernet vs UUID)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UUID (Legacy): A random string stored in the Keystone Database. The problem with</a:t>
            </a:r>
            <a:br/>
            <a:r>
              <a:t>                    this method is that every validation requires a Database Lookup. In massive clouds handling</a:t>
            </a:r>
            <a:br/>
            <a:r>
              <a:t>                    10,000 requests per second, this would crush the database.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Fernet (Modern): A cryptographic token format. The token contains the User ID and</a:t>
            </a:r>
            <a:br/>
            <a:r>
              <a:t>                    Expiry Time, encrypted using a secret key held by the Keystone server. The major benefit is</a:t>
            </a:r>
            <a:br/>
            <a:r>
              <a:t>                    that Keystone does not need to store the token in a database. To validate it, it simply</a:t>
            </a:r>
            <a:br/>
            <a:r>
              <a:t>                    decrypts the token significantly reducing database load and allowing Keystone to scale infinitely.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2.4 The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Domain: A high-level container (e.g., "Default" or "Corporate_A"). Use for</a:t>
            </a:r>
            <a:br/>
            <a:r>
              <a:t>                    multi-tenant isolation.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Project (Tenant): The workspace. Resources (VMs, Networks) belong to a Project.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User: The human or service account.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Role: The permission set. A User must have a Role on a Project to do</a:t>
            </a:r>
            <a:br/>
            <a:r>
              <a:t>                   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2.5 CLI Implementation (Case Study: Nebula Inc.)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Now we apply this theory to our startup.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"Nebula Inc." requires a dedicated, isolated environment where</a:t>
            </a:r>
            <a:br/>
            <a:r>
              <a:t>                its developers can work without interfering with other departments.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OpenStack, we achieve this</a:t>
            </a:r>
            <a:br/>
            <a:r>
              <a:t>                "Multi-Tenancy" by creating a specific Project.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project will act as the container</a:t>
            </a:r>
            <a:br/>
            <a:r>
              <a:t>                for all their future VMs, networks, and storage volumes.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also allows us to set quotas (e.g., "Maximum</a:t>
            </a:r>
            <a:br/>
            <a:r>
              <a:t>                10 CPUs") to control their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2.5 CLI Implementation (Case Study: Nebula Inc.)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--domain default: Specifies that this project lives in the default domain.</a:t>
            </a:r>
            <a:br/>
            <a:r>
              <a:t>--description: Metadata for admins.</a:t>
            </a:r>
            <a:br/>
            <a:r>
              <a:t>Result: Creates a record in the projects table. Returns a UUID</a:t>
            </a:r>
            <a:br/>
            <a:r>
              <a:t>                            (e.g., a1b2c3...).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--password-prompt: Hides input for security.</a:t>
            </a:r>
            <a:br/>
            <a:r>
              <a:t>Result: Creating a user identity does NOT grant access. The user is</a:t>
            </a:r>
            <a:br/>
            <a:r>
              <a:t>                            currently "unemployed".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member: The standard permission level (can create VMs/Networks but cannot</a:t>
            </a:r>
            <a:br/>
            <a:r>
              <a:t>                            delete other users).</a:t>
            </a:r>
            <a:br/>
            <a:r>
              <a:t>Result: Creates a row in the role_assignments table linking</a:t>
            </a:r>
            <a:br/>
            <a:r>
              <a:t>                            User+Project+Role.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2.6 Identity Verification &amp; Management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a production cloud, security is an ongoing process, not a one-time setup.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"Principle of Least</a:t>
            </a:r>
            <a:br/>
            <a:r>
              <a:t>                Privilege" dictates that we must continuously verify that only the correct people have access to our</a:t>
            </a:r>
            <a:br/>
            <a:r>
              <a:t>                sensitive data.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Simply listing the users in the system is insufficient; a user might exist but have no</a:t>
            </a:r>
            <a:br/>
            <a:r>
              <a:t>                access to anything.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audit this, we must inspect the Role Assignments.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--names: Resolves UUIDs to human-readable names.</a:t>
            </a:r>
            <a:br/>
            <a:r>
              <a:t>Result: Displays exactly which project the user can access and with what</a:t>
            </a:r>
            <a:br/>
            <a:r>
              <a:t>                            level of authority.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2.6 Identity Verification &amp; Management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Disabling a User:</a:t>
            </a:r>
            <a:br/>
            <a:r>
              <a:t>                        bash</a:t>
            </a:r>
            <a:br/>
            <a:r>
              <a:t>    openstack user set --disable nebula_admin</a:t>
            </a:r>
            <a:br/>
            <a:br/>
            <a:br/>
            <a:r>
              <a:t>Explanation: Sets enabled=False in the DB. The user cannot</a:t>
            </a:r>
            <a:br/>
            <a:r>
              <a:t>                            request new tokens.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Keystone: The core authentication and authorization service; without it, nothing</a:t>
            </a:r>
            <a:br/>
            <a:r>
              <a:t>                    works.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Fernet Tokens: Modern, stateless tokens that improve performance by removing</a:t>
            </a:r>
            <a:br/>
            <a:r>
              <a:t>                    database lookups.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Role Assignments: The critical link that grants a User permission on a Project.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Reflection:</a:t>
            </a:r>
            <a:br/>
            <a:r>
              <a:t>                1.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do we use tokens (like Fernet) instead of just passing the username/password to every service?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(Hint: Performance and Security).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delete a user, their history disappears.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 Keystone Guide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 Identity and Access Management (IAM)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Microsoft Entra ID (Azure AD)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3. Deep Dive: Image Management (Glance)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3.1 Understanding Disk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QCOW2 (QEMU Copy On Write) is the standard format for OpenStack.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supports compression</a:t>
            </a:r>
            <a:br/>
            <a:r>
              <a:t>                and "Thin Provisioning," meaning a 10GB drive with only 100MB of data takes up only 100MB of physical</a:t>
            </a:r>
            <a:br/>
            <a:r>
              <a:t>                space.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Crucially, it logic enables snapshot capabilities, allowing you to save the state of a VM</a:t>
            </a:r>
            <a:br/>
            <a:r>
              <a:t>                instantly.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3.2 Glance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Glance API: The front-end service that accepts user requests (e.g., "Upload this</a:t>
            </a:r>
            <a:br/>
            <a:r>
              <a:t>                    image", "List images"). It verifies the user's token with Keystone before proceeding.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Glance Registry: An internal service that stores the metadata about images</a:t>
            </a:r>
            <a:br/>
            <a:r>
              <a:t>                    (Name, Size, Format, Owner) in the SQL database.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Backend Store: The driver responsible for storing the actual binary data</a:t>
            </a:r>
            <a:br/>
            <a:r>
              <a:t>                    (the heavy bits). While this can be a local file system (/var/lib/glance), production</a:t>
            </a:r>
            <a:br/>
            <a:r>
              <a:t>                    clouds typically use a distributed storage cluster like Ceph or an object store</a:t>
            </a:r>
            <a:br/>
            <a:r>
              <a:t>                    like AWS S3 to ensure data durability and accessibility across all compute nodes.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3.3 CLI Implementation (Case Study: Nebula Inc.)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For any software company, consistency is key.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cannot have one developer running Ubuntu 20.04 and</a:t>
            </a:r>
            <a:br/>
            <a:r>
              <a:t>                another running Fedora 35, as this leads to the infamous "it works on my machine" problem.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solve</a:t>
            </a:r>
            <a:br/>
            <a:r>
              <a:t>                this, Nebula Inc.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enforces a Standard Operating Environment (SOE).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will upload a</a:t>
            </a:r>
            <a:br/>
            <a:r>
              <a:t>                "Golden Image"—a pre-approved, security-hardened operating system template that all staff must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3.3 CLI Implementation (Case Study: Nebula Inc.)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We assume we are on the "Jumpbox" or Controller node. Browsers cannot</a:t>
            </a:r>
            <a:br/>
            <a:r>
              <a:t>                    upload directly to Glance CLI; the file must exist locally.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3.4 Managing Images (Day 2 Operations)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Returns a table of available images.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Checks ID, Name, and Status. Status should be active. If</a:t>
            </a:r>
            <a:br/>
            <a:r>
              <a:t>                    status is queued, the upload failed.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Adds a custom key-value pair to the image metadata. The Scheduler use</a:t>
            </a:r>
            <a:br/>
            <a:r>
              <a:t>                    this to ensure the VM lands on Intel hardware, not ARM.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The Glance Registry is updated; the actual file is untouched.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Marks the image for deletion.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3.4 Managing Images (Day 2 Operations)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The metadata is removed from the Registry, and the backend storage driver</a:t>
            </a:r>
            <a:br/>
            <a:r>
              <a:t>                    (Ceph/File) is instructed to free the space.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Glance: The image repository that provides boot disks to Nova.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QCOW2: The preferred format for cloud images due to thin provisioning and snapshot</a:t>
            </a:r>
            <a:br/>
            <a:r>
              <a:t>                    support.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SOE: Standard Operating Environment ensuring consistency across all machines.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Reflection:</a:t>
            </a:r>
            <a:br/>
            <a:r>
              <a:t>                1.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have a slow 1Gb link interconnecting your data centers, which image format (RAW or QCOW2)</a:t>
            </a:r>
            <a:br/>
            <a:r>
              <a:t>                would be faster to replicate?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is it dangerous to make every image --public?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 Glance Guide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 AMIs (Amazon Machine</a:t>
            </a:r>
            <a:br/>
            <a:r>
              <a:t>                        Images)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                        Compute Gallery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Deep Dive: Networking (Neutron)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4.1 What is SDN (Software Defined Networking)?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Network Engineers often rely on physical switches and routers to move traffic.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the cloud, we</a:t>
            </a:r>
            <a:br/>
            <a:r>
              <a:t>                virtualize this entirely using Software Defined Networking (SDN).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core concept of</a:t>
            </a:r>
            <a:br/>
            <a:r>
              <a:t>                SDN is the separation of the Control Plane (The Brain) from the Data</a:t>
            </a:r>
            <a:br/>
            <a:r>
              <a:t>                    Plane (The Muscle).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Control Plane (Neutron API/Server) acts as the brain of the operation.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</a:t>
            </a:r>
            <a:br/>
            <a:r>
              <a:t>                execute a command to create a network or open port 80, you are communicating with the Control Plane.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4.1 What is SDN (Software Defined Networking)?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</a:t>
            </a:r>
            <a:br/>
            <a:r>
              <a:t>                calculates the necessary logic and updates the state of the cloud database, but it does not touch a</a:t>
            </a:r>
            <a:br/>
            <a:r>
              <a:t>                single network packet itself.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Data Plane (OVS Agent/L2 Agent) sits on every compute node and acts as the muscle.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receives instructions from the Control Plane via a message bus (RabbitMQ) and implements them by</a:t>
            </a:r>
            <a:br/>
            <a:r>
              <a:t>                programming the local virtual switch.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is the actual software responsible for moving packets from your</a:t>
            </a:r>
            <a:br/>
            <a:r>
              <a:t>                VM to the physical network card.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4.2 The Virtual Switch: Open vSwitch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a physical rack, servers plug into a top-of-rack switch.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OpenStack, VMs plug into a virtual switch</a:t>
            </a:r>
            <a:br/>
            <a:r>
              <a:t>                called Open vSwitch (OVS).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a standard unmanaged switch that simply learns MAC</a:t>
            </a:r>
            <a:br/>
            <a:r>
              <a:t>                addresses, OVS is a production-quality, multilayer virtual switch that uses Flow</a:t>
            </a:r>
            <a:br/>
            <a:r>
              <a:t>                    Tables.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 Flow Table is a list of programmable rules that match specific packets (e.g., "If</a:t>
            </a:r>
            <a:br/>
            <a:r>
              <a:t>                source IP is A and dest IP is B...") and applies specific actions (e.g., "...drop packet" or "...tag</a:t>
            </a:r>
            <a:br/>
            <a:r>
              <a:t>                with VLAN 100").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Neutron programs these flow tables dynamically to implement sophisticated features like</a:t>
            </a:r>
            <a:br/>
            <a:r>
              <a:t>                Security Groups (Distributed Firewalls) and Virtual Routing.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4.3 Under the Hood: The Linux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Isolation = Namespaces: When you create a Router or a DHCP server, Neutron creates</a:t>
            </a:r>
            <a:br/>
            <a:r>
              <a:t>                    a Linux Network Namespace (ip netns). This allows Project A and</a:t>
            </a:r>
            <a:br/>
            <a:r>
              <a:t>                    Project B to both use "192.168.0.1" without conflict; they live in parallel, isolated universes.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Cabling = Veth Pairs: When a VM "plugs in" to the OVS Bridge, Neutron creates a</a:t>
            </a:r>
            <a:br/>
            <a:r>
              <a:t>                    Virtual Ethernet (veth) pair. One end connects to the VM's interface (inside KVM),</a:t>
            </a:r>
            <a:br/>
            <a:r>
              <a:t>                    and the other connects to the OVS Bridge.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4.4 Flow of Traffic (North-South vs East-West)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East-West Traffic refers to communication between VMs inside the same cloud</a:t>
            </a:r>
            <a:br/>
            <a:r>
              <a:t>                environment (e.g., Web Server A talking to Database Server B).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Ideally, this traffic should never leave</a:t>
            </a:r>
            <a:br/>
            <a:r>
              <a:t>                the virtual infrastructure.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flows from the source VM, through the local OVS Bridge, and is typically</a:t>
            </a:r>
            <a:br/>
            <a:r>
              <a:t>                encapsulated in a tunnel protocol like VXLAN to cross the physical network before</a:t>
            </a:r>
            <a:br/>
            <a:r>
              <a:t>                arriving at the destination compute node.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North-South Traffic refers to communication entering or leaving the cloud (e.g., a User</a:t>
            </a:r>
            <a:br/>
            <a:r>
              <a:t>                accessing your Web Server from the Internet).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traffic must leave the virtual overlay network.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4.4 Flow of Traffic (North-South vs East-West)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</a:t>
            </a:r>
            <a:br/>
            <a:r>
              <a:t>                passes through the Neutron Router (which lives inside a Network Namespace), undergoes</a:t>
            </a:r>
            <a:br/>
            <a:r>
              <a:t>                SNAT (Source NAT) to mask its private IP, and exits via the external provider network</a:t>
            </a:r>
            <a:br/>
            <a:r>
              <a:t>                gateway.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4.5 CLI Implementation (Case Study: Nebula Inc.)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Now that we understand the theory of pipelines and flows, it is time to build.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Nebula Inc.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requires a</a:t>
            </a:r>
            <a:br/>
            <a:r>
              <a:t>                private, isolated network segment where their web servers can communicate safely.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will construct a</a:t>
            </a:r>
            <a:br/>
            <a:r>
              <a:t>                topology consisting of a private Virtual Switch (nebula_net), an IP addressing scheme</a:t>
            </a:r>
            <a:br/>
            <a:r>
              <a:t>                (nebula_subnet), and a Virtual Router (nebula_router) to connect to the</a:t>
            </a:r>
            <a:br/>
            <a:r>
              <a:t>                outside world.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Initializes the logical switch in the database (Control Plane).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4.5 CLI Implementation (Case Study: Nebula Inc.)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A network UUID is created. OVS is not touched yet.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--network nebula_net: Attaches this IP logic to the switch.</a:t>
            </a:r>
            <a:br/>
            <a:r>
              <a:t>Result: The DHCP Agent (Data Plane) spawns a dnsmasq process</a:t>
            </a:r>
            <a:br/>
            <a:r>
              <a:t>                            in a namespace to serve IPs.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Creates a virtual router instance.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This is the equivalent of plugging a patch cable from the Switch</a:t>
            </a:r>
            <a:br/>
            <a:r>
              <a:t>                    (nebula_subnet) into the Router's LAN port.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The L3 Agent creates a generic router namespace and assigns the gateway IP</a:t>
            </a:r>
            <a:br/>
            <a:r>
              <a:t>                    192.168.50.1.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4.5 CLI Implementation (Case Study: Nebula Inc.)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Connects the Router's WAN port to the Provider Network</a:t>
            </a:r>
            <a:br/>
            <a:r>
              <a:t>                    (public).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Enables the router to route traffic to the internet (North-South flow).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4.6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Log in to Horizon -&gt; Network -&gt; Network Topology. You should see the Nebula Router</a:t>
            </a:r>
            <a:br/>
            <a:r>
              <a:t>                creating a bridge between the Blue (Private) line and the Red (Public) 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SDN: Separates the "Brain" (Neutron API) from the "Muscle" (OVS/Agents).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OVS: Uses Flow Tables to direct traffic and enforce security, replacing physical</a:t>
            </a:r>
            <a:br/>
            <a:r>
              <a:t>                    switch logic.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Linux Foundations: Capabilities like Namespaces and Veth pairs are the building</a:t>
            </a:r>
            <a:br/>
            <a:r>
              <a:t>                    blocks of the cloud.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Reflection:</a:t>
            </a:r>
            <a:br/>
            <a:r>
              <a:t>                1.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Recall: In Week 4, we used ip netns exec.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that relate to a</a:t>
            </a:r>
            <a:br/>
            <a:r>
              <a:t>                Neutron Router?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Flows: If you add a Security Group rule to allow SSH, what actually changes on the</a:t>
            </a:r>
            <a:br/>
            <a:r>
              <a:t>                Compute Node?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 Neutron Guide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 VPC (Virtual Private Cloud)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                        Virtual Network (VNet)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6. Industry Comparison: The "Polyglot" Cloud</a:t>
            </a:r>
          </a:p>
          <a:p>
            <a:r>
              <a:t>                Engineer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6.1 Concept Mapping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6.2 The "Standard Operating Environment" across</a:t>
            </a:r>
          </a:p>
          <a:p>
            <a:r>
              <a:t>               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OpenStack: You use Packer to build a QCOW2 image and upload it to</a:t>
            </a:r>
            <a:br/>
            <a:r>
              <a:t>                    Glance.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AWS: You use Packer to build an AMI and upload it to</a:t>
            </a:r>
            <a:br/>
            <a:r>
              <a:t>                    EC2.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Azure: You use Packer to build a VHD and upload it to</a:t>
            </a:r>
            <a:br/>
            <a:r>
              <a:t>                    Azure Compute Gallery.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Conclusion: The tool (Packer) and the workflow (Build -&gt; Validate -&gt; Upload) are</a:t>
            </a:r>
            <a:br/>
            <a:r>
              <a:t>                    identical; only the target file format changes.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7. Summary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Lab Exercises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