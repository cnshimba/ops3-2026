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1.1 Examining Storage</a:t>
            </a:r>
          </a:p>
          <a:p/>
          <a:p>
            <a:r>
              <a:t>Key Points:</a:t>
            </a:r>
          </a:p>
          <a:p>
            <a:r>
              <a:t>1. One of the most powerful diagnostic tools in Linux is lsblk (List Block Devices), which provides a visual tree representation of all connected storage devices.</a:t>
            </a:r>
          </a:p>
          <a:p>
            <a:r>
              <a:t>2. When you run this command in the terminal, it displays a hierarchical view that shows physical disks, their partitions, and any logical volumes built on top of them.</a:t>
            </a:r>
          </a:p>
          <a:p>
            <a:r>
              <a:t>3. This tree structure makes it immediately clear which partitions belong to which disks and how storage is organized across the system.</a:t>
            </a:r>
          </a:p>
          <a:p>
            <a:r>
              <a:t>4. For administrators managing Proxmox servers, lsblk is indispensable for quickly understanding storage topology without needing to parse complex configuration files.</a:t>
            </a:r>
          </a:p>
          <a:p>
            <a:r>
              <a:t>5. The diagram below illustrates how Linux represents different types of storage devices and their partition schemes: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 Managing Partitions (fdisk)</a:t>
            </a:r>
          </a:p>
          <a:p/>
          <a:p>
            <a:r>
              <a:t>Key Points:</a:t>
            </a:r>
          </a:p>
          <a:p>
            <a:r>
              <a:t>1. To create a formatted space on a disk, we use fdisk or parted.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Checkpoint</a:t>
            </a:r>
          </a:p>
          <a:p/>
          <a:p>
            <a:r>
              <a:t>Key Points:</a:t>
            </a:r>
          </a:p>
          <a:p>
            <a:r>
              <a:t>1. Summary: Linux treats disks as Block Devices (such as /dev/sda), and the lsblk command visualizes the storage hierarchy in a tree format while fdisk is used to create partitions.</a:t>
            </a:r>
          </a:p>
          <a:p>
            <a:r>
              <a:t>2. It is important to understand that Proxmox needs the underlying operating system to recognize and manage the disk before it can use it for virtual machine storage.</a:t>
            </a:r>
          </a:p>
          <a:p>
            <a:r>
              <a:t>3. Arch Wiki: Fdisk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2.1 The LVM Hierarchy</a:t>
            </a:r>
          </a:p>
          <a:p/>
          <a:p>
            <a:r>
              <a:t>Key Points:</a:t>
            </a:r>
          </a:p>
          <a:p>
            <a:r>
              <a:t>1. The hierarchy consists of three layers.</a:t>
            </a:r>
          </a:p>
          <a:p>
            <a:r>
              <a:t>2. At the foundation is the Physical Volume (PV), which represents the actual disk or partition (for example, /dev/sdb).</a:t>
            </a:r>
          </a:p>
          <a:p>
            <a:r>
              <a:t>3. These physical volumes are then combined into a Volume Group (VG), which acts as a unified storage pool—for instance, a data_pool might aggregate multiple drives to provide 500GB of total capacity.</a:t>
            </a:r>
          </a:p>
          <a:p>
            <a:r>
              <a:t>4. Finally, Logical Volumes (LV) are carved out from the volume group and allocated for specific uses, such as vm-100-disk for a virtual machine.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2.2 Hands-On LVM Commands</a:t>
            </a:r>
          </a:p>
          <a:p/>
          <a:p>
            <a:r>
              <a:t>Key Points:</a:t>
            </a:r>
          </a:p>
          <a:p>
            <a:r>
              <a:t>1. Proxmox uses LVM extensively. Here is how you manage it manually.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Checkpoint</a:t>
            </a:r>
          </a:p>
          <a:p/>
          <a:p>
            <a:r>
              <a:t>Key Points:</a:t>
            </a:r>
          </a:p>
          <a:p>
            <a:r>
              <a:t>1. Red Hat LVM Administration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3.1 Why ZFS? (Part 1)</a:t>
            </a:r>
          </a:p>
          <a:p/>
          <a:p>
            <a:r>
              <a:t>Key Points:</a:t>
            </a:r>
          </a:p>
          <a:p>
            <a:r>
              <a:t>1. Copy-on-Write (CoW) is one of ZFS's foundational design principles.</a:t>
            </a:r>
          </a:p>
          <a:p>
            <a:r>
              <a:t>2. When you edit a file, ZFS does not overwrite the old data in place.</a:t>
            </a:r>
          </a:p>
          <a:p>
            <a:r>
              <a:t>3. Instead, it writes the new data to a fresh block on the disk and then updates the pointer to reference the new location.</a:t>
            </a:r>
          </a:p>
          <a:p>
            <a:r>
              <a:t>4. The benefit of this approach is profound: if power fails during a write operation, the old data remains valid and intact.</a:t>
            </a:r>
          </a:p>
          <a:p>
            <a:r>
              <a:t>5. There is no corruption because the original block is never destroyed until the write is confirmed to be successful.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3.1 Why ZFS? (Part 2)</a:t>
            </a:r>
          </a:p>
          <a:p/>
          <a:p>
            <a:r>
              <a:t>Key Points:</a:t>
            </a:r>
          </a:p>
          <a:p>
            <a:r>
              <a:t>1. Self-Healing is another critical feature of ZFS.</a:t>
            </a:r>
          </a:p>
          <a:p>
            <a:r>
              <a:t>2. The filesystem stores a cryptographic checksum (a digital fingerprint) for every block of data.</a:t>
            </a:r>
          </a:p>
          <a:p>
            <a:r>
              <a:t>3. If a cosmic ray flips a bit on your drive—an event known as bit rot—ZFS detects the mismatch between the data and its checksum.</a:t>
            </a:r>
          </a:p>
          <a:p>
            <a:r>
              <a:t>4. If redundancy exists (such as in a mirrored or RAID-Z configuration), ZFS automatically repairs the corrupted block by restoring it from a valid copy.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3.2 Basic ZFS Commands</a:t>
            </a:r>
          </a:p>
          <a:p/>
          <a:p>
            <a:r>
              <a:t>Key Points:</a:t>
            </a:r>
          </a:p>
          <a:p>
            <a:r>
              <a:t>1. Proxmox installs ZFS tools by default.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3.3 The Power of Instant Snapshots</a:t>
            </a:r>
          </a:p>
          <a:p/>
          <a:p>
            <a:r>
              <a:t>Key Points:</a:t>
            </a:r>
          </a:p>
          <a:p>
            <a:r>
              <a:t>1. The Copy-on-Write architecture unlocks one of ZFS's most remarkable capabilities: instantaneous snapshots.</a:t>
            </a:r>
          </a:p>
          <a:p>
            <a:r>
              <a:t>2. Unlike traditional backup systems that must copy gigabytes or terabytes of data (a process that can take hours), a ZFS snapshot is merely a metadata operation—a lightweight bookmark that marks the current state of the filesystem.</a:t>
            </a:r>
          </a:p>
          <a:p>
            <a:r>
              <a:t>3. When you create a snapshot, ZFS doesn't duplicate any data blocks; it simply freezes a reference point in time.</a:t>
            </a:r>
          </a:p>
          <a:p>
            <a:r>
              <a:t>4. The snapshot consumes zero disk space initially because it shares all its data blocks with the current filesystem.</a:t>
            </a:r>
          </a:p>
          <a:p>
            <a:r>
              <a:t>5. Only when data begins to change does the snapshot start consuming space, as ZFS preserves the old blocks that the snapshot references while writing new data to fresh locations.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Checkpoint</a:t>
            </a:r>
          </a:p>
          <a:p/>
          <a:p>
            <a:r>
              <a:t>Key Points:</a:t>
            </a:r>
          </a:p>
          <a:p>
            <a:r>
              <a:t>1. Summary: ZFS is a next-generation filesystem with RAID, Copy-on-Write, and checksumming built directly into its architecture.</a:t>
            </a:r>
          </a:p>
          <a:p>
            <a:r>
              <a:t>2. Its self-healing capability detects and fixes silent data corruption (commonly known as bit rot), while snapshots are instantaneous and consume zero space initially due to the Copy-on-Write mechanism.</a:t>
            </a:r>
          </a:p>
          <a:p>
            <a:r>
              <a:t>3. OpenZFS Documentation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4.1 Raw (.raw)</a:t>
            </a:r>
          </a:p>
          <a:p/>
          <a:p>
            <a:r>
              <a:t>Key Points:</a:t>
            </a:r>
          </a:p>
          <a:p>
            <a:r>
              <a:t>1. The Raw disk format is effectively a bit-for-bit representation of a hard drive without any additional metadata or container structure.</a:t>
            </a:r>
          </a:p>
          <a:p>
            <a:r>
              <a:t>2. Because it lacks a translation layer, the file is read and written directly to the underlying block device, making it the most performant option available.</a:t>
            </a:r>
          </a:p>
          <a:p>
            <a:r>
              <a:t>3. However, this simplicity comes at a cost; creating a 100GB Raw disk immediately consumes 100GB of physical space (unless sparse provisioning is strictly enforced), and it does not support advanced features like internal snapshots.</a:t>
            </a:r>
          </a:p>
          <a:p>
            <a:r>
              <a:t>4. If you require snapshot capabilities with Raw disks, you must rely on the underlying storage system, such as LVM-Thin or ZFS, to handle them.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4.2 QCOW2 (QEMU Copy On Write)</a:t>
            </a:r>
          </a:p>
          <a:p/>
          <a:p>
            <a:r>
              <a:t>Key Points:</a:t>
            </a:r>
          </a:p>
          <a:p>
            <a:r>
              <a:t>1. QCOW2 is a functional, feature-rich format designed specifically for the QEMU emulator.</a:t>
            </a:r>
          </a:p>
          <a:p>
            <a:r>
              <a:t>2. Unlike Raw, it acts as an intelligent container that creates a layer of abstraction between the VM and the physical disk.</a:t>
            </a:r>
          </a:p>
          <a:p>
            <a:r>
              <a:t>3. This allows for powerful features such as internal snapshots, transparent compression, and encryption directly within the file itself.</a:t>
            </a:r>
          </a:p>
          <a:p>
            <a:r>
              <a:t>4. While this abstraction layer introduces a minor performance overhead compared to Raw, the flexibility it offers—particularly the ability to grow the disk file dynamically as data is added—makes it the standard choice for file-based storage backends like NFS or local directories.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4.3 Summary Comparison (Part 1)</a:t>
            </a:r>
          </a:p>
          <a:p/>
          <a:p>
            <a:r>
              <a:t>Key Points:</a:t>
            </a:r>
          </a:p>
          <a:p>
            <a:r>
              <a:t>1. Raw: Fast, pre-allocated, simple. Good for Ceph/LVM.</a:t>
            </a:r>
          </a:p>
          <a:p>
            <a:r>
              <a:t>2. QCOW2: Flexible, thin-provisioned, internal snapshots. Good for Directory/NFS.</a:t>
            </a:r>
          </a:p>
          <a:p>
            <a:r>
              <a:t>3. Trade-off is usually Performance vs Flexibility.</a:t>
            </a:r>
          </a:p>
          <a:p>
            <a:r>
              <a:t>4. Why can't you take an internal snapshot on a Raw disk?</a:t>
            </a:r>
          </a:p>
          <a:p>
            <a:r>
              <a:t>5. How does "sparse provisioning" differ from "thin provisioning"?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4.3 Summary Comparison (Part 2)</a:t>
            </a:r>
          </a:p>
          <a:p/>
          <a:p>
            <a:r>
              <a:t>Key Points:</a:t>
            </a:r>
          </a:p>
          <a:p>
            <a:r>
              <a:t>1. QEMU Disk Images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984A"/>
                </a:solidFill>
              </a:defRPr>
            </a:pPr>
            <a: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Storage and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OPS3 - Virtualization and Cloud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9984A"/>
                </a:solidFill>
              </a:defRPr>
            </a:pPr>
            <a:r>
              <a:t>What You Will Learn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Understand welcome to week 4!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Understand what you'll learn this week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Understand 1. block devices and partitions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Understand 2. logical volume manager (lvm)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Understand 3. zfs: the enterprise standard (new material)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Understand 4. virtual disk formats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Welcome to Week 4!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What You'll Learn This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1. Block Devices and Partitions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1.1 Examining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One of the most powerful diagnostic tools in Linux is lsblk (List Block Devices), which provides a visual tree representation of all connected storage devices.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When you run this command in the terminal, it displays a hierarchical view that shows physical disks, their partitions, and any logical volumes built on top of them.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This tree structure makes it immediately clear which partitions belong to which disks and how storage is organized across the system.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For administrators managing Proxmox servers, lsblk is indispensable for quickly understanding storage topology without needing to parse complex configuration files.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diagram below illustrates how Linux represents different types of storage devices and their partition schemes: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1.2 Managing Partitions (fdisk)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To create a formatted space on a disk, we use fdisk or parted.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1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Summary: Linux treats disks as Block Devices (such as /dev/sda), and the lsblk command visualizes the storage hierarchy in a tree format while fdisk is used to create partitions.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is important to understand that Proxmox needs the underlying operating system to recognize and manage the disk before it can use it for virtual machine storage.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Arch Wiki: Fdisk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2. Logical Volume Manager (LVM)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2.1 The LVM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hierarchy consists of three layers.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At the foundation is the Physical Volume (PV), which represents the actual disk or partition (for example, /dev/sdb).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These physical volumes are then combined into a Volume Group (VG), which acts as a unified storage pool—for instance, a data_pool might aggregate multiple drives to provide 500GB of total capacity.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Finally, Logical Volumes (LV) are carved out from the volume group and allocated for specific uses, such as vm-100-disk for a virtual machine.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2.2 Hands-On LVM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Proxmox uses LVM extensively. Here is how you manage it manually.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2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Red Hat LVM Administration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3. ZFS: The Enterprise Standard (New Material)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3.1 Why ZFS?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Copy-on-Write (CoW) is one of ZFS's foundational design principles.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When you edit a file, ZFS does not overwrite the old data in place.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Instead, it writes the new data to a fresh block on the disk and then updates the pointer to reference the new location.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benefit of this approach is profound: if power fails during a write operation, the old data remains valid and intact.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There is no corruption because the original block is never destroyed until the write is confirmed to be successful.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3.1 Why ZFS?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Self-Healing is another critical feature of ZFS.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filesystem stores a cryptographic checksum (a digital fingerprint) for every block of data.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If a cosmic ray flips a bit on your drive—an event known as bit rot—ZFS detects the mismatch between the data and its checksum.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If redundancy exists (such as in a mirrored or RAID-Z configuration), ZFS automatically repairs the corrupted block by restoring it from a valid copy.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3.2 Basic ZFS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Proxmox installs ZFS tools by default.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3.3 The Power of Instant Snapshots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Copy-on-Write architecture unlocks one of ZFS's most remarkable capabilities: instantaneous snapshots.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Unlike traditional backup systems that must copy gigabytes or terabytes of data (a process that can take hours), a ZFS snapshot is merely a metadata operation—a lightweight bookmark that marks the current state of the filesystem.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When you create a snapshot, ZFS doesn't duplicate any data blocks; it simply freezes a reference point in time.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snapshot consumes zero disk space initially because it shares all its data blocks with the current filesystem.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Only when data begins to change does the snapshot start consuming space, as ZFS preserves the old blocks that the snapshot references while writing new data to fresh locations.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3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Summary: ZFS is a next-generation filesystem with RAID, Copy-on-Write, and checksumming built directly into its architecture.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Its self-healing capability detects and fixes silent data corruption (commonly known as bit rot), while snapshots are instantaneous and consume zero space initially due to the Copy-on-Write mechanism.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OpenZFS Documentation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4. Virtual Disk Formats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4.1 Raw (.raw)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Raw disk format is effectively a bit-for-bit representation of a hard drive without any additional metadata or container structure.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Because it lacks a translation layer, the file is read and written directly to the underlying block device, making it the most performant option available.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However, this simplicity comes at a cost; creating a 100GB Raw disk immediately consumes 100GB of physical space (unless sparse provisioning is strictly enforced), and it does not support advanced features like internal snapshots.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If you require snapshot capabilities with Raw disks, you must rely on the underlying storage system, such as LVM-Thin or ZFS, to handle them.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4.2 QCOW2 (QEMU Copy On Write)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QCOW2 is a functional, feature-rich format designed specifically for the QEMU emulator.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Unlike Raw, it acts as an intelligent container that creates a layer of abstraction between the VM and the physical disk.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This allows for powerful features such as internal snapshots, transparent compression, and encryption directly within the file itself.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While this abstraction layer introduces a minor performance overhead compared to Raw, the flexibility it offers—particularly the ability to grow the disk file dynamically as data is added—makes it the standard choice for file-based storage backends like NFS or local directories.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4.3 Summary Comparison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Raw: Fast, pre-allocated, simple. Good for Ceph/LVM.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QCOW2: Flexible, thin-provisioned, internal snapshots. Good for Directory/NFS.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Trade-off is usually Performance vs Flexibility.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Why can't you take an internal snapshot on a Raw disk?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How does "sparse provisioning" differ from "thin provisioning"?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4.3 Summary Comparison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QEMU Disk Images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8. Additional Resources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9. Lab Exercises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