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146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Nshimba" userId="e06bf0a8-66a3-4fef-9042-c2f2bbc83d08" providerId="ADAL" clId="{C6F438E5-BB3B-49A9-B870-654235C6F34B}"/>
    <pc:docChg chg="modSld">
      <pc:chgData name="Carlos Nshimba" userId="e06bf0a8-66a3-4fef-9042-c2f2bbc83d08" providerId="ADAL" clId="{C6F438E5-BB3B-49A9-B870-654235C6F34B}" dt="2026-01-01T00:14:39.699" v="36" actId="20577"/>
      <pc:docMkLst>
        <pc:docMk/>
      </pc:docMkLst>
      <pc:sldChg chg="modSp mod">
        <pc:chgData name="Carlos Nshimba" userId="e06bf0a8-66a3-4fef-9042-c2f2bbc83d08" providerId="ADAL" clId="{C6F438E5-BB3B-49A9-B870-654235C6F34B}" dt="2026-01-01T00:14:39.699" v="36" actId="20577"/>
        <pc:sldMkLst>
          <pc:docMk/>
          <pc:sldMk cId="0" sldId="257"/>
        </pc:sldMkLst>
        <pc:spChg chg="mod">
          <ac:chgData name="Carlos Nshimba" userId="e06bf0a8-66a3-4fef-9042-c2f2bbc83d08" providerId="ADAL" clId="{C6F438E5-BB3B-49A9-B870-654235C6F34B}" dt="2026-01-01T00:14:39.699" v="36" actId="20577"/>
          <ac:spMkLst>
            <pc:docMk/>
            <pc:sldMk cId="0" sldId="257"/>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764779-0D0B-44FE-ACF3-60CA8269C239}" type="datetimeFigureOut">
              <a:rPr lang="en-ZA" smtClean="0"/>
              <a:t>2026/01/01</a:t>
            </a:fld>
            <a:endParaRPr lang="en-Z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5042D6-DBB4-47E9-ACFF-B58E13219F1A}" type="slidenum">
              <a:rPr lang="en-ZA" smtClean="0"/>
              <a:t>‹#›</a:t>
            </a:fld>
            <a:endParaRPr lang="en-ZA"/>
          </a:p>
        </p:txBody>
      </p:sp>
    </p:spTree>
    <p:extLst>
      <p:ext uri="{BB962C8B-B14F-4D97-AF65-F5344CB8AC3E}">
        <p14:creationId xmlns:p14="http://schemas.microsoft.com/office/powerpoint/2010/main" val="688470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 The Concept of Abstraction (Part 1)</a:t>
            </a:r>
          </a:p>
          <a:p>
            <a:endParaRPr/>
          </a:p>
          <a:p>
            <a:r>
              <a:t>Key Points:</a:t>
            </a:r>
          </a:p>
          <a:p>
            <a:r>
              <a:t>1. The fundamental principle underlying virtualization is abstraction.</a:t>
            </a:r>
          </a:p>
          <a:p>
            <a:r>
              <a:t>2. In traditional computing, an operating system has direct control over the physical hardware.</a:t>
            </a:r>
          </a:p>
          <a:p>
            <a:r>
              <a:t>3. The OS kernel communicates with the CPU, manages physical memory, controls disk I/O operations, and handles network communication through direct interaction with hardware devices.</a:t>
            </a:r>
          </a:p>
          <a:p>
            <a:r>
              <a:t>4. This tight coupling between the operating system and hardware creates limitations, particularly the one-to-one relationship between a physical machine and the operating system it runs.</a:t>
            </a:r>
          </a:p>
          <a:p>
            <a:r>
              <a:t>5. Virtualization breaks this constraint by introducing an intermediary software layer called a hypervisor.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 The Concept of Abstraction (Part 2)</a:t>
            </a:r>
          </a:p>
          <a:p>
            <a:endParaRPr/>
          </a:p>
          <a:p>
            <a:r>
              <a:t>Key Points:</a:t>
            </a:r>
          </a:p>
          <a:p>
            <a:r>
              <a:t>1. The hypervisor sits between the physical hardware and the operating systems, presenting virtualized hardware resources to each guest operating system.</a:t>
            </a:r>
          </a:p>
          <a:p>
            <a:r>
              <a:t>2. To the guest OS, these virtual resources appear identical to physical hardware.</a:t>
            </a:r>
          </a:p>
          <a:p>
            <a:r>
              <a:t>3. The guest OS remains unaware that it is running in a virtual environment rather than on dedicated physical hardware.</a:t>
            </a:r>
          </a:p>
          <a:p>
            <a:r>
              <a:t>4. This deception is the essence of virtualization and enables multiple operating systems to coexist on the same physical platform.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 Historical Context and Evolution (Part 1)</a:t>
            </a:r>
          </a:p>
          <a:p>
            <a:endParaRPr/>
          </a:p>
          <a:p>
            <a:r>
              <a:t>Key Points:</a:t>
            </a:r>
          </a:p>
          <a:p>
            <a:r>
              <a:t>1. Virtualization is not a new concept.</a:t>
            </a:r>
          </a:p>
          <a:p>
            <a:r>
              <a:t>2. IBM developed the first virtualization systems in the 1960s for their mainframe computers, enabling multiple users to share expensive hardware resources efficiently.</a:t>
            </a:r>
          </a:p>
          <a:p>
            <a:r>
              <a:t>3. However, virtualization in the x86 architecture, which dominates modern computing, faced significant technical challenges.</a:t>
            </a:r>
          </a:p>
          <a:p>
            <a:r>
              <a:t>4. The x86 architecture was not originally designed with virtualization in mind, making it difficult to virtualize efficiently.</a:t>
            </a:r>
          </a:p>
          <a:p>
            <a:r>
              <a:t>5. This changed dramatically in 2005-2006 when Intel and AMD introduced hardware virtualization extensions to their processors.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 Historical Context and Evolution (Part 2)</a:t>
            </a:r>
          </a:p>
          <a:p>
            <a:endParaRPr/>
          </a:p>
          <a:p>
            <a:r>
              <a:t>Key Points:</a:t>
            </a:r>
          </a:p>
          <a:p>
            <a:r>
              <a:t>1. Intel's VT-x (Virtualization Technology) and AMD's AMD-V provided the necessary hardware support to efficiently virtualize x86 systems.</a:t>
            </a:r>
          </a:p>
          <a:p>
            <a:r>
              <a:t>2. These extensions allow the processor to directly support virtualization operations, eliminating the need for complex and performance-degrading software workarounds.</a:t>
            </a:r>
          </a:p>
          <a:p>
            <a:r>
              <a:t>3. The introduction of these hardware features coincided with the emergence of modern open-source virtualization solutions like KVM, which was merged into the Linux kernel in 2007.</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 Practical Benefits of Virtualization (Part 1)</a:t>
            </a:r>
          </a:p>
          <a:p>
            <a:endParaRPr/>
          </a:p>
          <a:p>
            <a:r>
              <a:t>Key Points:</a:t>
            </a:r>
          </a:p>
          <a:p>
            <a:r>
              <a:t>1. The adoption of virtualization technology delivers several concrete benefits that have made it nearly ubiquitous in modern data centers.</a:t>
            </a:r>
          </a:p>
          <a:p>
            <a:r>
              <a:t>2. Server consolidation represents one of the most immediate and measurable advantages.</a:t>
            </a:r>
          </a:p>
          <a:p>
            <a:r>
              <a:t>3. Organizations that previously required dozens or hundreds of physical servers can consolidate these workloads onto a smaller number of more powerful physical hosts running multiple virtual machines.</a:t>
            </a:r>
          </a:p>
          <a:p>
            <a:r>
              <a:t>4. This consolidation reduces capital expenditure on hardware, lowers power consumption, decreases cooling requirements, and reduces the physical space needed for infrastructure.</a:t>
            </a:r>
          </a:p>
          <a:p>
            <a:r>
              <a:t>5. Consider a concrete example: A medium-sized organization running 20 physical servers, each consuming 200 watts of power, uses 4,000 watts continuously.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 Practical Benefits of Virtualization (Part 2)</a:t>
            </a:r>
          </a:p>
          <a:p>
            <a:endParaRPr/>
          </a:p>
          <a:p>
            <a:r>
              <a:t>Key Points:</a:t>
            </a:r>
          </a:p>
          <a:p>
            <a:r>
              <a:t>1. With appropriate consolidation onto 4 physical hosts running virtual machines, power consumption might drop to 1,200 watts while maintaining the same computational capacity.</a:t>
            </a:r>
          </a:p>
          <a:p>
            <a:r>
              <a:t>2. Over a year, this represents significant savings in electricity costs and reduced cooling requirements, which often consume as much power as the servers themselves.</a:t>
            </a:r>
          </a:p>
          <a:p>
            <a:r>
              <a:t>3. Isolation and security benefits emerge from the separation between virtual machines.</a:t>
            </a:r>
          </a:p>
          <a:p>
            <a:r>
              <a:t>4. Each VM operates in its own isolated environment.</a:t>
            </a:r>
          </a:p>
          <a:p>
            <a:r>
              <a:t>5. If one VM experiences a kernel panic, becomes compromised by malware, or suffers a critical software failure, other VMs on the same physical host continue operating normally.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 Practical Benefits of Virtualization (Part 3)</a:t>
            </a:r>
          </a:p>
          <a:p>
            <a:endParaRPr/>
          </a:p>
          <a:p>
            <a:r>
              <a:t>Key Points:</a:t>
            </a:r>
          </a:p>
          <a:p>
            <a:r>
              <a:t>1. This isolation extends beyond mere process separation within a single OS.</a:t>
            </a:r>
          </a:p>
          <a:p>
            <a:r>
              <a:t>2. VMs have separate virtual hardware, separate kernel instances, and separate network stacks, providing strong isolation boundaries that enhance security and stability.</a:t>
            </a:r>
          </a:p>
          <a:p>
            <a:r>
              <a:t>3. Operational flexibility represents another significant advantage.</a:t>
            </a:r>
          </a:p>
          <a:p>
            <a:r>
              <a:t>4. Deploying a new physical server traditionally required procurement, delivery, racking, cabling, OS installation, and configuration—a process that could take days or weeks.</a:t>
            </a:r>
          </a:p>
          <a:p>
            <a:r>
              <a:t>5. Creating a new virtual machine can be accomplished in minutes.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 Practical Benefits of Virtualization (Part 4)</a:t>
            </a:r>
          </a:p>
          <a:p>
            <a:endParaRPr/>
          </a:p>
          <a:p>
            <a:r>
              <a:t>Key Points:</a:t>
            </a:r>
          </a:p>
          <a:p>
            <a:r>
              <a:t>1. Need a test environment identical to production?</a:t>
            </a:r>
          </a:p>
          <a:p>
            <a:r>
              <a:t>2. Clone the production VM and have a perfect replica ready immediately.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1 Checkpoint (Part 1)</a:t>
            </a:r>
          </a:p>
          <a:p>
            <a:endParaRPr/>
          </a:p>
          <a:p>
            <a:r>
              <a:t>Key Points:</a:t>
            </a:r>
          </a:p>
          <a:p>
            <a:r>
              <a:t>1. Virtualization abstracts physical hardware to run multiple OSs concurrently.</a:t>
            </a:r>
          </a:p>
          <a:p>
            <a:r>
              <a:t>2. The Hypervisor is the intermediary layer managing this abstraction.</a:t>
            </a:r>
          </a:p>
          <a:p>
            <a:r>
              <a:t>3. Benefits include server consolidation, isolation, and rapid provisioning.</a:t>
            </a:r>
          </a:p>
          <a:p>
            <a:r>
              <a:t>4. How does the concept of "abstraction" apply to other areas of computing (e.g., programming languages)?</a:t>
            </a:r>
          </a:p>
          <a:p>
            <a:r>
              <a:t>5. Why were hardware virtualization extensions (VT-x/AMD-V) necessary for x86 architecture?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1 Checkpoint (Part 2)</a:t>
            </a:r>
          </a:p>
          <a:p>
            <a:endParaRPr/>
          </a:p>
          <a:p>
            <a:r>
              <a:t>Key Points:</a:t>
            </a:r>
          </a:p>
          <a:p>
            <a:r>
              <a:t>1. Red Hat: What is Virtualization?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 Type-1: Bare-Metal Hypervisors (Part 1)</a:t>
            </a:r>
          </a:p>
          <a:p>
            <a:endParaRPr/>
          </a:p>
          <a:p>
            <a:r>
              <a:t>Key Points:</a:t>
            </a:r>
          </a:p>
          <a:p>
            <a:r>
              <a:t>1. Type-1 hypervisors, commonly referred to as bare-metal hypervisors, run directly on the physical hardware without any intervening operating system.</a:t>
            </a:r>
          </a:p>
          <a:p>
            <a:r>
              <a:t>2. The hypervisor itself serves as the operating system, providing a minimal, purpose-built environment optimized solely for running virtual machines.</a:t>
            </a:r>
          </a:p>
          <a:p>
            <a:r>
              <a:t>3. This architecture eliminates an entire software layer compared to Type-2 hypervisors, which has significant implications for performance, security, and manageability.</a:t>
            </a:r>
          </a:p>
          <a:p>
            <a:r>
              <a:t>4. When a physical server boots with a Type-1 hypervisor installed, the hypervisor loads directly from the boot device and initializes the hardware.</a:t>
            </a:r>
          </a:p>
          <a:p>
            <a:r>
              <a:t>5. The hypervisor takes complete control of physical resources including CPU cores, memory, storage devices, and network interfaces.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 Type-1: Bare-Metal Hypervisors (Part 2)</a:t>
            </a:r>
          </a:p>
          <a:p>
            <a:endParaRPr/>
          </a:p>
          <a:p>
            <a:r>
              <a:t>Key Points:</a:t>
            </a:r>
          </a:p>
          <a:p>
            <a:r>
              <a:t>1. It then presents virtualized versions of these resources to the virtual machines it hosts.</a:t>
            </a:r>
          </a:p>
          <a:p>
            <a:r>
              <a:t>2. Because there is no intermediary operating system consuming resources or adding processing overhead, Type-1 hypervisors can achieve near-native performance.</a:t>
            </a:r>
          </a:p>
          <a:p>
            <a:r>
              <a:t>3. The architecture of a Type-1 hypervisor consists of several key components.</a:t>
            </a:r>
          </a:p>
          <a:p>
            <a:r>
              <a:t>4. The hypervisor kernel manages basic hardware interaction, CPU virtualization, and memory management.</a:t>
            </a:r>
          </a:p>
          <a:p>
            <a:r>
              <a:t>5. Device drivers enable the hypervisor to communicate with physical hardware such as network cards, storage controllers, and management interfaces.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 Type-1: Bare-Metal Hypervisors (Part 3)</a:t>
            </a:r>
          </a:p>
          <a:p>
            <a:endParaRPr/>
          </a:p>
          <a:p>
            <a:r>
              <a:t>Key Points:</a:t>
            </a:r>
          </a:p>
          <a:p>
            <a:r>
              <a:t>1. A management layer provides interfaces for administrators to create, configure, and control virtual machines.</a:t>
            </a:r>
          </a:p>
          <a:p>
            <a:r>
              <a:t>2. In modern hypervisors like Proxmox VE, this management layer includes a web-based interface that simplifies VM lifecycle management.</a:t>
            </a:r>
          </a:p>
          <a:p>
            <a:r>
              <a:t>3. Major examples of Type-1 hypervisors include Proxmox VE, which we will use throughout this course, VMware ESXi, which dominates enterprise virtualization deployments, Microsoft Hyper-V, which powers Azure's cloud infrastructure, and Xen, which is used by Amazon Web Services for EC2 instances.</a:t>
            </a:r>
          </a:p>
          <a:p>
            <a:r>
              <a:t>4. These hypervisors share common characteristics: they install directly on server hardware, provide high performance through direct hardware access, and are designed for production workloads requiring reliability and efficiency.</a:t>
            </a:r>
          </a:p>
          <a:p>
            <a:r>
              <a:t>5. The performance advantage of Type-1 hypervisors stems from their direct hardware access.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 Type-1: Bare-Metal Hypervisors (Part 4)</a:t>
            </a:r>
          </a:p>
          <a:p>
            <a:endParaRPr/>
          </a:p>
          <a:p>
            <a:r>
              <a:t>Key Points:</a:t>
            </a:r>
          </a:p>
          <a:p>
            <a:r>
              <a:t>1. When a virtual CPU needs to execute instructions, the hypervisor can schedule that vCPU to run directly on a physical CPU core with minimal overhead.</a:t>
            </a:r>
          </a:p>
          <a:p>
            <a:r>
              <a:t>2. Hardware virtualization extensions like Intel VT-x and AMD-V enable the processor to switch between different virtual machines efficiently, with the hypervisor maintaining control when necessary but allowing VMs to execute at near-native speed most of the time.</a:t>
            </a:r>
          </a:p>
          <a:p>
            <a:r>
              <a:t>3. Security benefits also emerge from the Type-1 architecture.</a:t>
            </a:r>
          </a:p>
          <a:p>
            <a:r>
              <a:t>4. With no underlying operating system, the attack surface is dramatically reduced compared to Type-2 hypervisors.</a:t>
            </a:r>
          </a:p>
          <a:p>
            <a:r>
              <a:t>5. There is no general-purpose OS with system services, user accounts, or application software that could contain vulnerabilities.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 Type-1: Bare-Metal Hypervisors (Part 5)</a:t>
            </a:r>
          </a:p>
          <a:p>
            <a:endParaRPr/>
          </a:p>
          <a:p>
            <a:r>
              <a:t>Key Points:</a:t>
            </a:r>
          </a:p>
          <a:p>
            <a:r>
              <a:t>1. The hypervisor is purpose-built for virtualization, with a minimal codebase focused solely on managing virtual machines, which reduces the potential for security flaws.</a:t>
            </a:r>
          </a:p>
          <a:p>
            <a:r>
              <a:t>2. Type-1 hypervisors are the standard choice for production server environments, data centers, and cloud infrastructure.</a:t>
            </a:r>
          </a:p>
          <a:p>
            <a:r>
              <a:t>3. They excel in scenarios where performance, reliability, and resource efficiency are paramount.</a:t>
            </a:r>
          </a:p>
          <a:p>
            <a:r>
              <a:t>4. Organizations running business-critical applications, operating 24/7 services, or managing large-scale virtualization deployments invariably choose Type-1 hypervisors for their infrastructure.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 Type-2: Hosted Hypervisors (Part 1)</a:t>
            </a:r>
          </a:p>
          <a:p>
            <a:endParaRPr/>
          </a:p>
          <a:p>
            <a:r>
              <a:t>Key Points:</a:t>
            </a:r>
          </a:p>
          <a:p>
            <a:r>
              <a:t>1. Type-2 hypervisors take a fundamentally different architectural approach.</a:t>
            </a:r>
          </a:p>
          <a:p>
            <a:r>
              <a:t>2. Rather than running directly on hardware, a Type-2 hypervisor runs as an application on top of a conventional operating system.</a:t>
            </a:r>
          </a:p>
          <a:p>
            <a:r>
              <a:t>3. The host operating system retains control of the physical hardware, and the hypervisor software requests resources from this host OS rather than managing hardware directly.</a:t>
            </a:r>
          </a:p>
          <a:p>
            <a:r>
              <a:t>4. This creates an additional layer in the software stack: physical hardware, host operating system, hypervisor application, and finally the virtual machines.</a:t>
            </a:r>
          </a:p>
          <a:p>
            <a:r>
              <a:t>5. The layered architecture of Type-2 hypervisors has significant implications.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 Type-2: Hosted Hypervisors (Part 2)</a:t>
            </a:r>
          </a:p>
          <a:p>
            <a:endParaRPr/>
          </a:p>
          <a:p>
            <a:r>
              <a:t>Key Points:</a:t>
            </a:r>
          </a:p>
          <a:p>
            <a:r>
              <a:t>1. When a VM running on a Type-2 hypervisor needs to perform an operation, the request passes through multiple layers.</a:t>
            </a:r>
          </a:p>
          <a:p>
            <a:r>
              <a:t>2. For example, a disk write operation initiated by a guest OS goes to the virtual disk controller, which the hypervisor application handles by making system calls to the host operating system, which then interacts with the physical storage hardware.</a:t>
            </a:r>
          </a:p>
          <a:p>
            <a:r>
              <a:t>3. Each layer adds processing overhead and context switching, resulting in reduced performance compared to Type-1 hypervisors.</a:t>
            </a:r>
          </a:p>
          <a:p>
            <a:r>
              <a:t>4. Common examples of Type-2 hypervisors include Oracle VirtualBox, which is widely used for desktop virtualization and testing, VMware Workstation, which provides advanced features for developers and testers on Windows and Linux hosts, and Parallels Desktop, which enables macOS users to run Windows and Linux virtual machines.</a:t>
            </a:r>
          </a:p>
          <a:p>
            <a:r>
              <a:t>5. These products are designed primarily for desktop and development use cases rather than production server deployments.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 Type-2: Hosted Hypervisors (Part 3)</a:t>
            </a:r>
          </a:p>
          <a:p>
            <a:endParaRPr/>
          </a:p>
          <a:p>
            <a:r>
              <a:t>Key Points:</a:t>
            </a:r>
          </a:p>
          <a:p>
            <a:r>
              <a:t>1. The major advantage of Type-2 hypervisors is their accessibility and ease of use.</a:t>
            </a:r>
          </a:p>
          <a:p>
            <a:r>
              <a:t>2. Installation involves downloading the hypervisor software and running a standard installation wizard on your existing operating system, whether Windows, macOS, or Linux.</a:t>
            </a:r>
          </a:p>
          <a:p>
            <a:r>
              <a:t>3. There is no need to dedicate the entire physical machine to virtualization; you can continue using your computer normally while running virtual machines when needed.</a:t>
            </a:r>
          </a:p>
          <a:p>
            <a:r>
              <a:t>4. This makes Type-2 hypervisors excellent choices for developers who need to test software on different operating systems, IT professionals learning virtualization concepts, or users who occasionally need to run applications from different operating systems.</a:t>
            </a:r>
          </a:p>
          <a:p>
            <a:r>
              <a:t>5. However, Type-2 hypervisors have clear limitations.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 Type-2: Hosted Hypervisors (Part 4)</a:t>
            </a:r>
          </a:p>
          <a:p>
            <a:endParaRPr/>
          </a:p>
          <a:p>
            <a:r>
              <a:t>Key Points:</a:t>
            </a:r>
          </a:p>
          <a:p>
            <a:r>
              <a:t>1. The performance overhead from the additional OS layer makes them unsuitable for performance-sensitive production workloads.</a:t>
            </a:r>
          </a:p>
          <a:p>
            <a:r>
              <a:t>2. The host operating system consumes significant resources that are therefore unavailable to virtual machines.</a:t>
            </a:r>
          </a:p>
          <a:p>
            <a:r>
              <a:t>3. If the host OS experiences problems or requires maintenance and reboots, all running VMs are affected.</a:t>
            </a:r>
          </a:p>
          <a:p>
            <a:r>
              <a:t>4. These factors make Type-2 hypervisors inappropriate for production server deployments where reliability and performance are critical.</a:t>
            </a:r>
          </a:p>
          <a:p>
            <a:r>
              <a:t>5. The distinction between Type-1 and Type-2 hypervisors is fundamental to understanding virtualization architecture.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 Type-2: Hosted Hypervisors (Part 5)</a:t>
            </a:r>
          </a:p>
          <a:p>
            <a:endParaRPr/>
          </a:p>
          <a:p>
            <a:r>
              <a:t>Key Points:</a:t>
            </a:r>
          </a:p>
          <a:p>
            <a:r>
              <a:t>1. Type-1 hypervisors represent the professional, production-grade approach optimized for performance and reliability at the cost of dedicating hardware to virtualization.</a:t>
            </a:r>
          </a:p>
          <a:p>
            <a:r>
              <a:t>2. Type-2 hypervisors represent a more accessible, flexible approach suitable for development, testing, and learning, accepting performance trade-offs in exchange for the convenience of running on an existing desktop operating system.</a:t>
            </a:r>
          </a:p>
          <a:p>
            <a:r>
              <a:t>3. For this course, we use Proxmox VE, a Type-1 hypervisor, because it provides professional-grade capabilities while remaining accessible for learning purposes.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2 Checkpoint (Part 1)</a:t>
            </a:r>
          </a:p>
          <a:p>
            <a:endParaRPr/>
          </a:p>
          <a:p>
            <a:r>
              <a:t>Key Points:</a:t>
            </a:r>
          </a:p>
          <a:p>
            <a:r>
              <a:t>1. Type-1 (Bare Metal): Runs directly on hardware (Proxmox, ESXi). Best for performance/security.</a:t>
            </a:r>
          </a:p>
          <a:p>
            <a:r>
              <a:t>2. Type-2 (Hosted): Runs as an app on an OS (VirtualBox). Best for testing/desktops.</a:t>
            </a:r>
          </a:p>
          <a:p>
            <a:r>
              <a:t>3. Major trade-off is Performance vs. Convenience.</a:t>
            </a:r>
          </a:p>
          <a:p>
            <a:r>
              <a:t>4. In what specific scenario would a Type-2 hypervisor be preferred over Type-1?</a:t>
            </a:r>
          </a:p>
          <a:p>
            <a:r>
              <a:t>5. Why is the "attack surface" of a Type-1 hypervisor considered smaller?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2 Checkpoint (Part 2)</a:t>
            </a:r>
          </a:p>
          <a:p>
            <a:endParaRPr/>
          </a:p>
          <a:p>
            <a:r>
              <a:t>Key Points:</a:t>
            </a:r>
          </a:p>
          <a:p>
            <a:r>
              <a:t>1. VMware: Type 1 vs Type 2 Hypervisors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3.1 The Virtual CPU (vCPU) (Part 1)</a:t>
            </a:r>
          </a:p>
          <a:p>
            <a:endParaRPr/>
          </a:p>
          <a:p>
            <a:r>
              <a:t>Key Points:</a:t>
            </a:r>
          </a:p>
          <a:p>
            <a:r>
              <a:t>1. The most critical resource for any computer is its processor.</a:t>
            </a:r>
          </a:p>
          <a:p>
            <a:r>
              <a:t>2. The vCPU is the processing unit of your virtual machine, allowing the guest operating system to execute instructions as if it had exclusive access to a core.</a:t>
            </a:r>
          </a:p>
          <a:p>
            <a:r>
              <a:t>3. In reality, the hypervisor schedules the vCPU on a physical CPU core for short durations, known as time-slicing.</a:t>
            </a:r>
          </a:p>
          <a:p>
            <a:r>
              <a:t>4. A critical rule in virtualization is to never allocate more vCPUs than you have physical cores.</a:t>
            </a:r>
          </a:p>
          <a:p>
            <a:r>
              <a:t>5. Violating this leads to "CPU Contention," where multiple VMs fight for the scheduler's attention, causing significant performance degradation across the entire system.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3.1 The Virtual CPU (vCPU) (Part 2)</a:t>
            </a:r>
          </a:p>
          <a:p>
            <a:endParaRPr/>
          </a:p>
          <a:p>
            <a:r>
              <a:t>Key Points:</a:t>
            </a:r>
          </a:p>
          <a:p>
            <a:r>
              <a:t>1. When configuring local resources, you must also choose a CPU Type.</a:t>
            </a:r>
          </a:p>
          <a:p>
            <a:r>
              <a:t>2. The Host Mode passes your exact physical CPU model and instruction set to the VM, offering maximum performance and transparency.</a:t>
            </a:r>
          </a:p>
          <a:p>
            <a:r>
              <a:t>3. However, this restricts portability; a VM created in Host Mode on an Intel server may crash if migrated to an AMD server.</a:t>
            </a:r>
          </a:p>
          <a:p>
            <a:r>
              <a:t>4. Alternatively, the Generic (kvm64) type presents a standard, simplified processor to the VM, guaranteeing it can run on any hardware at the cost of some performance optimizations.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3.2 Virtual RAM (vRAM)</a:t>
            </a:r>
          </a:p>
          <a:p>
            <a:endParaRPr/>
          </a:p>
          <a:p>
            <a:r>
              <a:t>Key Points:</a:t>
            </a:r>
          </a:p>
          <a:p>
            <a:r>
              <a:t>1. While CPU time can be shared, memory is a finite resource.</a:t>
            </a:r>
          </a:p>
          <a:p>
            <a:r>
              <a:t>2. vRAM differs significantly from vCPU allocation because memory cannot be easily time-sliced.</a:t>
            </a:r>
          </a:p>
          <a:p>
            <a:r>
              <a:t>3. When you assign vRAM, the hypervisor allocates a dedicated block of physical RAM to that VM.</a:t>
            </a:r>
          </a:p>
          <a:p>
            <a:r>
              <a:t>4. Therefore, the golden rule of memory allocation is to never over-commit RAM.</a:t>
            </a:r>
          </a:p>
          <a:p>
            <a:r>
              <a:t>5. Unlike CPU cycles, which can be queued, RAM is a hard limit.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3.3 Virtual Disk (Storage)</a:t>
            </a:r>
          </a:p>
          <a:p>
            <a:endParaRPr/>
          </a:p>
          <a:p>
            <a:r>
              <a:t>Key Points:</a:t>
            </a:r>
          </a:p>
          <a:p>
            <a:r>
              <a:t>1. Once processing and memory are handled, a VM needs a place to persist data.</a:t>
            </a:r>
          </a:p>
          <a:p>
            <a:r>
              <a:t>2. To a virtual machine, the vDisk appears as a standard SATA or SCSI hard drive, but to the hypervisor, it is simply a file (encapsulation).</a:t>
            </a:r>
          </a:p>
          <a:p>
            <a:r>
              <a:t>3. This makes backing up a VM as simple as copying a file.</a:t>
            </a:r>
          </a:p>
          <a:p>
            <a:r>
              <a:t>4. Administrators must choose between two provisioning methods.</a:t>
            </a:r>
          </a:p>
          <a:p>
            <a:r>
              <a:t>5. Thin Provisioning (QCOW2) creates a file that starts small and grows only as data is written, making it space-efficient but requiring careful monitoring to prevent filling the physical storage.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3.4 Virtual Network Interface (vNIC)</a:t>
            </a:r>
          </a:p>
          <a:p>
            <a:endParaRPr/>
          </a:p>
          <a:p>
            <a:r>
              <a:t>Key Points:</a:t>
            </a:r>
          </a:p>
          <a:p>
            <a:r>
              <a:t>1. Finally, for a VM to communicate with the outside world, it requires a vNIC.</a:t>
            </a:r>
          </a:p>
          <a:p>
            <a:r>
              <a:t>2. This component connects the VM to a virtual switch (Bridge) on the host, acting as the bridge between the virtual and physical networks.</a:t>
            </a:r>
          </a:p>
          <a:p>
            <a:r>
              <a:t>3. You will typically choose between two types of interfaces.</a:t>
            </a:r>
          </a:p>
          <a:p>
            <a:r>
              <a:t>4. The Emulated (E1000) interface mimics a real Intel network card, ensuring compatibility with almost any operating system out of the box, though it incurs higher CPU overhead.</a:t>
            </a:r>
          </a:p>
          <a:p>
            <a:r>
              <a:t>5. For performance-critical workloads, the Paravirtualized (VirtIO) interface is preferred; it is a software-defined card designed specifically for virtualization that works directly with the hypervisor to achieve network speeds often exceeding 10Gbps, though it requires specific drivers in the guest OS.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3 Checkpoint (Part 1)</a:t>
            </a:r>
          </a:p>
          <a:p>
            <a:endParaRPr/>
          </a:p>
          <a:p>
            <a:r>
              <a:t>Key Points:</a:t>
            </a:r>
          </a:p>
          <a:p>
            <a:r>
              <a:t>1. vCPU: Do not over-allocate cores. Use 'Host' type for speed.</a:t>
            </a:r>
          </a:p>
          <a:p>
            <a:r>
              <a:t>2. vRAM: RAM is a hard limit. Do not over-commit.</a:t>
            </a:r>
          </a:p>
          <a:p>
            <a:r>
              <a:t>3. vDisk: RAW is fast (Thick), QCOW2 is flexible (Thin).</a:t>
            </a:r>
          </a:p>
          <a:p>
            <a:r>
              <a:t>4. vNIC: Use VirtIO for performance, E1000 for compatibility.</a:t>
            </a:r>
          </a:p>
          <a:p>
            <a:r>
              <a:t>5. Why is "Thin Provisioning" dangerous if you are not monitoring your storage?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3 Checkpoint (Part 2)</a:t>
            </a:r>
          </a:p>
          <a:p>
            <a:endParaRPr/>
          </a:p>
          <a:p>
            <a:r>
              <a:t>Key Points:</a:t>
            </a:r>
          </a:p>
          <a:p>
            <a:r>
              <a:t>1. If you have an 8-Core CPU, why is it bad to give a single VM 8 vCPUs?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 Network Virtualization (SDN)</a:t>
            </a:r>
          </a:p>
          <a:p>
            <a:endParaRPr/>
          </a:p>
          <a:p>
            <a:r>
              <a:t>Key Points:</a:t>
            </a:r>
          </a:p>
          <a:p>
            <a:r>
              <a:t>1. In the physical world, connecting servers requires physical switches and cabling.</a:t>
            </a:r>
          </a:p>
          <a:p>
            <a:r>
              <a:t>2. Software Defined Networking (SDN) eliminates this physical dependency by introducing the virtual switch—a software component residing within the hypervisor that functions exactly like its physical counterpart.</a:t>
            </a:r>
          </a:p>
          <a:p>
            <a:r>
              <a:t>3. This architecture decouples the network's control plane (intelligence) from the data plane (packet forwarding), allowing administrators to create complex network topologies, VLANs, and firewalls programmatically without ever touching a physical cable.</a:t>
            </a:r>
          </a:p>
          <a:p>
            <a:r>
              <a:t>4. We will explore these concepts in depth, including Linux Bridges, in Week 4: Virtual Networking.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4.2 Storage Virtualization (SDS)</a:t>
            </a:r>
          </a:p>
          <a:p>
            <a:endParaRPr/>
          </a:p>
          <a:p>
            <a:r>
              <a:t>Key Points:</a:t>
            </a:r>
          </a:p>
          <a:p>
            <a:r>
              <a:t>1. Software Defined Storage (SDS) fundamentally changes how we manage data persistence.</a:t>
            </a:r>
          </a:p>
          <a:p>
            <a:r>
              <a:t>2. Rather than relying on isolated physical disks attached to specific servers, SDS aggregates storage devices from multiple servers into a unified, reliable storage pool.</a:t>
            </a:r>
          </a:p>
          <a:p>
            <a:r>
              <a:t>3. This abstraction allows for enterprise-level features such as self-healing resilience; if a physical drive fails, the software automatically rebuilds the data on remaining drives without interrupting the virtual machine.</a:t>
            </a:r>
          </a:p>
          <a:p>
            <a:r>
              <a:t>4. By treating storage as a flexible software resource rather than a rigid hardware appliance, we gain immense scalability.</a:t>
            </a:r>
          </a:p>
          <a:p>
            <a:r>
              <a:t>5. These technologies, including Ceph and NFS, are the focus of Week 5: Storage &amp; Backup.</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4 Checkpoint</a:t>
            </a:r>
          </a:p>
          <a:p>
            <a:endParaRPr/>
          </a:p>
          <a:p>
            <a:r>
              <a:t>Key Points:</a:t>
            </a:r>
          </a:p>
          <a:p>
            <a:r>
              <a:t>1. SDDC: Visualizing Compute, Network, and Storage together.</a:t>
            </a:r>
          </a:p>
          <a:p>
            <a:r>
              <a:t>2. SDN: Moving network intelligence into software (Virtual Switches).</a:t>
            </a:r>
          </a:p>
          <a:p>
            <a:r>
              <a:t>3. SDS: Abstracting physical disks into flexible Storage Pools.</a:t>
            </a:r>
          </a:p>
          <a:p>
            <a:r>
              <a:t>4. If the network is "software," does it still need physical cables at all?</a:t>
            </a:r>
          </a:p>
          <a:p>
            <a:r>
              <a:t>5. How does SDS differ from a traditional RAID card?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5.1 From Virtualization to Cloud (IaaS)</a:t>
            </a:r>
          </a:p>
          <a:p>
            <a:endParaRPr/>
          </a:p>
          <a:p>
            <a:r>
              <a:t>Key Points:</a:t>
            </a:r>
          </a:p>
          <a:p>
            <a:r>
              <a:t>1. When you provision a virtual machine instance in AWS, Azure, or Google Cloud, you are essentially consuming a virtualized resource managed by a massive hypervisor farm.</a:t>
            </a:r>
          </a:p>
          <a:p>
            <a:r>
              <a:t>2. The Infrastructure-as-a-Service (IaaS) model exposes this virtualization as a service via APIs, relying on two core capabilities.</a:t>
            </a:r>
          </a:p>
          <a:p>
            <a:r>
              <a:t>3. First, Multi-tenancy allows multiple distinct customers (tenants) to run their workloads on the exact same physical hardware, securely isolated from one another by the hypervisor.</a:t>
            </a:r>
          </a:p>
          <a:p>
            <a:r>
              <a:t>4. Second, Elasticity leverages the fact that VMs are merely files and processes, allowing them to be provisioned, scaled, or destroyed in seconds to match demand—something impossible with physical hardware.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5.2 Containers and Serverless</a:t>
            </a:r>
          </a:p>
          <a:p>
            <a:endParaRPr/>
          </a:p>
          <a:p>
            <a:r>
              <a:t>Key Points:</a:t>
            </a:r>
          </a:p>
          <a:p>
            <a:r>
              <a:t>1. By mastering the abstraction layer (the Hypervisor), you unlock the ability to understand even lighter forms of abstraction, such as Containers (Docker), which share the OS kernel, and Serverless Functions, which abstract the OS entirely.</a:t>
            </a:r>
          </a:p>
          <a:p>
            <a:r>
              <a:t>2. We will explore these evolutions specifically in Week 3: Containers &amp; Resources.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5 Checkpoint (Part 1)</a:t>
            </a:r>
          </a:p>
          <a:p>
            <a:endParaRPr/>
          </a:p>
          <a:p>
            <a:r>
              <a:t>Key Points:</a:t>
            </a:r>
          </a:p>
          <a:p>
            <a:r>
              <a:t>1. Virtualization is the bedrock of Cloud Computing (AWS, Azure).</a:t>
            </a:r>
          </a:p>
          <a:p>
            <a:r>
              <a:t>2. Abstraction enables flexibility, security, and efficiency.</a:t>
            </a:r>
          </a:p>
          <a:p>
            <a:r>
              <a:t>3. Type-1 vs Type-2 is the first major architectural decision.</a:t>
            </a:r>
          </a:p>
          <a:p>
            <a:r>
              <a:t>4. How does virtualization enable "Elasticity" in the cloud?</a:t>
            </a:r>
          </a:p>
          <a:p>
            <a:r>
              <a:t>5. Can a single physical server run both Type-1 and Type-2 hypervisors simultaneously?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5 Checkpoint (Part 2)</a:t>
            </a:r>
          </a:p>
          <a:p>
            <a:endParaRPr/>
          </a:p>
          <a:p>
            <a:r>
              <a:t>Key Points:</a:t>
            </a:r>
          </a:p>
          <a:p>
            <a:r>
              <a:t>1. IBM: What is Cloud Computing?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Preparing for Week 2</a:t>
            </a:r>
          </a:p>
          <a:p>
            <a:endParaRPr/>
          </a:p>
          <a:p>
            <a:r>
              <a:t>Key Points:</a:t>
            </a:r>
          </a:p>
          <a:p>
            <a:r>
              <a:t>1. Deconstruct the KVM architecture to see how it uses the Linux Kernel.</a:t>
            </a:r>
          </a:p>
          <a:p>
            <a:r>
              <a:t>2. Deploy Proxmox VE on bare metal in our "Mastery" lab.</a:t>
            </a:r>
          </a:p>
          <a:p>
            <a:r>
              <a:t>3. Master the art of creating, managing, and optimizing Virtual Machines.</a:t>
            </a:r>
          </a:p>
          <a:p>
            <a:r>
              <a:t>4. Can you clearly explain the role of a Hypervisor?</a:t>
            </a:r>
          </a:p>
          <a:p>
            <a:r>
              <a:t>5. Do you know which Hypervisor type is best for a Production Database vs a Developer Laptop?</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1828800"/>
            <a:ext cx="7315200" cy="731520"/>
          </a:xfrm>
          <a:prstGeom prst="rect">
            <a:avLst/>
          </a:prstGeom>
          <a:noFill/>
        </p:spPr>
        <p:txBody>
          <a:bodyPr wrap="none">
            <a:spAutoFit/>
          </a:bodyPr>
          <a:lstStyle/>
          <a:p>
            <a:pPr algn="ctr">
              <a:defRPr sz="3600" b="1">
                <a:solidFill>
                  <a:srgbClr val="C9984A"/>
                </a:solidFill>
              </a:defRPr>
            </a:pPr>
            <a:r>
              <a:t>Week 1</a:t>
            </a:r>
          </a:p>
        </p:txBody>
      </p:sp>
      <p:sp>
        <p:nvSpPr>
          <p:cNvPr id="4" name="TextBox 3"/>
          <p:cNvSpPr txBox="1"/>
          <p:nvPr/>
        </p:nvSpPr>
        <p:spPr>
          <a:xfrm>
            <a:off x="457200" y="2743200"/>
            <a:ext cx="8229600" cy="1828800"/>
          </a:xfrm>
          <a:prstGeom prst="rect">
            <a:avLst/>
          </a:prstGeom>
          <a:noFill/>
        </p:spPr>
        <p:txBody>
          <a:bodyPr wrap="square">
            <a:spAutoFit/>
          </a:bodyPr>
          <a:lstStyle/>
          <a:p>
            <a:pPr algn="ctr">
              <a:defRPr sz="4400" b="1">
                <a:solidFill>
                  <a:srgbClr val="FFFFFF"/>
                </a:solidFill>
              </a:defRPr>
            </a:pPr>
            <a:r>
              <a:t>Introduction to Virtualization</a:t>
            </a:r>
          </a:p>
        </p:txBody>
      </p:sp>
      <p:sp>
        <p:nvSpPr>
          <p:cNvPr id="5" name="TextBox 4"/>
          <p:cNvSpPr txBox="1"/>
          <p:nvPr/>
        </p:nvSpPr>
        <p:spPr>
          <a:xfrm>
            <a:off x="914400" y="5029200"/>
            <a:ext cx="7315200" cy="548640"/>
          </a:xfrm>
          <a:prstGeom prst="rect">
            <a:avLst/>
          </a:prstGeom>
          <a:noFill/>
        </p:spPr>
        <p:txBody>
          <a:bodyPr wrap="none">
            <a:spAutoFit/>
          </a:bodyPr>
          <a:lstStyle/>
          <a:p>
            <a:pPr algn="ctr">
              <a:defRPr sz="2000">
                <a:solidFill>
                  <a:srgbClr val="C8C8C8"/>
                </a:solidFill>
              </a:defRPr>
            </a:pPr>
            <a:r>
              <a:t>OPS3 - Virtualization and Cloud Infrastructure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600" b="1">
                <a:solidFill>
                  <a:srgbClr val="C9984A"/>
                </a:solidFill>
              </a:defRPr>
            </a:pPr>
            <a:r>
              <a:t>What You Will Learn This Week</a:t>
            </a:r>
          </a:p>
        </p:txBody>
      </p:sp>
      <p:sp>
        <p:nvSpPr>
          <p:cNvPr id="4" name="TextBox 3"/>
          <p:cNvSpPr txBox="1"/>
          <p:nvPr/>
        </p:nvSpPr>
        <p:spPr>
          <a:xfrm>
            <a:off x="1097280" y="2011680"/>
            <a:ext cx="6949440" cy="2554545"/>
          </a:xfrm>
          <a:prstGeom prst="rect">
            <a:avLst/>
          </a:prstGeom>
          <a:noFill/>
        </p:spPr>
        <p:txBody>
          <a:bodyPr wrap="square">
            <a:spAutoFit/>
          </a:bodyPr>
          <a:lstStyle/>
          <a:p>
            <a:pPr>
              <a:spcBef>
                <a:spcPts val="1000"/>
              </a:spcBef>
              <a:spcAft>
                <a:spcPts val="1000"/>
              </a:spcAft>
              <a:defRPr sz="2200">
                <a:solidFill>
                  <a:srgbClr val="FFFFFF"/>
                </a:solidFill>
              </a:defRPr>
            </a:pPr>
            <a:r>
              <a:rPr lang="en-ZA" dirty="0"/>
              <a:t>1. </a:t>
            </a:r>
            <a:r>
              <a:rPr dirty="0"/>
              <a:t>Understand understanding virtualization</a:t>
            </a:r>
          </a:p>
          <a:p>
            <a:pPr>
              <a:spcBef>
                <a:spcPts val="1000"/>
              </a:spcBef>
              <a:spcAft>
                <a:spcPts val="1000"/>
              </a:spcAft>
              <a:defRPr sz="2200">
                <a:solidFill>
                  <a:srgbClr val="FFFFFF"/>
                </a:solidFill>
              </a:defRPr>
            </a:pPr>
            <a:r>
              <a:rPr lang="en-ZA" dirty="0"/>
              <a:t>2. </a:t>
            </a:r>
            <a:r>
              <a:rPr dirty="0"/>
              <a:t>Understand </a:t>
            </a:r>
            <a:r>
              <a:rPr lang="en-ZA" dirty="0"/>
              <a:t> </a:t>
            </a:r>
            <a:r>
              <a:rPr dirty="0"/>
              <a:t>types of hypervisors</a:t>
            </a:r>
          </a:p>
          <a:p>
            <a:pPr>
              <a:spcBef>
                <a:spcPts val="1000"/>
              </a:spcBef>
              <a:spcAft>
                <a:spcPts val="1000"/>
              </a:spcAft>
              <a:defRPr sz="2200">
                <a:solidFill>
                  <a:srgbClr val="FFFFFF"/>
                </a:solidFill>
              </a:defRPr>
            </a:pPr>
            <a:r>
              <a:rPr lang="en-ZA" dirty="0"/>
              <a:t>3. </a:t>
            </a:r>
            <a:r>
              <a:rPr dirty="0"/>
              <a:t>Understand virtual machine anatomy (concepts &amp; components)</a:t>
            </a:r>
          </a:p>
          <a:p>
            <a:pPr>
              <a:spcBef>
                <a:spcPts val="1000"/>
              </a:spcBef>
              <a:spcAft>
                <a:spcPts val="1000"/>
              </a:spcAft>
              <a:defRPr sz="2200">
                <a:solidFill>
                  <a:srgbClr val="FFFFFF"/>
                </a:solidFill>
              </a:defRPr>
            </a:pPr>
            <a:r>
              <a:t>4</a:t>
            </a:r>
            <a:r>
              <a:rPr dirty="0"/>
              <a:t>. beyond compute: the software defined data center</a:t>
            </a:r>
            <a:r>
              <a:rPr lang="en-ZA" dirty="0"/>
              <a:t>2.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Welcome to Week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What You'll Learn This Week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1. Understanding Virtualization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The Concept of Abstraction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fundamental principle underlying virtualization is abstraction.</a:t>
            </a:r>
          </a:p>
          <a:p>
            <a:pPr>
              <a:spcBef>
                <a:spcPts val="800"/>
              </a:spcBef>
              <a:spcAft>
                <a:spcPts val="800"/>
              </a:spcAft>
              <a:defRPr sz="2000">
                <a:solidFill>
                  <a:srgbClr val="FFFFFF"/>
                </a:solidFill>
              </a:defRPr>
            </a:pPr>
            <a:r>
              <a:t>In traditional computing, an operating system has direct control over the physical hardware.</a:t>
            </a:r>
          </a:p>
          <a:p>
            <a:pPr>
              <a:spcBef>
                <a:spcPts val="800"/>
              </a:spcBef>
              <a:spcAft>
                <a:spcPts val="800"/>
              </a:spcAft>
              <a:defRPr sz="2000">
                <a:solidFill>
                  <a:srgbClr val="FFFFFF"/>
                </a:solidFill>
              </a:defRPr>
            </a:pPr>
            <a:r>
              <a:t>The OS kernel communicates with the CPU, manages physical memory, controls disk I/O operations, and handles network communication through direct interaction with hardware devices.</a:t>
            </a:r>
          </a:p>
          <a:p>
            <a:pPr>
              <a:spcBef>
                <a:spcPts val="800"/>
              </a:spcBef>
              <a:spcAft>
                <a:spcPts val="800"/>
              </a:spcAft>
              <a:defRPr sz="2000">
                <a:solidFill>
                  <a:srgbClr val="FFFFFF"/>
                </a:solidFill>
              </a:defRPr>
            </a:pPr>
            <a:r>
              <a:t>This tight coupling between the operating system and hardware creates limitations, particularly the one-to-one relationship between a physical machine and the operating system it runs.</a:t>
            </a:r>
          </a:p>
          <a:p>
            <a:pPr>
              <a:spcBef>
                <a:spcPts val="800"/>
              </a:spcBef>
              <a:spcAft>
                <a:spcPts val="800"/>
              </a:spcAft>
              <a:defRPr sz="2000">
                <a:solidFill>
                  <a:srgbClr val="FFFFFF"/>
                </a:solidFill>
              </a:defRPr>
            </a:pPr>
            <a:r>
              <a:t>Virtualization breaks this constraint by introducing an intermediary software layer called a hypervisor.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1.1 The Concept of Abstraction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hypervisor sits between the physical hardware and the operating systems, presenting virtualized hardware resources to each guest operating system.</a:t>
            </a:r>
          </a:p>
          <a:p>
            <a:pPr>
              <a:spcBef>
                <a:spcPts val="800"/>
              </a:spcBef>
              <a:spcAft>
                <a:spcPts val="800"/>
              </a:spcAft>
              <a:defRPr sz="2000">
                <a:solidFill>
                  <a:srgbClr val="FFFFFF"/>
                </a:solidFill>
              </a:defRPr>
            </a:pPr>
            <a:r>
              <a:t>To the guest OS, these virtual resources appear identical to physical hardware.</a:t>
            </a:r>
          </a:p>
          <a:p>
            <a:pPr>
              <a:spcBef>
                <a:spcPts val="800"/>
              </a:spcBef>
              <a:spcAft>
                <a:spcPts val="800"/>
              </a:spcAft>
              <a:defRPr sz="2000">
                <a:solidFill>
                  <a:srgbClr val="FFFFFF"/>
                </a:solidFill>
              </a:defRPr>
            </a:pPr>
            <a:r>
              <a:t>The guest OS remains unaware that it is running in a virtual environment rather than on dedicated physical hardware.</a:t>
            </a:r>
          </a:p>
          <a:p>
            <a:pPr>
              <a:spcBef>
                <a:spcPts val="800"/>
              </a:spcBef>
              <a:spcAft>
                <a:spcPts val="800"/>
              </a:spcAft>
              <a:defRPr sz="2000">
                <a:solidFill>
                  <a:srgbClr val="FFFFFF"/>
                </a:solidFill>
              </a:defRPr>
            </a:pPr>
            <a:r>
              <a:t>This deception is the essence of virtualization and enables multiple operating systems to coexist on the same physical platform.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Historical Context and Evolution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Virtualization is not a new concept.</a:t>
            </a:r>
          </a:p>
          <a:p>
            <a:pPr>
              <a:spcBef>
                <a:spcPts val="800"/>
              </a:spcBef>
              <a:spcAft>
                <a:spcPts val="800"/>
              </a:spcAft>
              <a:defRPr sz="2000">
                <a:solidFill>
                  <a:srgbClr val="FFFFFF"/>
                </a:solidFill>
              </a:defRPr>
            </a:pPr>
            <a:r>
              <a:t>IBM developed the first virtualization systems in the 1960s for their mainframe computers, enabling multiple users to share expensive hardware resources efficiently.</a:t>
            </a:r>
          </a:p>
          <a:p>
            <a:pPr>
              <a:spcBef>
                <a:spcPts val="800"/>
              </a:spcBef>
              <a:spcAft>
                <a:spcPts val="800"/>
              </a:spcAft>
              <a:defRPr sz="2000">
                <a:solidFill>
                  <a:srgbClr val="FFFFFF"/>
                </a:solidFill>
              </a:defRPr>
            </a:pPr>
            <a:r>
              <a:t>However, virtualization in the x86 architecture, which dominates modern computing, faced significant technical challenges.</a:t>
            </a:r>
          </a:p>
          <a:p>
            <a:pPr>
              <a:spcBef>
                <a:spcPts val="800"/>
              </a:spcBef>
              <a:spcAft>
                <a:spcPts val="800"/>
              </a:spcAft>
              <a:defRPr sz="2000">
                <a:solidFill>
                  <a:srgbClr val="FFFFFF"/>
                </a:solidFill>
              </a:defRPr>
            </a:pPr>
            <a:r>
              <a:t>The x86 architecture was not originally designed with virtualization in mind, making it difficult to virtualize efficiently.</a:t>
            </a:r>
          </a:p>
          <a:p>
            <a:pPr>
              <a:spcBef>
                <a:spcPts val="800"/>
              </a:spcBef>
              <a:spcAft>
                <a:spcPts val="800"/>
              </a:spcAft>
              <a:defRPr sz="2000">
                <a:solidFill>
                  <a:srgbClr val="FFFFFF"/>
                </a:solidFill>
              </a:defRPr>
            </a:pPr>
            <a:r>
              <a:t>This changed dramatically in 2005-2006 when Intel and AMD introduced hardware virtualization extensions to their processors.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1.2 Historical Context and Evolution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Intel's VT-x (Virtualization Technology) and AMD's AMD-V provided the necessary hardware support to efficiently virtualize x86 systems.</a:t>
            </a:r>
          </a:p>
          <a:p>
            <a:pPr>
              <a:spcBef>
                <a:spcPts val="800"/>
              </a:spcBef>
              <a:spcAft>
                <a:spcPts val="800"/>
              </a:spcAft>
              <a:defRPr sz="2000">
                <a:solidFill>
                  <a:srgbClr val="FFFFFF"/>
                </a:solidFill>
              </a:defRPr>
            </a:pPr>
            <a:r>
              <a:t>These extensions allow the processor to directly support virtualization operations, eliminating the need for complex and performance-degrading software workarounds.</a:t>
            </a:r>
          </a:p>
          <a:p>
            <a:pPr>
              <a:spcBef>
                <a:spcPts val="800"/>
              </a:spcBef>
              <a:spcAft>
                <a:spcPts val="800"/>
              </a:spcAft>
              <a:defRPr sz="2000">
                <a:solidFill>
                  <a:srgbClr val="FFFFFF"/>
                </a:solidFill>
              </a:defRPr>
            </a:pPr>
            <a:r>
              <a:t>The introduction of these hardware features coincided with the emergence of modern open-source virtualization solutions like KVM, which was merged into the Linux kernel in 2007.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Practical Benefits of Virtualization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adoption of virtualization technology delivers several concrete benefits that have made it nearly ubiquitous in modern data centers.</a:t>
            </a:r>
          </a:p>
          <a:p>
            <a:pPr>
              <a:spcBef>
                <a:spcPts val="800"/>
              </a:spcBef>
              <a:spcAft>
                <a:spcPts val="800"/>
              </a:spcAft>
              <a:defRPr sz="2000">
                <a:solidFill>
                  <a:srgbClr val="FFFFFF"/>
                </a:solidFill>
              </a:defRPr>
            </a:pPr>
            <a:r>
              <a:t>Server consolidation represents one of the most immediate and measurable advantages.</a:t>
            </a:r>
          </a:p>
          <a:p>
            <a:pPr>
              <a:spcBef>
                <a:spcPts val="800"/>
              </a:spcBef>
              <a:spcAft>
                <a:spcPts val="800"/>
              </a:spcAft>
              <a:defRPr sz="2000">
                <a:solidFill>
                  <a:srgbClr val="FFFFFF"/>
                </a:solidFill>
              </a:defRPr>
            </a:pPr>
            <a:r>
              <a:t>Organizations that previously required dozens or hundreds of physical servers can consolidate these workloads onto a smaller number of more powerful physical hosts running multiple virtual machines.</a:t>
            </a:r>
          </a:p>
          <a:p>
            <a:pPr>
              <a:spcBef>
                <a:spcPts val="800"/>
              </a:spcBef>
              <a:spcAft>
                <a:spcPts val="800"/>
              </a:spcAft>
              <a:defRPr sz="2000">
                <a:solidFill>
                  <a:srgbClr val="FFFFFF"/>
                </a:solidFill>
              </a:defRPr>
            </a:pPr>
            <a:r>
              <a:t>This consolidation reduces capital expenditure on hardware, lowers power consumption, decreases cooling requirements, and reduces the physical space needed for infrastructure.</a:t>
            </a:r>
          </a:p>
          <a:p>
            <a:pPr>
              <a:spcBef>
                <a:spcPts val="800"/>
              </a:spcBef>
              <a:spcAft>
                <a:spcPts val="800"/>
              </a:spcAft>
              <a:defRPr sz="2000">
                <a:solidFill>
                  <a:srgbClr val="FFFFFF"/>
                </a:solidFill>
              </a:defRPr>
            </a:pPr>
            <a:r>
              <a:t>Consider a concrete example: A medium-sized organization running 20 physical servers, each consuming 200 watts of power, uses 4,000 watts continuously.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Practical Benefits of Virtualization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With appropriate consolidation onto 4 physical hosts running virtual machines, power consumption might drop to 1,200 watts while maintaining the same computational capacity.</a:t>
            </a:r>
          </a:p>
          <a:p>
            <a:pPr>
              <a:spcBef>
                <a:spcPts val="800"/>
              </a:spcBef>
              <a:spcAft>
                <a:spcPts val="800"/>
              </a:spcAft>
              <a:defRPr sz="2000">
                <a:solidFill>
                  <a:srgbClr val="FFFFFF"/>
                </a:solidFill>
              </a:defRPr>
            </a:pPr>
            <a:r>
              <a:t>Over a year, this represents significant savings in electricity costs and reduced cooling requirements, which often consume as much power as the servers themselves.</a:t>
            </a:r>
          </a:p>
          <a:p>
            <a:pPr>
              <a:spcBef>
                <a:spcPts val="800"/>
              </a:spcBef>
              <a:spcAft>
                <a:spcPts val="800"/>
              </a:spcAft>
              <a:defRPr sz="2000">
                <a:solidFill>
                  <a:srgbClr val="FFFFFF"/>
                </a:solidFill>
              </a:defRPr>
            </a:pPr>
            <a:r>
              <a:t>Isolation and security benefits emerge from the separation between virtual machines.</a:t>
            </a:r>
          </a:p>
          <a:p>
            <a:pPr>
              <a:spcBef>
                <a:spcPts val="800"/>
              </a:spcBef>
              <a:spcAft>
                <a:spcPts val="800"/>
              </a:spcAft>
              <a:defRPr sz="2000">
                <a:solidFill>
                  <a:srgbClr val="FFFFFF"/>
                </a:solidFill>
              </a:defRPr>
            </a:pPr>
            <a:r>
              <a:t>Each VM operates in its own isolated environment.</a:t>
            </a:r>
          </a:p>
          <a:p>
            <a:pPr>
              <a:spcBef>
                <a:spcPts val="800"/>
              </a:spcBef>
              <a:spcAft>
                <a:spcPts val="800"/>
              </a:spcAft>
              <a:defRPr sz="2000">
                <a:solidFill>
                  <a:srgbClr val="FFFFFF"/>
                </a:solidFill>
              </a:defRPr>
            </a:pPr>
            <a:r>
              <a:t>If one VM experiences a kernel panic, becomes compromised by malware, or suffers a critical software failure, other VMs on the same physical host continue operating normally.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Practical Benefits of Virtualization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This isolation extends beyond mere process separation within a single OS.</a:t>
            </a:r>
          </a:p>
          <a:p>
            <a:pPr>
              <a:spcBef>
                <a:spcPts val="800"/>
              </a:spcBef>
              <a:spcAft>
                <a:spcPts val="800"/>
              </a:spcAft>
              <a:defRPr sz="2000">
                <a:solidFill>
                  <a:srgbClr val="FFFFFF"/>
                </a:solidFill>
              </a:defRPr>
            </a:pPr>
            <a:r>
              <a:t>VMs have separate virtual hardware, separate kernel instances, and separate network stacks, providing strong isolation boundaries that enhance security and stability.</a:t>
            </a:r>
          </a:p>
          <a:p>
            <a:pPr>
              <a:spcBef>
                <a:spcPts val="800"/>
              </a:spcBef>
              <a:spcAft>
                <a:spcPts val="800"/>
              </a:spcAft>
              <a:defRPr sz="2000">
                <a:solidFill>
                  <a:srgbClr val="FFFFFF"/>
                </a:solidFill>
              </a:defRPr>
            </a:pPr>
            <a:r>
              <a:t>Operational flexibility represents another significant advantage.</a:t>
            </a:r>
          </a:p>
          <a:p>
            <a:pPr>
              <a:spcBef>
                <a:spcPts val="800"/>
              </a:spcBef>
              <a:spcAft>
                <a:spcPts val="800"/>
              </a:spcAft>
              <a:defRPr sz="2000">
                <a:solidFill>
                  <a:srgbClr val="FFFFFF"/>
                </a:solidFill>
              </a:defRPr>
            </a:pPr>
            <a:r>
              <a:t>Deploying a new physical server traditionally required procurement, delivery, racking, cabling, OS installation, and configuration—a process that could take days or weeks.</a:t>
            </a:r>
          </a:p>
          <a:p>
            <a:pPr>
              <a:spcBef>
                <a:spcPts val="800"/>
              </a:spcBef>
              <a:spcAft>
                <a:spcPts val="800"/>
              </a:spcAft>
              <a:defRPr sz="2000">
                <a:solidFill>
                  <a:srgbClr val="FFFFFF"/>
                </a:solidFill>
              </a:defRPr>
            </a:pPr>
            <a:r>
              <a:t>Creating a new virtual machine can be accomplished in minutes.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1.3 Practical Benefits of Virtualization (Part 4)</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Need a test environment identical to production?</a:t>
            </a:r>
          </a:p>
          <a:p>
            <a:pPr>
              <a:spcBef>
                <a:spcPts val="800"/>
              </a:spcBef>
              <a:spcAft>
                <a:spcPts val="800"/>
              </a:spcAft>
              <a:defRPr sz="2000">
                <a:solidFill>
                  <a:srgbClr val="FFFFFF"/>
                </a:solidFill>
              </a:defRPr>
            </a:pPr>
            <a:r>
              <a:t>Clone the production VM and have a perfect replica ready immediately.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1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Virtualization abstracts physical hardware to run multiple OSs concurrently.</a:t>
            </a:r>
          </a:p>
          <a:p>
            <a:pPr>
              <a:spcBef>
                <a:spcPts val="800"/>
              </a:spcBef>
              <a:spcAft>
                <a:spcPts val="800"/>
              </a:spcAft>
              <a:defRPr sz="2000">
                <a:solidFill>
                  <a:srgbClr val="FFFFFF"/>
                </a:solidFill>
              </a:defRPr>
            </a:pPr>
            <a:r>
              <a:t>The Hypervisor is the intermediary layer managing this abstraction.</a:t>
            </a:r>
          </a:p>
          <a:p>
            <a:pPr>
              <a:spcBef>
                <a:spcPts val="800"/>
              </a:spcBef>
              <a:spcAft>
                <a:spcPts val="800"/>
              </a:spcAft>
              <a:defRPr sz="2000">
                <a:solidFill>
                  <a:srgbClr val="FFFFFF"/>
                </a:solidFill>
              </a:defRPr>
            </a:pPr>
            <a:r>
              <a:t>Benefits include server consolidation, isolation, and rapid provisioning.</a:t>
            </a:r>
          </a:p>
          <a:p>
            <a:pPr>
              <a:spcBef>
                <a:spcPts val="800"/>
              </a:spcBef>
              <a:spcAft>
                <a:spcPts val="800"/>
              </a:spcAft>
              <a:defRPr sz="2000">
                <a:solidFill>
                  <a:srgbClr val="FFFFFF"/>
                </a:solidFill>
              </a:defRPr>
            </a:pPr>
            <a:r>
              <a:t>How does the concept of "abstraction" apply to other areas of computing (e.g., programming languages)?</a:t>
            </a:r>
          </a:p>
          <a:p>
            <a:pPr>
              <a:spcBef>
                <a:spcPts val="800"/>
              </a:spcBef>
              <a:spcAft>
                <a:spcPts val="800"/>
              </a:spcAft>
              <a:defRPr sz="2000">
                <a:solidFill>
                  <a:srgbClr val="FFFFFF"/>
                </a:solidFill>
              </a:defRPr>
            </a:pPr>
            <a:r>
              <a:t>Why were hardware virtualization extensions (VT-x/AMD-V) necessary for x86 architecture?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1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Red Hat: What is Virtualization?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2. Types of Hypervisors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Type-1: Bare-Metal Hypervisors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Type-1 hypervisors, commonly referred to as bare-metal hypervisors, run directly on the physical hardware without any intervening operating system.</a:t>
            </a:r>
          </a:p>
          <a:p>
            <a:pPr>
              <a:spcBef>
                <a:spcPts val="800"/>
              </a:spcBef>
              <a:spcAft>
                <a:spcPts val="800"/>
              </a:spcAft>
              <a:defRPr sz="2000">
                <a:solidFill>
                  <a:srgbClr val="FFFFFF"/>
                </a:solidFill>
              </a:defRPr>
            </a:pPr>
            <a:r>
              <a:t>The hypervisor itself serves as the operating system, providing a minimal, purpose-built environment optimized solely for running virtual machines.</a:t>
            </a:r>
          </a:p>
          <a:p>
            <a:pPr>
              <a:spcBef>
                <a:spcPts val="800"/>
              </a:spcBef>
              <a:spcAft>
                <a:spcPts val="800"/>
              </a:spcAft>
              <a:defRPr sz="2000">
                <a:solidFill>
                  <a:srgbClr val="FFFFFF"/>
                </a:solidFill>
              </a:defRPr>
            </a:pPr>
            <a:r>
              <a:t>This architecture eliminates an entire software layer compared to Type-2 hypervisors, which has significant implications for performance, security, and manageability.</a:t>
            </a:r>
          </a:p>
          <a:p>
            <a:pPr>
              <a:spcBef>
                <a:spcPts val="800"/>
              </a:spcBef>
              <a:spcAft>
                <a:spcPts val="800"/>
              </a:spcAft>
              <a:defRPr sz="2000">
                <a:solidFill>
                  <a:srgbClr val="FFFFFF"/>
                </a:solidFill>
              </a:defRPr>
            </a:pPr>
            <a:r>
              <a:t>When a physical server boots with a Type-1 hypervisor installed, the hypervisor loads directly from the boot device and initializes the hardware.</a:t>
            </a:r>
          </a:p>
          <a:p>
            <a:pPr>
              <a:spcBef>
                <a:spcPts val="800"/>
              </a:spcBef>
              <a:spcAft>
                <a:spcPts val="800"/>
              </a:spcAft>
              <a:defRPr sz="2000">
                <a:solidFill>
                  <a:srgbClr val="FFFFFF"/>
                </a:solidFill>
              </a:defRPr>
            </a:pPr>
            <a:r>
              <a:t>The hypervisor takes complete control of physical resources including CPU cores, memory, storage devices, and network interfaces.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Type-1: Bare-Metal Hypervisors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It then presents virtualized versions of these resources to the virtual machines it hosts.</a:t>
            </a:r>
          </a:p>
          <a:p>
            <a:pPr>
              <a:spcBef>
                <a:spcPts val="800"/>
              </a:spcBef>
              <a:spcAft>
                <a:spcPts val="800"/>
              </a:spcAft>
              <a:defRPr sz="2000">
                <a:solidFill>
                  <a:srgbClr val="FFFFFF"/>
                </a:solidFill>
              </a:defRPr>
            </a:pPr>
            <a:r>
              <a:t>Because there is no intermediary operating system consuming resources or adding processing overhead, Type-1 hypervisors can achieve near-native performance.</a:t>
            </a:r>
          </a:p>
          <a:p>
            <a:pPr>
              <a:spcBef>
                <a:spcPts val="800"/>
              </a:spcBef>
              <a:spcAft>
                <a:spcPts val="800"/>
              </a:spcAft>
              <a:defRPr sz="2000">
                <a:solidFill>
                  <a:srgbClr val="FFFFFF"/>
                </a:solidFill>
              </a:defRPr>
            </a:pPr>
            <a:r>
              <a:t>The architecture of a Type-1 hypervisor consists of several key components.</a:t>
            </a:r>
          </a:p>
          <a:p>
            <a:pPr>
              <a:spcBef>
                <a:spcPts val="800"/>
              </a:spcBef>
              <a:spcAft>
                <a:spcPts val="800"/>
              </a:spcAft>
              <a:defRPr sz="2000">
                <a:solidFill>
                  <a:srgbClr val="FFFFFF"/>
                </a:solidFill>
              </a:defRPr>
            </a:pPr>
            <a:r>
              <a:t>The hypervisor kernel manages basic hardware interaction, CPU virtualization, and memory management.</a:t>
            </a:r>
          </a:p>
          <a:p>
            <a:pPr>
              <a:spcBef>
                <a:spcPts val="800"/>
              </a:spcBef>
              <a:spcAft>
                <a:spcPts val="800"/>
              </a:spcAft>
              <a:defRPr sz="2000">
                <a:solidFill>
                  <a:srgbClr val="FFFFFF"/>
                </a:solidFill>
              </a:defRPr>
            </a:pPr>
            <a:r>
              <a:t>Device drivers enable the hypervisor to communicate with physical hardware such as network cards, storage controllers, and management interfaces.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Type-1: Bare-Metal Hypervisors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A management layer provides interfaces for administrators to create, configure, and control virtual machines.</a:t>
            </a:r>
          </a:p>
          <a:p>
            <a:pPr>
              <a:spcBef>
                <a:spcPts val="800"/>
              </a:spcBef>
              <a:spcAft>
                <a:spcPts val="800"/>
              </a:spcAft>
              <a:defRPr sz="2000">
                <a:solidFill>
                  <a:srgbClr val="FFFFFF"/>
                </a:solidFill>
              </a:defRPr>
            </a:pPr>
            <a:r>
              <a:t>In modern hypervisors like Proxmox VE, this management layer includes a web-based interface that simplifies VM lifecycle management.</a:t>
            </a:r>
          </a:p>
          <a:p>
            <a:pPr>
              <a:spcBef>
                <a:spcPts val="800"/>
              </a:spcBef>
              <a:spcAft>
                <a:spcPts val="800"/>
              </a:spcAft>
              <a:defRPr sz="2000">
                <a:solidFill>
                  <a:srgbClr val="FFFFFF"/>
                </a:solidFill>
              </a:defRPr>
            </a:pPr>
            <a:r>
              <a:t>Major examples of Type-1 hypervisors include Proxmox VE, which we will use throughout this course, VMware ESXi, which dominates enterprise virtualization deployments, Microsoft Hyper-V, which powers Azure's cloud infrastructure, and Xen, which is used by Amazon Web Services for EC2 instances.</a:t>
            </a:r>
          </a:p>
          <a:p>
            <a:pPr>
              <a:spcBef>
                <a:spcPts val="800"/>
              </a:spcBef>
              <a:spcAft>
                <a:spcPts val="800"/>
              </a:spcAft>
              <a:defRPr sz="2000">
                <a:solidFill>
                  <a:srgbClr val="FFFFFF"/>
                </a:solidFill>
              </a:defRPr>
            </a:pPr>
            <a:r>
              <a:t>These hypervisors share common characteristics: they install directly on server hardware, provide high performance through direct hardware access, and are designed for production workloads requiring reliability and efficiency.</a:t>
            </a:r>
          </a:p>
          <a:p>
            <a:pPr>
              <a:spcBef>
                <a:spcPts val="800"/>
              </a:spcBef>
              <a:spcAft>
                <a:spcPts val="800"/>
              </a:spcAft>
              <a:defRPr sz="2000">
                <a:solidFill>
                  <a:srgbClr val="FFFFFF"/>
                </a:solidFill>
              </a:defRPr>
            </a:pPr>
            <a:r>
              <a:t>The performance advantage of Type-1 hypervisors stems from their direct hardware access.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Type-1: Bare-Metal Hypervisors (Part 4)</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When a virtual CPU needs to execute instructions, the hypervisor can schedule that vCPU to run directly on a physical CPU core with minimal overhead.</a:t>
            </a:r>
          </a:p>
          <a:p>
            <a:pPr>
              <a:spcBef>
                <a:spcPts val="800"/>
              </a:spcBef>
              <a:spcAft>
                <a:spcPts val="800"/>
              </a:spcAft>
              <a:defRPr sz="2000">
                <a:solidFill>
                  <a:srgbClr val="FFFFFF"/>
                </a:solidFill>
              </a:defRPr>
            </a:pPr>
            <a:r>
              <a:t>Hardware virtualization extensions like Intel VT-x and AMD-V enable the processor to switch between different virtual machines efficiently, with the hypervisor maintaining control when necessary but allowing VMs to execute at near-native speed most of the time.</a:t>
            </a:r>
          </a:p>
          <a:p>
            <a:pPr>
              <a:spcBef>
                <a:spcPts val="800"/>
              </a:spcBef>
              <a:spcAft>
                <a:spcPts val="800"/>
              </a:spcAft>
              <a:defRPr sz="2000">
                <a:solidFill>
                  <a:srgbClr val="FFFFFF"/>
                </a:solidFill>
              </a:defRPr>
            </a:pPr>
            <a:r>
              <a:t>Security benefits also emerge from the Type-1 architecture.</a:t>
            </a:r>
          </a:p>
          <a:p>
            <a:pPr>
              <a:spcBef>
                <a:spcPts val="800"/>
              </a:spcBef>
              <a:spcAft>
                <a:spcPts val="800"/>
              </a:spcAft>
              <a:defRPr sz="2000">
                <a:solidFill>
                  <a:srgbClr val="FFFFFF"/>
                </a:solidFill>
              </a:defRPr>
            </a:pPr>
            <a:r>
              <a:t>With no underlying operating system, the attack surface is dramatically reduced compared to Type-2 hypervisors.</a:t>
            </a:r>
          </a:p>
          <a:p>
            <a:pPr>
              <a:spcBef>
                <a:spcPts val="800"/>
              </a:spcBef>
              <a:spcAft>
                <a:spcPts val="800"/>
              </a:spcAft>
              <a:defRPr sz="2000">
                <a:solidFill>
                  <a:srgbClr val="FFFFFF"/>
                </a:solidFill>
              </a:defRPr>
            </a:pPr>
            <a:r>
              <a:t>There is no general-purpose OS with system services, user accounts, or application software that could contain vulnerabilities.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2.1 Type-1: Bare-Metal Hypervisors (Part 5)</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hypervisor is purpose-built for virtualization, with a minimal codebase focused solely on managing virtual machines, which reduces the potential for security flaws.</a:t>
            </a:r>
          </a:p>
          <a:p>
            <a:pPr>
              <a:spcBef>
                <a:spcPts val="800"/>
              </a:spcBef>
              <a:spcAft>
                <a:spcPts val="800"/>
              </a:spcAft>
              <a:defRPr sz="2000">
                <a:solidFill>
                  <a:srgbClr val="FFFFFF"/>
                </a:solidFill>
              </a:defRPr>
            </a:pPr>
            <a:r>
              <a:t>Type-1 hypervisors are the standard choice for production server environments, data centers, and cloud infrastructure.</a:t>
            </a:r>
          </a:p>
          <a:p>
            <a:pPr>
              <a:spcBef>
                <a:spcPts val="800"/>
              </a:spcBef>
              <a:spcAft>
                <a:spcPts val="800"/>
              </a:spcAft>
              <a:defRPr sz="2000">
                <a:solidFill>
                  <a:srgbClr val="FFFFFF"/>
                </a:solidFill>
              </a:defRPr>
            </a:pPr>
            <a:r>
              <a:t>They excel in scenarios where performance, reliability, and resource efficiency are paramount.</a:t>
            </a:r>
          </a:p>
          <a:p>
            <a:pPr>
              <a:spcBef>
                <a:spcPts val="800"/>
              </a:spcBef>
              <a:spcAft>
                <a:spcPts val="800"/>
              </a:spcAft>
              <a:defRPr sz="2000">
                <a:solidFill>
                  <a:srgbClr val="FFFFFF"/>
                </a:solidFill>
              </a:defRPr>
            </a:pPr>
            <a:r>
              <a:t>Organizations running business-critical applications, operating 24/7 services, or managing large-scale virtualization deployments invariably choose Type-1 hypervisors for their infrastructure.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Type-2: Hosted Hypervisors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Type-2 hypervisors take a fundamentally different architectural approach.</a:t>
            </a:r>
          </a:p>
          <a:p>
            <a:pPr>
              <a:spcBef>
                <a:spcPts val="800"/>
              </a:spcBef>
              <a:spcAft>
                <a:spcPts val="800"/>
              </a:spcAft>
              <a:defRPr sz="2000">
                <a:solidFill>
                  <a:srgbClr val="FFFFFF"/>
                </a:solidFill>
              </a:defRPr>
            </a:pPr>
            <a:r>
              <a:t>Rather than running directly on hardware, a Type-2 hypervisor runs as an application on top of a conventional operating system.</a:t>
            </a:r>
          </a:p>
          <a:p>
            <a:pPr>
              <a:spcBef>
                <a:spcPts val="800"/>
              </a:spcBef>
              <a:spcAft>
                <a:spcPts val="800"/>
              </a:spcAft>
              <a:defRPr sz="2000">
                <a:solidFill>
                  <a:srgbClr val="FFFFFF"/>
                </a:solidFill>
              </a:defRPr>
            </a:pPr>
            <a:r>
              <a:t>The host operating system retains control of the physical hardware, and the hypervisor software requests resources from this host OS rather than managing hardware directly.</a:t>
            </a:r>
          </a:p>
          <a:p>
            <a:pPr>
              <a:spcBef>
                <a:spcPts val="800"/>
              </a:spcBef>
              <a:spcAft>
                <a:spcPts val="800"/>
              </a:spcAft>
              <a:defRPr sz="2000">
                <a:solidFill>
                  <a:srgbClr val="FFFFFF"/>
                </a:solidFill>
              </a:defRPr>
            </a:pPr>
            <a:r>
              <a:t>This creates an additional layer in the software stack: physical hardware, host operating system, hypervisor application, and finally the virtual machines.</a:t>
            </a:r>
          </a:p>
          <a:p>
            <a:pPr>
              <a:spcBef>
                <a:spcPts val="800"/>
              </a:spcBef>
              <a:spcAft>
                <a:spcPts val="800"/>
              </a:spcAft>
              <a:defRPr sz="2000">
                <a:solidFill>
                  <a:srgbClr val="FFFFFF"/>
                </a:solidFill>
              </a:defRPr>
            </a:pPr>
            <a:r>
              <a:t>The layered architecture of Type-2 hypervisors has significant implications.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Type-2: Hosted Hypervisors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When a VM running on a Type-2 hypervisor needs to perform an operation, the request passes through multiple layers.</a:t>
            </a:r>
          </a:p>
          <a:p>
            <a:pPr>
              <a:spcBef>
                <a:spcPts val="800"/>
              </a:spcBef>
              <a:spcAft>
                <a:spcPts val="800"/>
              </a:spcAft>
              <a:defRPr sz="2000">
                <a:solidFill>
                  <a:srgbClr val="FFFFFF"/>
                </a:solidFill>
              </a:defRPr>
            </a:pPr>
            <a:r>
              <a:t>For example, a disk write operation initiated by a guest OS goes to the virtual disk controller, which the hypervisor application handles by making system calls to the host operating system, which then interacts with the physical storage hardware.</a:t>
            </a:r>
          </a:p>
          <a:p>
            <a:pPr>
              <a:spcBef>
                <a:spcPts val="800"/>
              </a:spcBef>
              <a:spcAft>
                <a:spcPts val="800"/>
              </a:spcAft>
              <a:defRPr sz="2000">
                <a:solidFill>
                  <a:srgbClr val="FFFFFF"/>
                </a:solidFill>
              </a:defRPr>
            </a:pPr>
            <a:r>
              <a:t>Each layer adds processing overhead and context switching, resulting in reduced performance compared to Type-1 hypervisors.</a:t>
            </a:r>
          </a:p>
          <a:p>
            <a:pPr>
              <a:spcBef>
                <a:spcPts val="800"/>
              </a:spcBef>
              <a:spcAft>
                <a:spcPts val="800"/>
              </a:spcAft>
              <a:defRPr sz="2000">
                <a:solidFill>
                  <a:srgbClr val="FFFFFF"/>
                </a:solidFill>
              </a:defRPr>
            </a:pPr>
            <a:r>
              <a:t>Common examples of Type-2 hypervisors include Oracle VirtualBox, which is widely used for desktop virtualization and testing, VMware Workstation, which provides advanced features for developers and testers on Windows and Linux hosts, and Parallels Desktop, which enables macOS users to run Windows and Linux virtual machines.</a:t>
            </a:r>
          </a:p>
          <a:p>
            <a:pPr>
              <a:spcBef>
                <a:spcPts val="800"/>
              </a:spcBef>
              <a:spcAft>
                <a:spcPts val="800"/>
              </a:spcAft>
              <a:defRPr sz="2000">
                <a:solidFill>
                  <a:srgbClr val="FFFFFF"/>
                </a:solidFill>
              </a:defRPr>
            </a:pPr>
            <a:r>
              <a:t>These products are designed primarily for desktop and development use cases rather than production server deployments.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Type-2: Hosted Hypervisors (Part 3)</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major advantage of Type-2 hypervisors is their accessibility and ease of use.</a:t>
            </a:r>
          </a:p>
          <a:p>
            <a:pPr>
              <a:spcBef>
                <a:spcPts val="800"/>
              </a:spcBef>
              <a:spcAft>
                <a:spcPts val="800"/>
              </a:spcAft>
              <a:defRPr sz="2000">
                <a:solidFill>
                  <a:srgbClr val="FFFFFF"/>
                </a:solidFill>
              </a:defRPr>
            </a:pPr>
            <a:r>
              <a:t>Installation involves downloading the hypervisor software and running a standard installation wizard on your existing operating system, whether Windows, macOS, or Linux.</a:t>
            </a:r>
          </a:p>
          <a:p>
            <a:pPr>
              <a:spcBef>
                <a:spcPts val="800"/>
              </a:spcBef>
              <a:spcAft>
                <a:spcPts val="800"/>
              </a:spcAft>
              <a:defRPr sz="2000">
                <a:solidFill>
                  <a:srgbClr val="FFFFFF"/>
                </a:solidFill>
              </a:defRPr>
            </a:pPr>
            <a:r>
              <a:t>There is no need to dedicate the entire physical machine to virtualization; you can continue using your computer normally while running virtual machines when needed.</a:t>
            </a:r>
          </a:p>
          <a:p>
            <a:pPr>
              <a:spcBef>
                <a:spcPts val="800"/>
              </a:spcBef>
              <a:spcAft>
                <a:spcPts val="800"/>
              </a:spcAft>
              <a:defRPr sz="2000">
                <a:solidFill>
                  <a:srgbClr val="FFFFFF"/>
                </a:solidFill>
              </a:defRPr>
            </a:pPr>
            <a:r>
              <a:t>This makes Type-2 hypervisors excellent choices for developers who need to test software on different operating systems, IT professionals learning virtualization concepts, or users who occasionally need to run applications from different operating systems.</a:t>
            </a:r>
          </a:p>
          <a:p>
            <a:pPr>
              <a:spcBef>
                <a:spcPts val="800"/>
              </a:spcBef>
              <a:spcAft>
                <a:spcPts val="800"/>
              </a:spcAft>
              <a:defRPr sz="2000">
                <a:solidFill>
                  <a:srgbClr val="FFFFFF"/>
                </a:solidFill>
              </a:defRPr>
            </a:pPr>
            <a:r>
              <a:t>However, Type-2 hypervisors have clear limitations.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Type-2: Hosted Hypervisors (Part 4)</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performance overhead from the additional OS layer makes them unsuitable for performance-sensitive production workloads.</a:t>
            </a:r>
          </a:p>
          <a:p>
            <a:pPr>
              <a:spcBef>
                <a:spcPts val="800"/>
              </a:spcBef>
              <a:spcAft>
                <a:spcPts val="800"/>
              </a:spcAft>
              <a:defRPr sz="2000">
                <a:solidFill>
                  <a:srgbClr val="FFFFFF"/>
                </a:solidFill>
              </a:defRPr>
            </a:pPr>
            <a:r>
              <a:t>The host operating system consumes significant resources that are therefore unavailable to virtual machines.</a:t>
            </a:r>
          </a:p>
          <a:p>
            <a:pPr>
              <a:spcBef>
                <a:spcPts val="800"/>
              </a:spcBef>
              <a:spcAft>
                <a:spcPts val="800"/>
              </a:spcAft>
              <a:defRPr sz="2000">
                <a:solidFill>
                  <a:srgbClr val="FFFFFF"/>
                </a:solidFill>
              </a:defRPr>
            </a:pPr>
            <a:r>
              <a:t>If the host OS experiences problems or requires maintenance and reboots, all running VMs are affected.</a:t>
            </a:r>
          </a:p>
          <a:p>
            <a:pPr>
              <a:spcBef>
                <a:spcPts val="800"/>
              </a:spcBef>
              <a:spcAft>
                <a:spcPts val="800"/>
              </a:spcAft>
              <a:defRPr sz="2000">
                <a:solidFill>
                  <a:srgbClr val="FFFFFF"/>
                </a:solidFill>
              </a:defRPr>
            </a:pPr>
            <a:r>
              <a:t>These factors make Type-2 hypervisors inappropriate for production server deployments where reliability and performance are critical.</a:t>
            </a:r>
          </a:p>
          <a:p>
            <a:pPr>
              <a:spcBef>
                <a:spcPts val="800"/>
              </a:spcBef>
              <a:spcAft>
                <a:spcPts val="800"/>
              </a:spcAft>
              <a:defRPr sz="2000">
                <a:solidFill>
                  <a:srgbClr val="FFFFFF"/>
                </a:solidFill>
              </a:defRPr>
            </a:pPr>
            <a:r>
              <a:t>The distinction between Type-1 and Type-2 hypervisors is fundamental to understanding virtualization architecture.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2.2 Type-2: Hosted Hypervisors (Part 5)</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Type-1 hypervisors represent the professional, production-grade approach optimized for performance and reliability at the cost of dedicating hardware to virtualization.</a:t>
            </a:r>
          </a:p>
          <a:p>
            <a:pPr>
              <a:spcBef>
                <a:spcPts val="800"/>
              </a:spcBef>
              <a:spcAft>
                <a:spcPts val="800"/>
              </a:spcAft>
              <a:defRPr sz="2000">
                <a:solidFill>
                  <a:srgbClr val="FFFFFF"/>
                </a:solidFill>
              </a:defRPr>
            </a:pPr>
            <a:r>
              <a:t>Type-2 hypervisors represent a more accessible, flexible approach suitable for development, testing, and learning, accepting performance trade-offs in exchange for the convenience of running on an existing desktop operating system.</a:t>
            </a:r>
          </a:p>
          <a:p>
            <a:pPr>
              <a:spcBef>
                <a:spcPts val="800"/>
              </a:spcBef>
              <a:spcAft>
                <a:spcPts val="800"/>
              </a:spcAft>
              <a:defRPr sz="2000">
                <a:solidFill>
                  <a:srgbClr val="FFFFFF"/>
                </a:solidFill>
              </a:defRPr>
            </a:pPr>
            <a:r>
              <a:t>For this course, we use Proxmox VE, a Type-1 hypervisor, because it provides professional-grade capabilities while remaining accessible for learning purposes.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2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Type-1 (Bare Metal): Runs directly on hardware (Proxmox, ESXi). Best for performance/security.</a:t>
            </a:r>
          </a:p>
          <a:p>
            <a:pPr>
              <a:spcBef>
                <a:spcPts val="800"/>
              </a:spcBef>
              <a:spcAft>
                <a:spcPts val="800"/>
              </a:spcAft>
              <a:defRPr sz="2000">
                <a:solidFill>
                  <a:srgbClr val="FFFFFF"/>
                </a:solidFill>
              </a:defRPr>
            </a:pPr>
            <a:r>
              <a:t>Type-2 (Hosted): Runs as an app on an OS (VirtualBox). Best for testing/desktops.</a:t>
            </a:r>
          </a:p>
          <a:p>
            <a:pPr>
              <a:spcBef>
                <a:spcPts val="800"/>
              </a:spcBef>
              <a:spcAft>
                <a:spcPts val="800"/>
              </a:spcAft>
              <a:defRPr sz="2000">
                <a:solidFill>
                  <a:srgbClr val="FFFFFF"/>
                </a:solidFill>
              </a:defRPr>
            </a:pPr>
            <a:r>
              <a:t>Major trade-off is Performance vs. Convenience.</a:t>
            </a:r>
          </a:p>
          <a:p>
            <a:pPr>
              <a:spcBef>
                <a:spcPts val="800"/>
              </a:spcBef>
              <a:spcAft>
                <a:spcPts val="800"/>
              </a:spcAft>
              <a:defRPr sz="2000">
                <a:solidFill>
                  <a:srgbClr val="FFFFFF"/>
                </a:solidFill>
              </a:defRPr>
            </a:pPr>
            <a:r>
              <a:t>In what specific scenario would a Type-2 hypervisor be preferred over Type-1?</a:t>
            </a:r>
          </a:p>
          <a:p>
            <a:pPr>
              <a:spcBef>
                <a:spcPts val="800"/>
              </a:spcBef>
              <a:spcAft>
                <a:spcPts val="800"/>
              </a:spcAft>
              <a:defRPr sz="2000">
                <a:solidFill>
                  <a:srgbClr val="FFFFFF"/>
                </a:solidFill>
              </a:defRPr>
            </a:pPr>
            <a:r>
              <a:t>Why is the "attack surface" of a Type-1 hypervisor considered smaller?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2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VMware: Type 1 vs Type 2 Hypervisors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3. Virtual Machine Anatomy (Concepts &amp; Components)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3.1 The Virtual CPU (vCPU)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The most critical resource for any computer is its processor.</a:t>
            </a:r>
          </a:p>
          <a:p>
            <a:pPr>
              <a:spcBef>
                <a:spcPts val="800"/>
              </a:spcBef>
              <a:spcAft>
                <a:spcPts val="800"/>
              </a:spcAft>
              <a:defRPr sz="2000">
                <a:solidFill>
                  <a:srgbClr val="FFFFFF"/>
                </a:solidFill>
              </a:defRPr>
            </a:pPr>
            <a:r>
              <a:t>The vCPU is the processing unit of your virtual machine, allowing the guest operating system to execute instructions as if it had exclusive access to a core.</a:t>
            </a:r>
          </a:p>
          <a:p>
            <a:pPr>
              <a:spcBef>
                <a:spcPts val="800"/>
              </a:spcBef>
              <a:spcAft>
                <a:spcPts val="800"/>
              </a:spcAft>
              <a:defRPr sz="2000">
                <a:solidFill>
                  <a:srgbClr val="FFFFFF"/>
                </a:solidFill>
              </a:defRPr>
            </a:pPr>
            <a:r>
              <a:t>In reality, the hypervisor schedules the vCPU on a physical CPU core for short durations, known as time-slicing.</a:t>
            </a:r>
          </a:p>
          <a:p>
            <a:pPr>
              <a:spcBef>
                <a:spcPts val="800"/>
              </a:spcBef>
              <a:spcAft>
                <a:spcPts val="800"/>
              </a:spcAft>
              <a:defRPr sz="2000">
                <a:solidFill>
                  <a:srgbClr val="FFFFFF"/>
                </a:solidFill>
              </a:defRPr>
            </a:pPr>
            <a:r>
              <a:t>A critical rule in virtualization is to never allocate more vCPUs than you have physical cores.</a:t>
            </a:r>
          </a:p>
          <a:p>
            <a:pPr>
              <a:spcBef>
                <a:spcPts val="800"/>
              </a:spcBef>
              <a:spcAft>
                <a:spcPts val="800"/>
              </a:spcAft>
              <a:defRPr sz="2000">
                <a:solidFill>
                  <a:srgbClr val="FFFFFF"/>
                </a:solidFill>
              </a:defRPr>
            </a:pPr>
            <a:r>
              <a:t>Violating this leads to "CPU Contention," where multiple VMs fight for the scheduler's attention, causing significant performance degradation across the entire system.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3.1 The Virtual CPU (vCPU)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When configuring local resources, you must also choose a CPU Type.</a:t>
            </a:r>
          </a:p>
          <a:p>
            <a:pPr>
              <a:spcBef>
                <a:spcPts val="800"/>
              </a:spcBef>
              <a:spcAft>
                <a:spcPts val="800"/>
              </a:spcAft>
              <a:defRPr sz="2000">
                <a:solidFill>
                  <a:srgbClr val="FFFFFF"/>
                </a:solidFill>
              </a:defRPr>
            </a:pPr>
            <a:r>
              <a:t>The Host Mode passes your exact physical CPU model and instruction set to the VM, offering maximum performance and transparency.</a:t>
            </a:r>
          </a:p>
          <a:p>
            <a:pPr>
              <a:spcBef>
                <a:spcPts val="800"/>
              </a:spcBef>
              <a:spcAft>
                <a:spcPts val="800"/>
              </a:spcAft>
              <a:defRPr sz="2000">
                <a:solidFill>
                  <a:srgbClr val="FFFFFF"/>
                </a:solidFill>
              </a:defRPr>
            </a:pPr>
            <a:r>
              <a:t>However, this restricts portability; a VM created in Host Mode on an Intel server may crash if migrated to an AMD server.</a:t>
            </a:r>
          </a:p>
          <a:p>
            <a:pPr>
              <a:spcBef>
                <a:spcPts val="800"/>
              </a:spcBef>
              <a:spcAft>
                <a:spcPts val="800"/>
              </a:spcAft>
              <a:defRPr sz="2000">
                <a:solidFill>
                  <a:srgbClr val="FFFFFF"/>
                </a:solidFill>
              </a:defRPr>
            </a:pPr>
            <a:r>
              <a:t>Alternatively, the Generic (kvm64) type presents a standard, simplified processor to the VM, guaranteeing it can run on any hardware at the cost of some performance optimizations.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3.2 Virtual RAM (vRAM)</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While CPU time can be shared, memory is a finite resource.</a:t>
            </a:r>
          </a:p>
          <a:p>
            <a:pPr>
              <a:spcBef>
                <a:spcPts val="800"/>
              </a:spcBef>
              <a:spcAft>
                <a:spcPts val="800"/>
              </a:spcAft>
              <a:defRPr sz="2000">
                <a:solidFill>
                  <a:srgbClr val="FFFFFF"/>
                </a:solidFill>
              </a:defRPr>
            </a:pPr>
            <a:r>
              <a:t>vRAM differs significantly from vCPU allocation because memory cannot be easily time-sliced.</a:t>
            </a:r>
          </a:p>
          <a:p>
            <a:pPr>
              <a:spcBef>
                <a:spcPts val="800"/>
              </a:spcBef>
              <a:spcAft>
                <a:spcPts val="800"/>
              </a:spcAft>
              <a:defRPr sz="2000">
                <a:solidFill>
                  <a:srgbClr val="FFFFFF"/>
                </a:solidFill>
              </a:defRPr>
            </a:pPr>
            <a:r>
              <a:t>When you assign vRAM, the hypervisor allocates a dedicated block of physical RAM to that VM.</a:t>
            </a:r>
          </a:p>
          <a:p>
            <a:pPr>
              <a:spcBef>
                <a:spcPts val="800"/>
              </a:spcBef>
              <a:spcAft>
                <a:spcPts val="800"/>
              </a:spcAft>
              <a:defRPr sz="2000">
                <a:solidFill>
                  <a:srgbClr val="FFFFFF"/>
                </a:solidFill>
              </a:defRPr>
            </a:pPr>
            <a:r>
              <a:t>Therefore, the golden rule of memory allocation is to never over-commit RAM.</a:t>
            </a:r>
          </a:p>
          <a:p>
            <a:pPr>
              <a:spcBef>
                <a:spcPts val="800"/>
              </a:spcBef>
              <a:spcAft>
                <a:spcPts val="800"/>
              </a:spcAft>
              <a:defRPr sz="2000">
                <a:solidFill>
                  <a:srgbClr val="FFFFFF"/>
                </a:solidFill>
              </a:defRPr>
            </a:pPr>
            <a:r>
              <a:t>Unlike CPU cycles, which can be queued, RAM is a hard limit.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3.3 Virtual Disk (Storage)</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Once processing and memory are handled, a VM needs a place to persist data.</a:t>
            </a:r>
          </a:p>
          <a:p>
            <a:pPr>
              <a:spcBef>
                <a:spcPts val="800"/>
              </a:spcBef>
              <a:spcAft>
                <a:spcPts val="800"/>
              </a:spcAft>
              <a:defRPr sz="2000">
                <a:solidFill>
                  <a:srgbClr val="FFFFFF"/>
                </a:solidFill>
              </a:defRPr>
            </a:pPr>
            <a:r>
              <a:t>To a virtual machine, the vDisk appears as a standard SATA or SCSI hard drive, but to the hypervisor, it is simply a file (encapsulation).</a:t>
            </a:r>
          </a:p>
          <a:p>
            <a:pPr>
              <a:spcBef>
                <a:spcPts val="800"/>
              </a:spcBef>
              <a:spcAft>
                <a:spcPts val="800"/>
              </a:spcAft>
              <a:defRPr sz="2000">
                <a:solidFill>
                  <a:srgbClr val="FFFFFF"/>
                </a:solidFill>
              </a:defRPr>
            </a:pPr>
            <a:r>
              <a:t>This makes backing up a VM as simple as copying a file.</a:t>
            </a:r>
          </a:p>
          <a:p>
            <a:pPr>
              <a:spcBef>
                <a:spcPts val="800"/>
              </a:spcBef>
              <a:spcAft>
                <a:spcPts val="800"/>
              </a:spcAft>
              <a:defRPr sz="2000">
                <a:solidFill>
                  <a:srgbClr val="FFFFFF"/>
                </a:solidFill>
              </a:defRPr>
            </a:pPr>
            <a:r>
              <a:t>Administrators must choose between two provisioning methods.</a:t>
            </a:r>
          </a:p>
          <a:p>
            <a:pPr>
              <a:spcBef>
                <a:spcPts val="800"/>
              </a:spcBef>
              <a:spcAft>
                <a:spcPts val="800"/>
              </a:spcAft>
              <a:defRPr sz="2000">
                <a:solidFill>
                  <a:srgbClr val="FFFFFF"/>
                </a:solidFill>
              </a:defRPr>
            </a:pPr>
            <a:r>
              <a:t>Thin Provisioning (QCOW2) creates a file that starts small and grows only as data is written, making it space-efficient but requiring careful monitoring to prevent filling the physical storage.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3.4 Virtual Network Interface (vNIC)</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Finally, for a VM to communicate with the outside world, it requires a vNIC.</a:t>
            </a:r>
          </a:p>
          <a:p>
            <a:pPr>
              <a:spcBef>
                <a:spcPts val="800"/>
              </a:spcBef>
              <a:spcAft>
                <a:spcPts val="800"/>
              </a:spcAft>
              <a:defRPr sz="2000">
                <a:solidFill>
                  <a:srgbClr val="FFFFFF"/>
                </a:solidFill>
              </a:defRPr>
            </a:pPr>
            <a:r>
              <a:t>This component connects the VM to a virtual switch (Bridge) on the host, acting as the bridge between the virtual and physical networks.</a:t>
            </a:r>
          </a:p>
          <a:p>
            <a:pPr>
              <a:spcBef>
                <a:spcPts val="800"/>
              </a:spcBef>
              <a:spcAft>
                <a:spcPts val="800"/>
              </a:spcAft>
              <a:defRPr sz="2000">
                <a:solidFill>
                  <a:srgbClr val="FFFFFF"/>
                </a:solidFill>
              </a:defRPr>
            </a:pPr>
            <a:r>
              <a:t>You will typically choose between two types of interfaces.</a:t>
            </a:r>
          </a:p>
          <a:p>
            <a:pPr>
              <a:spcBef>
                <a:spcPts val="800"/>
              </a:spcBef>
              <a:spcAft>
                <a:spcPts val="800"/>
              </a:spcAft>
              <a:defRPr sz="2000">
                <a:solidFill>
                  <a:srgbClr val="FFFFFF"/>
                </a:solidFill>
              </a:defRPr>
            </a:pPr>
            <a:r>
              <a:t>The Emulated (E1000) interface mimics a real Intel network card, ensuring compatibility with almost any operating system out of the box, though it incurs higher CPU overhead.</a:t>
            </a:r>
          </a:p>
          <a:p>
            <a:pPr>
              <a:spcBef>
                <a:spcPts val="800"/>
              </a:spcBef>
              <a:spcAft>
                <a:spcPts val="800"/>
              </a:spcAft>
              <a:defRPr sz="2000">
                <a:solidFill>
                  <a:srgbClr val="FFFFFF"/>
                </a:solidFill>
              </a:defRPr>
            </a:pPr>
            <a:r>
              <a:t>For performance-critical workloads, the Paravirtualized (VirtIO) interface is preferred; it is a software-defined card designed specifically for virtualization that works directly with the hypervisor to achieve network speeds often exceeding 10Gbps, though it requires specific drivers in the guest OS.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3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vCPU: Do not over-allocate cores. Use 'Host' type for speed.</a:t>
            </a:r>
          </a:p>
          <a:p>
            <a:pPr>
              <a:spcBef>
                <a:spcPts val="800"/>
              </a:spcBef>
              <a:spcAft>
                <a:spcPts val="800"/>
              </a:spcAft>
              <a:defRPr sz="2000">
                <a:solidFill>
                  <a:srgbClr val="FFFFFF"/>
                </a:solidFill>
              </a:defRPr>
            </a:pPr>
            <a:r>
              <a:t>vRAM: RAM is a hard limit. Do not over-commit.</a:t>
            </a:r>
          </a:p>
          <a:p>
            <a:pPr>
              <a:spcBef>
                <a:spcPts val="800"/>
              </a:spcBef>
              <a:spcAft>
                <a:spcPts val="800"/>
              </a:spcAft>
              <a:defRPr sz="2000">
                <a:solidFill>
                  <a:srgbClr val="FFFFFF"/>
                </a:solidFill>
              </a:defRPr>
            </a:pPr>
            <a:r>
              <a:t>vDisk: RAW is fast (Thick), QCOW2 is flexible (Thin).</a:t>
            </a:r>
          </a:p>
          <a:p>
            <a:pPr>
              <a:spcBef>
                <a:spcPts val="800"/>
              </a:spcBef>
              <a:spcAft>
                <a:spcPts val="800"/>
              </a:spcAft>
              <a:defRPr sz="2000">
                <a:solidFill>
                  <a:srgbClr val="FFFFFF"/>
                </a:solidFill>
              </a:defRPr>
            </a:pPr>
            <a:r>
              <a:t>vNIC: Use VirtIO for performance, E1000 for compatibility.</a:t>
            </a:r>
          </a:p>
          <a:p>
            <a:pPr>
              <a:spcBef>
                <a:spcPts val="800"/>
              </a:spcBef>
              <a:spcAft>
                <a:spcPts val="800"/>
              </a:spcAft>
              <a:defRPr sz="2000">
                <a:solidFill>
                  <a:srgbClr val="FFFFFF"/>
                </a:solidFill>
              </a:defRPr>
            </a:pPr>
            <a:r>
              <a:t>Why is "Thin Provisioning" dangerous if you are not monitoring your storage?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3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If you have an 8-Core CPU, why is it bad to give a single VM 8 vCPUs?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4. Beyond Compute: The Software Defined Data Center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4.1 Network Virtualization (SDN)</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In the physical world, connecting servers requires physical switches and cabling.</a:t>
            </a:r>
          </a:p>
          <a:p>
            <a:pPr>
              <a:spcBef>
                <a:spcPts val="800"/>
              </a:spcBef>
              <a:spcAft>
                <a:spcPts val="800"/>
              </a:spcAft>
              <a:defRPr sz="2000">
                <a:solidFill>
                  <a:srgbClr val="FFFFFF"/>
                </a:solidFill>
              </a:defRPr>
            </a:pPr>
            <a:r>
              <a:t>Software Defined Networking (SDN) eliminates this physical dependency by introducing the virtual switch—a software component residing within the hypervisor that functions exactly like its physical counterpart.</a:t>
            </a:r>
          </a:p>
          <a:p>
            <a:pPr>
              <a:spcBef>
                <a:spcPts val="800"/>
              </a:spcBef>
              <a:spcAft>
                <a:spcPts val="800"/>
              </a:spcAft>
              <a:defRPr sz="2000">
                <a:solidFill>
                  <a:srgbClr val="FFFFFF"/>
                </a:solidFill>
              </a:defRPr>
            </a:pPr>
            <a:r>
              <a:t>This architecture decouples the network's control plane (intelligence) from the data plane (packet forwarding), allowing administrators to create complex network topologies, VLANs, and firewalls programmatically without ever touching a physical cable.</a:t>
            </a:r>
          </a:p>
          <a:p>
            <a:pPr>
              <a:spcBef>
                <a:spcPts val="800"/>
              </a:spcBef>
              <a:spcAft>
                <a:spcPts val="800"/>
              </a:spcAft>
              <a:defRPr sz="2000">
                <a:solidFill>
                  <a:srgbClr val="FFFFFF"/>
                </a:solidFill>
              </a:defRPr>
            </a:pPr>
            <a:r>
              <a:t>We will explore these concepts in depth, including Linux Bridges, in Week 4: Virtual Networking.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4.2 Storage Virtualization (SDS)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Software Defined Storage (SDS) fundamentally changes how we manage data persistence.</a:t>
            </a:r>
          </a:p>
          <a:p>
            <a:pPr>
              <a:spcBef>
                <a:spcPts val="800"/>
              </a:spcBef>
              <a:spcAft>
                <a:spcPts val="800"/>
              </a:spcAft>
              <a:defRPr sz="2000">
                <a:solidFill>
                  <a:srgbClr val="FFFFFF"/>
                </a:solidFill>
              </a:defRPr>
            </a:pPr>
            <a:r>
              <a:t>Rather than relying on isolated physical disks attached to specific servers, SDS aggregates storage devices from multiple servers into a unified, reliable storage pool.</a:t>
            </a:r>
          </a:p>
          <a:p>
            <a:pPr>
              <a:spcBef>
                <a:spcPts val="800"/>
              </a:spcBef>
              <a:spcAft>
                <a:spcPts val="800"/>
              </a:spcAft>
              <a:defRPr sz="2000">
                <a:solidFill>
                  <a:srgbClr val="FFFFFF"/>
                </a:solidFill>
              </a:defRPr>
            </a:pPr>
            <a:r>
              <a:t>This abstraction allows for enterprise-level features such as self-healing resilience; if a physical drive fails, the software automatically rebuilds the data on remaining drives without interrupting the virtual machine.</a:t>
            </a:r>
          </a:p>
          <a:p>
            <a:pPr>
              <a:spcBef>
                <a:spcPts val="800"/>
              </a:spcBef>
              <a:spcAft>
                <a:spcPts val="800"/>
              </a:spcAft>
              <a:defRPr sz="2000">
                <a:solidFill>
                  <a:srgbClr val="FFFFFF"/>
                </a:solidFill>
              </a:defRPr>
            </a:pPr>
            <a:r>
              <a:t>By treating storage as a flexible software resource rather than a rigid hardware appliance, we gain immense scalability.</a:t>
            </a:r>
          </a:p>
          <a:p>
            <a:pPr>
              <a:spcBef>
                <a:spcPts val="800"/>
              </a:spcBef>
              <a:spcAft>
                <a:spcPts val="800"/>
              </a:spcAft>
              <a:defRPr sz="2000">
                <a:solidFill>
                  <a:srgbClr val="FFFFFF"/>
                </a:solidFill>
              </a:defRPr>
            </a:pPr>
            <a:r>
              <a:t>These technologies, including Ceph and NFS, are the focus of Week 5: Storage &amp; Backup.</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4 Checkpoint</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SDDC: Visualizing Compute, Network, and Storage together.</a:t>
            </a:r>
          </a:p>
          <a:p>
            <a:pPr>
              <a:spcBef>
                <a:spcPts val="800"/>
              </a:spcBef>
              <a:spcAft>
                <a:spcPts val="800"/>
              </a:spcAft>
              <a:defRPr sz="2000">
                <a:solidFill>
                  <a:srgbClr val="FFFFFF"/>
                </a:solidFill>
              </a:defRPr>
            </a:pPr>
            <a:r>
              <a:t>SDN: Moving network intelligence into software (Virtual Switches).</a:t>
            </a:r>
          </a:p>
          <a:p>
            <a:pPr>
              <a:spcBef>
                <a:spcPts val="800"/>
              </a:spcBef>
              <a:spcAft>
                <a:spcPts val="800"/>
              </a:spcAft>
              <a:defRPr sz="2000">
                <a:solidFill>
                  <a:srgbClr val="FFFFFF"/>
                </a:solidFill>
              </a:defRPr>
            </a:pPr>
            <a:r>
              <a:t>SDS: Abstracting physical disks into flexible Storage Pools.</a:t>
            </a:r>
          </a:p>
          <a:p>
            <a:pPr>
              <a:spcBef>
                <a:spcPts val="800"/>
              </a:spcBef>
              <a:spcAft>
                <a:spcPts val="800"/>
              </a:spcAft>
              <a:defRPr sz="2000">
                <a:solidFill>
                  <a:srgbClr val="FFFFFF"/>
                </a:solidFill>
              </a:defRPr>
            </a:pPr>
            <a:r>
              <a:t>If the network is "software," does it still need physical cables at all?</a:t>
            </a:r>
          </a:p>
          <a:p>
            <a:pPr>
              <a:spcBef>
                <a:spcPts val="800"/>
              </a:spcBef>
              <a:spcAft>
                <a:spcPts val="800"/>
              </a:spcAft>
              <a:defRPr sz="2000">
                <a:solidFill>
                  <a:srgbClr val="FFFFFF"/>
                </a:solidFill>
              </a:defRPr>
            </a:pPr>
            <a:r>
              <a:t>How does SDS differ from a traditional RAID card?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5. The Future of Virtualization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5.1 From Virtualization to Cloud (IaaS)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When you provision a virtual machine instance in AWS, Azure, or Google Cloud, you are essentially consuming a virtualized resource managed by a massive hypervisor farm.</a:t>
            </a:r>
          </a:p>
          <a:p>
            <a:pPr>
              <a:spcBef>
                <a:spcPts val="800"/>
              </a:spcBef>
              <a:spcAft>
                <a:spcPts val="800"/>
              </a:spcAft>
              <a:defRPr sz="2000">
                <a:solidFill>
                  <a:srgbClr val="FFFFFF"/>
                </a:solidFill>
              </a:defRPr>
            </a:pPr>
            <a:r>
              <a:t>The Infrastructure-as-a-Service (IaaS) model exposes this virtualization as a service via APIs, relying on two core capabilities.</a:t>
            </a:r>
          </a:p>
          <a:p>
            <a:pPr>
              <a:spcBef>
                <a:spcPts val="800"/>
              </a:spcBef>
              <a:spcAft>
                <a:spcPts val="800"/>
              </a:spcAft>
              <a:defRPr sz="2000">
                <a:solidFill>
                  <a:srgbClr val="FFFFFF"/>
                </a:solidFill>
              </a:defRPr>
            </a:pPr>
            <a:r>
              <a:t>First, Multi-tenancy allows multiple distinct customers (tenants) to run their workloads on the exact same physical hardware, securely isolated from one another by the hypervisor.</a:t>
            </a:r>
          </a:p>
          <a:p>
            <a:pPr>
              <a:spcBef>
                <a:spcPts val="800"/>
              </a:spcBef>
              <a:spcAft>
                <a:spcPts val="800"/>
              </a:spcAft>
              <a:defRPr sz="2000">
                <a:solidFill>
                  <a:srgbClr val="FFFFFF"/>
                </a:solidFill>
              </a:defRPr>
            </a:pPr>
            <a:r>
              <a:t>Second, Elasticity leverages the fact that VMs are merely files and processes, allowing them to be provisioned, scaled, or destroyed in seconds to match demand—something impossible with physical hardware.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5.2 Containers and Serverless</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By mastering the abstraction layer (the Hypervisor), you unlock the ability to understand even lighter forms of abstraction, such as Containers (Docker), which share the OS kernel, and Serverless Functions, which abstract the OS entirely.</a:t>
            </a:r>
          </a:p>
          <a:p>
            <a:pPr>
              <a:spcBef>
                <a:spcPts val="800"/>
              </a:spcBef>
              <a:spcAft>
                <a:spcPts val="800"/>
              </a:spcAft>
              <a:defRPr sz="2000">
                <a:solidFill>
                  <a:srgbClr val="FFFFFF"/>
                </a:solidFill>
              </a:defRPr>
            </a:pPr>
            <a:r>
              <a:t>We will explore these evolutions specifically in Week 3: Containers &amp; Resources.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5 Checkpoint (Part 1)</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Virtualization is the bedrock of Cloud Computing (AWS, Azure).</a:t>
            </a:r>
          </a:p>
          <a:p>
            <a:pPr>
              <a:spcBef>
                <a:spcPts val="800"/>
              </a:spcBef>
              <a:spcAft>
                <a:spcPts val="800"/>
              </a:spcAft>
              <a:defRPr sz="2000">
                <a:solidFill>
                  <a:srgbClr val="FFFFFF"/>
                </a:solidFill>
              </a:defRPr>
            </a:pPr>
            <a:r>
              <a:t>Abstraction enables flexibility, security, and efficiency.</a:t>
            </a:r>
          </a:p>
          <a:p>
            <a:pPr>
              <a:spcBef>
                <a:spcPts val="800"/>
              </a:spcBef>
              <a:spcAft>
                <a:spcPts val="800"/>
              </a:spcAft>
              <a:defRPr sz="2000">
                <a:solidFill>
                  <a:srgbClr val="FFFFFF"/>
                </a:solidFill>
              </a:defRPr>
            </a:pPr>
            <a:r>
              <a:t>Type-1 vs Type-2 is the first major architectural decision.</a:t>
            </a:r>
          </a:p>
          <a:p>
            <a:pPr>
              <a:spcBef>
                <a:spcPts val="800"/>
              </a:spcBef>
              <a:spcAft>
                <a:spcPts val="800"/>
              </a:spcAft>
              <a:defRPr sz="2000">
                <a:solidFill>
                  <a:srgbClr val="FFFFFF"/>
                </a:solidFill>
              </a:defRPr>
            </a:pPr>
            <a:r>
              <a:t>How does virtualization enable "Elasticity" in the cloud?</a:t>
            </a:r>
          </a:p>
          <a:p>
            <a:pPr>
              <a:spcBef>
                <a:spcPts val="800"/>
              </a:spcBef>
              <a:spcAft>
                <a:spcPts val="800"/>
              </a:spcAft>
              <a:defRPr sz="2000">
                <a:solidFill>
                  <a:srgbClr val="FFFFFF"/>
                </a:solidFill>
              </a:defRPr>
            </a:pPr>
            <a:r>
              <a:t>Can a single physical server run both Type-1 and Type-2 hypervisors simultaneously?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Section 5 Checkpoint (Part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IBM: What is Cloud Computing?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6. Summary and Next Steps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42A46"/>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3"/>
          <a:stretch>
            <a:fillRect/>
          </a:stretch>
        </p:blipFill>
        <p:spPr>
          <a:xfrm>
            <a:off x="274320" y="274320"/>
            <a:ext cx="581649" cy="548640"/>
          </a:xfrm>
          <a:prstGeom prst="rect">
            <a:avLst/>
          </a:prstGeom>
        </p:spPr>
      </p:pic>
      <p:sp>
        <p:nvSpPr>
          <p:cNvPr id="3" name="TextBox 2"/>
          <p:cNvSpPr txBox="1"/>
          <p:nvPr/>
        </p:nvSpPr>
        <p:spPr>
          <a:xfrm>
            <a:off x="457200" y="914400"/>
            <a:ext cx="8229600" cy="640080"/>
          </a:xfrm>
          <a:prstGeom prst="rect">
            <a:avLst/>
          </a:prstGeom>
          <a:noFill/>
        </p:spPr>
        <p:txBody>
          <a:bodyPr wrap="none">
            <a:spAutoFit/>
          </a:bodyPr>
          <a:lstStyle/>
          <a:p>
            <a:pPr>
              <a:defRPr sz="3200" b="1">
                <a:solidFill>
                  <a:srgbClr val="C9984A"/>
                </a:solidFill>
              </a:defRPr>
            </a:pPr>
            <a:r>
              <a:t>Preparing for Week 2</a:t>
            </a:r>
          </a:p>
        </p:txBody>
      </p:sp>
      <p:sp>
        <p:nvSpPr>
          <p:cNvPr id="4" name="TextBox 3"/>
          <p:cNvSpPr txBox="1"/>
          <p:nvPr/>
        </p:nvSpPr>
        <p:spPr>
          <a:xfrm>
            <a:off x="731520" y="1737360"/>
            <a:ext cx="7680960" cy="4389120"/>
          </a:xfrm>
          <a:prstGeom prst="rect">
            <a:avLst/>
          </a:prstGeom>
          <a:noFill/>
        </p:spPr>
        <p:txBody>
          <a:bodyPr wrap="square">
            <a:spAutoFit/>
          </a:bodyPr>
          <a:lstStyle/>
          <a:p>
            <a:pPr>
              <a:spcBef>
                <a:spcPts val="800"/>
              </a:spcBef>
              <a:spcAft>
                <a:spcPts val="800"/>
              </a:spcAft>
              <a:defRPr sz="2000">
                <a:solidFill>
                  <a:srgbClr val="FFFFFF"/>
                </a:solidFill>
              </a:defRPr>
            </a:pPr>
            <a:r>
              <a:t>Deconstruct the KVM architecture to see how it uses the Linux Kernel.</a:t>
            </a:r>
          </a:p>
          <a:p>
            <a:pPr>
              <a:spcBef>
                <a:spcPts val="800"/>
              </a:spcBef>
              <a:spcAft>
                <a:spcPts val="800"/>
              </a:spcAft>
              <a:defRPr sz="2000">
                <a:solidFill>
                  <a:srgbClr val="FFFFFF"/>
                </a:solidFill>
              </a:defRPr>
            </a:pPr>
            <a:r>
              <a:t>Deploy Proxmox VE on bare metal in our "Mastery" lab.</a:t>
            </a:r>
          </a:p>
          <a:p>
            <a:pPr>
              <a:spcBef>
                <a:spcPts val="800"/>
              </a:spcBef>
              <a:spcAft>
                <a:spcPts val="800"/>
              </a:spcAft>
              <a:defRPr sz="2000">
                <a:solidFill>
                  <a:srgbClr val="FFFFFF"/>
                </a:solidFill>
              </a:defRPr>
            </a:pPr>
            <a:r>
              <a:t>Master the art of creating, managing, and optimizing Virtual Machines.</a:t>
            </a:r>
          </a:p>
          <a:p>
            <a:pPr>
              <a:spcBef>
                <a:spcPts val="800"/>
              </a:spcBef>
              <a:spcAft>
                <a:spcPts val="800"/>
              </a:spcAft>
              <a:defRPr sz="2000">
                <a:solidFill>
                  <a:srgbClr val="FFFFFF"/>
                </a:solidFill>
              </a:defRPr>
            </a:pPr>
            <a:r>
              <a:t>Can you clearly explain the role of a Hypervisor?</a:t>
            </a:r>
          </a:p>
          <a:p>
            <a:pPr>
              <a:spcBef>
                <a:spcPts val="800"/>
              </a:spcBef>
              <a:spcAft>
                <a:spcPts val="800"/>
              </a:spcAft>
              <a:defRPr sz="2000">
                <a:solidFill>
                  <a:srgbClr val="FFFFFF"/>
                </a:solidFill>
              </a:defRPr>
            </a:pPr>
            <a:r>
              <a:t>Do you know which Hypervisor type is best for a Production Database vs a Developer Laptop?</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pic>
        <p:nvPicPr>
          <p:cNvPr id="2" name="Picture 1" descr="ops3_logo.png"/>
          <p:cNvPicPr>
            <a:picLocks noChangeAspect="1"/>
          </p:cNvPicPr>
          <p:nvPr/>
        </p:nvPicPr>
        <p:blipFill>
          <a:blip r:embed="rId2"/>
          <a:stretch>
            <a:fillRect/>
          </a:stretch>
        </p:blipFill>
        <p:spPr>
          <a:xfrm>
            <a:off x="274320" y="274320"/>
            <a:ext cx="581649" cy="548640"/>
          </a:xfrm>
          <a:prstGeom prst="rect">
            <a:avLst/>
          </a:prstGeom>
        </p:spPr>
      </p:pic>
      <p:sp>
        <p:nvSpPr>
          <p:cNvPr id="3" name="TextBox 2"/>
          <p:cNvSpPr txBox="1"/>
          <p:nvPr/>
        </p:nvSpPr>
        <p:spPr>
          <a:xfrm>
            <a:off x="914400" y="2286000"/>
            <a:ext cx="7315200" cy="1828800"/>
          </a:xfrm>
          <a:prstGeom prst="rect">
            <a:avLst/>
          </a:prstGeom>
          <a:noFill/>
        </p:spPr>
        <p:txBody>
          <a:bodyPr wrap="square">
            <a:spAutoFit/>
          </a:bodyPr>
          <a:lstStyle/>
          <a:p>
            <a:pPr algn="ctr">
              <a:defRPr sz="4800" b="1">
                <a:solidFill>
                  <a:srgbClr val="C9984A"/>
                </a:solidFill>
              </a:defRPr>
            </a:pPr>
            <a:r>
              <a:t>Summary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7106</Words>
  <Application>Microsoft Office PowerPoint</Application>
  <PresentationFormat>On-screen Show (4:3)</PresentationFormat>
  <Paragraphs>473</Paragraphs>
  <Slides>48</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carlos nshimba</cp:lastModifiedBy>
  <cp:revision>1</cp:revision>
  <dcterms:created xsi:type="dcterms:W3CDTF">2013-01-27T09:14:16Z</dcterms:created>
  <dcterms:modified xsi:type="dcterms:W3CDTF">2026-01-01T00:14:42Z</dcterms:modified>
  <cp:category/>
</cp:coreProperties>
</file>