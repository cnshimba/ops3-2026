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The Engine: KVM (Kernel-based Virtual Machine) (Part 1)</a:t>
            </a:r>
          </a:p>
          <a:p/>
          <a:p>
            <a:r>
              <a:t>Key Points:</a:t>
            </a:r>
          </a:p>
          <a:p>
            <a:r>
              <a:t>1. The Kernel-based Virtual Machine (KVM) is implemented as a loadable kernel module (kvm.ko) that transforms the Linux kernel into a Type-1 hypervisor.</a:t>
            </a:r>
          </a:p>
          <a:p>
            <a:r>
              <a:t>2. Unlike traditional hypervisors that run as a separate software layer, KVM leverages the kernel's existing process scheduling, memory management, and I/O stack.</a:t>
            </a:r>
          </a:p>
          <a:p>
            <a:r>
              <a:t>3. It exposes a character device, /dev/kvm, which user-space processes (like QEMU) interact with via ioctl() system calls to create and run virtual machines.</a:t>
            </a:r>
          </a:p>
          <a:p>
            <a:r>
              <a:t>4. The VM Execution Loop (ioctl Interface):</a:t>
            </a:r>
          </a:p>
          <a:p>
            <a:r>
              <a:t>The interaction between User Mode (the QEMU process) and Guest Mode (the VM code) is handled via a blocking system call known as KVM_RUN.</a:t>
            </a:r>
          </a:p>
          <a:p>
            <a:r>
              <a:t>5. The process begins with Setup, where QEMU opens the /dev/kvm device node, issues the KVM_CREATE_VM call to initialize the virtual environment, and maps the necessary memory for the guest.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The Engine: KVM (Kernel-based Virtual Machine) (Part 2)</a:t>
            </a:r>
          </a:p>
          <a:p/>
          <a:p>
            <a:r>
              <a:t>Key Points:</a:t>
            </a:r>
          </a:p>
          <a:p>
            <a:r>
              <a:t>1. Once initialized, the Execution phase begins: QEMU invokes the KVM_RUN ioctl, signaling the kernel to context-switch the CPU into Guest Mode (Ring -1 or VMX Root Operation).</a:t>
            </a:r>
          </a:p>
          <a:p>
            <a:r>
              <a:t>2. In this mode, the vCPU executes instructions directly on the silicon at native speed ("Direct Execution").</a:t>
            </a:r>
          </a:p>
          <a:p>
            <a:r>
              <a:t>3. This continues until the VM attempts a privileged operation, such as writing to a hardware register or accessing restricted memory, which triggers a VM Exit.</a:t>
            </a:r>
          </a:p>
          <a:p>
            <a:r>
              <a:t>4. The hardware forces the CPU back into Host Kernel Mode, where KVM analyzes the exit reason.</a:t>
            </a:r>
          </a:p>
          <a:p>
            <a:r>
              <a:t>5. If the exit is "Lightweight" (e.g., a simple timer interrupt or paging request), KVM handles it internally and immediately re-enters the VM.</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The Engine: KVM (Kernel-based Virtual Machine) (Part 3)</a:t>
            </a:r>
          </a:p>
          <a:p/>
          <a:p>
            <a:r>
              <a:t>Key Points:</a:t>
            </a:r>
          </a:p>
          <a:p>
            <a:r>
              <a:t>1. However, if the exit is "Heavyweight" (requiring complex I/O like disk writes), KVM returns control to the QEMU user-space process.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Advanced KVM Technologies (Part 1)</a:t>
            </a:r>
          </a:p>
          <a:p/>
          <a:p>
            <a:r>
              <a:t>Key Points:</a:t>
            </a:r>
          </a:p>
          <a:p>
            <a:r>
              <a:t>1. Kernel Samepage Merging (KSM) is a memory deduplication feature within the Linux kernel (stored in mm/ksm.c) that allows for high-density virtualization.</a:t>
            </a:r>
          </a:p>
          <a:p>
            <a:r>
              <a:t>2. KSM utilizes a background kernel thread (ksmd) that periodically scans designated memory regions looking for pages with identical content.</a:t>
            </a:r>
          </a:p>
          <a:p>
            <a:r>
              <a:t>3. When matches are found, KSM merges these pages into a single physical page marked as Copy-on-Write (CoW).</a:t>
            </a:r>
          </a:p>
          <a:p>
            <a:r>
              <a:t>4. This allows multiple virtual machines running similar operating systems (e.g., ten instances of Windows Server) to share the same physical RAM for common libraries and kernel data.</a:t>
            </a:r>
          </a:p>
          <a:p>
            <a:r>
              <a:t>5. While this significantly increases density (memory overcommitment), it comes with a slight CPU overhead due to the scanning process.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Advanced KVM Technologies (Part 2)</a:t>
            </a:r>
          </a:p>
          <a:p/>
          <a:p>
            <a:r>
              <a:t>Key Points:</a:t>
            </a:r>
          </a:p>
          <a:p>
            <a:r>
              <a:t>1. Live Migration is the capability to move a running virtual machine from one physical host to another with no perceptible downtime to the end-user.</a:t>
            </a:r>
          </a:p>
          <a:p>
            <a:r>
              <a:t>2. The process involves an iterative memory copy mechanism.</a:t>
            </a:r>
          </a:p>
          <a:p>
            <a:r>
              <a:t>3. First, the hypervisor copies the VM's memory to the destination host while the VM continues to execute.</a:t>
            </a:r>
          </a:p>
          <a:p>
            <a:r>
              <a:t>4. As memory changes (becomes "dirty") during this copy, those dirty pages are tracked and re-sent in subsequent rounds.</a:t>
            </a:r>
          </a:p>
          <a:p>
            <a:r>
              <a:t>5. Once the remaining dirty pages are small enough to be transferred instantly, the VM is momentarily paused, the final state (CPU registers and remaining memory) is synced, and execution resumes on the new host.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Advanced KVM Technologies (Part 3)</a:t>
            </a:r>
          </a:p>
          <a:p/>
          <a:p>
            <a:r>
              <a:t>Key Points:</a:t>
            </a:r>
          </a:p>
          <a:p>
            <a:r>
              <a:t>1. Nested Virtualization refers to the practice of running a hypervisor inside another virtual machine—effectively, a "VM inside a VM." This is achieved by forwarding hardware virtualization extensions (Intel VT-x or AMD-V) from the host CPU through Level 0 (Host Hypervisor) to Level 1 (Guest Hypervisor).</a:t>
            </a:r>
          </a:p>
          <a:p>
            <a:r>
              <a:t>2. This is particularly useful for training environments, development labs, or testing cloud orchestration platforms like OpenStack without requiring dedicated bare-metal hardware for every node.</a:t>
            </a:r>
          </a:p>
          <a:p>
            <a:r>
              <a:t>3. Standard virtualization relies on QEMU to emulate hardware devices, which introduces overhead due to the translation of instructions.</a:t>
            </a:r>
          </a:p>
          <a:p>
            <a:r>
              <a:t>4. For workloads requiring extreme performance—such as high-frequency trading, GPU-accelerated Machine Learning, or 100Gbps networking—emulation is insufficient.</a:t>
            </a:r>
          </a:p>
          <a:p>
            <a:r>
              <a:t>5. The Virtual Function I/O (VFIO) framework allows the host kernel to unbind a physical PCI device from the host drivers and pass it directly to the virtual machine.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Advanced KVM Technologies (Part 4)</a:t>
            </a:r>
          </a:p>
          <a:p/>
          <a:p>
            <a:r>
              <a:t>Key Points:</a:t>
            </a:r>
          </a:p>
          <a:p>
            <a:r>
              <a:t>1. This gives the guest OS direct, exclusive access to the hardware, resulting in near-native performance, albeit at the cost of losing that device on the host system.</a:t>
            </a:r>
          </a:p>
          <a:p>
            <a:r>
              <a:t>2. Memory Ballooning is a dynamic memory management technique that allows the hypervisor to reclaim RAM from running virtual machines.</a:t>
            </a:r>
          </a:p>
          <a:p>
            <a:r>
              <a:t>3. It utilizes the virtio-balloon driver installed within the guest OS.</a:t>
            </a:r>
          </a:p>
          <a:p>
            <a:r>
              <a:t>4. When the host is under memory pressure, it instructs the balloon driver to "inflate," causing the guest kernel to allocate RAM to the driver.</a:t>
            </a:r>
          </a:p>
          <a:p>
            <a:r>
              <a:t>5. The driver then informs the host which physical pages it has claimed, allowing the host to safely repurpose those physical pages for other tasks.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Advanced KVM Technologies (Part 5)</a:t>
            </a:r>
          </a:p>
          <a:p/>
          <a:p>
            <a:r>
              <a:t>Key Points:</a:t>
            </a:r>
          </a:p>
          <a:p>
            <a:r>
              <a:t>1. Conversely, when the guest needs more memory, the balloon "deflates," returning the pages to the guest's free pool.</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Practical: Verifying KVM Support (Part 1)</a:t>
            </a:r>
          </a:p>
          <a:p/>
          <a:p>
            <a:r>
              <a:t>Key Points:</a:t>
            </a:r>
          </a:p>
          <a:p>
            <a:r>
              <a:t>1. The first step is to confirm that the physical processor supports the necessary virtualization extensions (Intel VT-x or AMD-V) and that these extensions are enabled in the system BIOS/UEFI.</a:t>
            </a:r>
          </a:p>
          <a:p>
            <a:r>
              <a:t>2. In Linux, we verify this by inspecting the CPU flags via the lscpu command.</a:t>
            </a:r>
          </a:p>
          <a:p>
            <a:r>
              <a:t>3. We specifically filter for "Virtualization" to see the vendor-specific technology.</a:t>
            </a:r>
          </a:p>
          <a:p>
            <a:r>
              <a:t>4. Security is a critical aspect of virtualization.</a:t>
            </a:r>
          </a:p>
          <a:p>
            <a:r>
              <a:t>5. The kernel interface for creating VMs, located at /dev/kvm, is restricted.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Practical: Verifying KVM Support (Part 2)</a:t>
            </a:r>
          </a:p>
          <a:p/>
          <a:p>
            <a:r>
              <a:t>Key Points:</a:t>
            </a:r>
          </a:p>
          <a:p>
            <a:r>
              <a:t>1. Standard users cannot access this device by default.</a:t>
            </a:r>
          </a:p>
          <a:p>
            <a:r>
              <a:t>2. To allow a user to run VMs without root privileges (a security best practice), the user must be added to the specialized kvm group.</a:t>
            </a:r>
          </a:p>
          <a:p>
            <a:r>
              <a:t>3. "KVM: disabled by BIOS": This message explicitly states that while the CPU supports virtualization, the feature is turned off in the computer's firmware. This cannot be fixed from within the OS; a physical reboot is required to modify BIOS settings.</a:t>
            </a:r>
          </a:p>
          <a:p>
            <a:r>
              <a:t>4. "KVM support not available": This often occurs when trying to run KVM inside another virtual machine (e.g., a cloud VPS) that does not support Nested Virtualization. In this scenario, the "outer" hypervisor has not passed the hardware extensions through to your "inner" guest.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The Hardware: QEMU (Quick Emulator) (Part 1)</a:t>
            </a:r>
          </a:p>
          <a:p/>
          <a:p>
            <a:r>
              <a:t>Key Points:</a:t>
            </a:r>
          </a:p>
          <a:p>
            <a:r>
              <a:t>1. To the Host Linux Kernel, a running Virtual Machine is purely a standard user-space process (qemu-system-x86_64) that happens to be multi-threaded.</a:t>
            </a:r>
          </a:p>
          <a:p>
            <a:r>
              <a:t>2. It does not look different from a web browser or database server from the scheduler's perspective.</a:t>
            </a:r>
          </a:p>
          <a:p>
            <a:r>
              <a:t>3. The architecture relies on three distinct thread types.</a:t>
            </a:r>
          </a:p>
          <a:p>
            <a:r>
              <a:t>4. The Main Loop (iothread) is a single thread running a glib-based event loop responsible for non-blocking tasks, such as handling the QEMU Monitor (management interface), updating VNC/SPICE displays, and dispatching general I/O events.</a:t>
            </a:r>
          </a:p>
          <a:p>
            <a:r>
              <a:t>5. Parallel to this are the vCPU Threads; for every Virtual CPU core assigned to the guest, QEMU spawns a dedicated POSIX thread (pthread) that enters the KVM_RUN ioctl loop to execute guest code on the physical CPU.</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The Hardware: QEMU (Quick Emulator) (Part 2)</a:t>
            </a:r>
          </a:p>
          <a:p/>
          <a:p>
            <a:r>
              <a:t>Key Points:</a:t>
            </a:r>
          </a:p>
          <a:p>
            <a:r>
              <a:t>1. This single line defines the fundamental architecture of the virtual motherboard.</a:t>
            </a:r>
          </a:p>
          <a:p>
            <a:r>
              <a:t>2. The pc-q35 argument selects the modern Q35 chipset, which provides support for PCIe native handling and Secure Boot, as opposed to the legacy i440fx type which mimics a 1996-era PC.</a:t>
            </a:r>
          </a:p>
          <a:p>
            <a:r>
              <a:t>3. Crucially, the accel=kvm flag explicitly links the Emulator (QEMU) to the Engine (KVM).</a:t>
            </a:r>
          </a:p>
          <a:p>
            <a:r>
              <a:t>4. Without this flag, QEMU would default to "TCG" (Tiny Code Generator), a software-only mode that interprets every instruction, resulting in agonizingly slow performance.</a:t>
            </a:r>
          </a:p>
          <a:p>
            <a:r>
              <a:t>5. The Backend (defined by -netdev or -drive) refers to the host-side resource, such as connecting to a Linux Bridge (tap100i0) or a disk image file.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The Hardware: QEMU (Quick Emulator) (Part 3)</a:t>
            </a:r>
          </a:p>
          <a:p/>
          <a:p>
            <a:r>
              <a:t>Key Points:</a:t>
            </a:r>
          </a:p>
          <a:p>
            <a:r>
              <a:t>1. (Note: The concept of the Linux Bridge and how it connects VMs to the physical network will be discussed in depth in the Network Chapter in Week 4.) The Frontend (defined by -device) creates the virtual hardware that appears on the guest's PCI bus, such as a "VirtIO Network Card".</a:t>
            </a:r>
          </a:p>
          <a:p>
            <a:r>
              <a:t>2. The guest OS writes data to the Frontend device, and QEMU is responsible for passing that data to the polling Backend.</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Optimization: VirtIO (Paravirtualization) (Part 1)</a:t>
            </a:r>
          </a:p>
          <a:p/>
          <a:p>
            <a:r>
              <a:t>Key Points:</a:t>
            </a:r>
          </a:p>
          <a:p>
            <a:r>
              <a:t>1. The Solution: VirtIO</a:t>
            </a:r>
          </a:p>
          <a:p>
            <a:r>
              <a:t>VirtIO replaces full hardware emulation with a standardized "Paravirtualized" architecture.</a:t>
            </a:r>
          </a:p>
          <a:p>
            <a:r>
              <a:t>2. In this model, the Guest OS is aware that it is running in a virtual environment.</a:t>
            </a:r>
          </a:p>
          <a:p>
            <a:r>
              <a:t>3. Instead of trapping and emulating legacy hardware registers (which is slow), the Guest uses a specialized virtio driver to communicate directly with the Host via a shared memory interface.</a:t>
            </a:r>
          </a:p>
          <a:p>
            <a:r>
              <a:t>4. Mechanism (The Ring Buffer):</a:t>
            </a:r>
          </a:p>
          <a:p>
            <a:r>
              <a:t>The core of VirtIO's performance is the Virtqueue, implemented as a circular ring buffer in shared memory.</a:t>
            </a:r>
          </a:p>
          <a:p>
            <a:r>
              <a:t>5. The process begins with Shared Memory, where QEMU allocates a region of RAM that is mapped into the address spaces of both the Host and the Guest.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Optimization: VirtIO (Paravirtualization) (Part 2)</a:t>
            </a:r>
          </a:p>
          <a:p/>
          <a:p>
            <a:r>
              <a:t>Key Points:</a:t>
            </a:r>
          </a:p>
          <a:p>
            <a:r>
              <a:t>1. When the Guest needs to send data (e.g., a network packet), it initiates a vRing Operation by placing a descriptor pointer into the vRing buffer.</a:t>
            </a:r>
          </a:p>
          <a:p>
            <a:r>
              <a:t>2. Subsequently, the Guest performs a Kick Notification—a lightweight signal (via ioeventfd)—to alert the Host that new data is available.</a:t>
            </a:r>
          </a:p>
          <a:p>
            <a:r>
              <a:t>3. Finally, the Host performs Zero-Copy Processing by reading the data directly from the shared memory without needing to simulate a physical device operation, processing it, and placing a response back in the ring.</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Essential Command Reference (Part 1)</a:t>
            </a:r>
          </a:p>
          <a:p/>
          <a:p>
            <a:r>
              <a:t>Key Points:</a:t>
            </a:r>
          </a:p>
          <a:p>
            <a:r>
              <a:t>1. While Proxmox handles these automatically, knowing the underlying commands is useful for debugging and "deep dive" understanding.</a:t>
            </a:r>
          </a:p>
          <a:p>
            <a:r>
              <a:t>2. The following commands are provided for reference and theoretical understanding; you will have the opportunity to execute them and observe their output directly in this week's Lab exercises.</a:t>
            </a:r>
          </a:p>
          <a:p>
            <a:r>
              <a:t>3. The qemu-img utility handles virtual disk creation and manipulation.</a:t>
            </a:r>
          </a:p>
          <a:p>
            <a:r>
              <a:t>4. To create a new disk, the create subcommand is used, specifying the format (typically qcow2 for thin provisioning) and the size.</a:t>
            </a:r>
          </a:p>
          <a:p>
            <a:r>
              <a:t>5. For example, qemu-img create -f qcow2 mydisk.qcow2 20G.</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Essential Command Reference (Part 2)</a:t>
            </a:r>
          </a:p>
          <a:p/>
          <a:p>
            <a:r>
              <a:t>Key Points:</a:t>
            </a:r>
          </a:p>
          <a:p>
            <a:r>
              <a:t>1. To inspect an existing disk's virtual size and actual disk usage, the info command provides detailed metadata.</a:t>
            </a:r>
          </a:p>
          <a:p>
            <a:r>
              <a:t>2. Furthermore, the convert subcommand interacts with the format translation engine, allowing administrators to transform a generic .img image into a VMware .vmdk or QEMU .qcow2 image.</a:t>
            </a:r>
          </a:p>
          <a:p>
            <a:r>
              <a:t>3. Launching a VM manually involves the qemu-system-x86_64 binary.</a:t>
            </a:r>
          </a:p>
          <a:p>
            <a:r>
              <a:t>4. A basic invocation usually requires defining the hard drive (-hda), the allocated RAM (-m), and crucially, the KVM accelerator (-enable-kvm or -accel kvm).</a:t>
            </a:r>
          </a:p>
          <a:p>
            <a:r>
              <a:t>5. For booting from an installer ISO, the -cdrom flag is added, often accompanied by -boot d to prioritize the optical drive in the boot order.</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Checkpoint (Part 1)</a:t>
            </a:r>
          </a:p>
          <a:p/>
          <a:p>
            <a:r>
              <a:t>Key Points:</a:t>
            </a:r>
          </a:p>
          <a:p>
            <a:r>
              <a:t>1. KVM: The kernel module that handles CPU execution (Guest Mode).</a:t>
            </a:r>
          </a:p>
          <a:p>
            <a:r>
              <a:t>2. QEMU: The process that provides virtual hardware (Disks, NICs).</a:t>
            </a:r>
          </a:p>
          <a:p>
            <a:r>
              <a:t>3. VirtIO: Special drivers that bypass emulation for speed.</a:t>
            </a:r>
          </a:p>
          <a:p>
            <a:r>
              <a:t>4. Why does top on the host show a qemu-kvm process using 100% CPU if the VM is busy?</a:t>
            </a:r>
          </a:p>
          <a:p>
            <a:r>
              <a:t>5. What is the difference between "Full Emulation" and "Paravirtualization"?</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Checkpoint (Part 2)</a:t>
            </a:r>
          </a:p>
          <a:p/>
          <a:p>
            <a:r>
              <a:t>Key Points:</a:t>
            </a:r>
          </a:p>
          <a:p>
            <a:r>
              <a:t>1. Red Hat: KVM Architecture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Architectural Breakdown (Part 1)</a:t>
            </a:r>
          </a:p>
          <a:p/>
          <a:p>
            <a:r>
              <a:t>Key Points:</a:t>
            </a:r>
          </a:p>
          <a:p>
            <a:r>
              <a:t>1. This layer facilitates all human-to-machine interaction and is driven by several key daemons.</a:t>
            </a:r>
          </a:p>
          <a:p>
            <a:r>
              <a:t>2. The pveproxy service acts as the primary "front door," listening on port 8006 and serving the web interface via a secure HTTP server; it forwards valid requests to the internal API (pvedaemon).</a:t>
            </a:r>
          </a:p>
          <a:p>
            <a:r>
              <a:t>3. For console access, spiceproxy and vncterm handle the streaming of graphical display data from VMs to the browser.</a:t>
            </a:r>
          </a:p>
          <a:p>
            <a:r>
              <a:t>4. The pvedaemon (PVE API Daemon) is the worker background process that actually executes privileged tasks; whether triggered by the JSON-based Web GUI, the pvesh CLI tool, or an external script, all roads lead to this daemon, ensuring a consistent execution path for every command.</a:t>
            </a:r>
          </a:p>
          <a:p>
            <a:r>
              <a:t>5. This layer also enforces User Authentication, validating credentials against configurable realms (PAM, LDAP, AD) before granting access.</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Architectural Breakdown (Part 2)</a:t>
            </a:r>
          </a:p>
          <a:p/>
          <a:p>
            <a:r>
              <a:t>Key Points:</a:t>
            </a:r>
          </a:p>
          <a:p>
            <a:r>
              <a:t>1. Invisible to the user, a suite of daemons maintains the cluster's brain.</a:t>
            </a:r>
          </a:p>
          <a:p>
            <a:r>
              <a:t>2. Corosync is the foundational cluster engine, providing the reliable, low-latency communication required to maintain quorum (node consensus).</a:t>
            </a:r>
          </a:p>
          <a:p>
            <a:r>
              <a:t>3. Data consistency is handled by pmxcfs (Proxmox Cluster File System), a database-driven filesystem that instantly replicates configuration files in /etc/pve to all nodes.</a:t>
            </a:r>
          </a:p>
          <a:p>
            <a:r>
              <a:t>4. Monitoring is the responsibility of pvestatd (PVE Status Daemon), which queries the status of VMs, containers, and storage every 10 seconds to update the management layer.</a:t>
            </a:r>
          </a:p>
          <a:p>
            <a:r>
              <a:t>5. Finally, the High Availability (HA) stack consists of two critical components: the pve-ha-crm (Cluster Resource Manager), which decides where a service should run, and the pve-ha-lrm (Local Resource Manager), which watches services on the local node and reports their state to the CRM, ensuring rapid recovery if a node fails.</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Architectural Breakdown (Part 3)</a:t>
            </a:r>
          </a:p>
          <a:p/>
          <a:p>
            <a:r>
              <a:t>Key Points:</a:t>
            </a:r>
          </a:p>
          <a:p>
            <a:r>
              <a:t>1. This is where the actual work happens, overseen by the Proxmox Kernel.</a:t>
            </a:r>
          </a:p>
          <a:p>
            <a:r>
              <a:t>2. For full virtualization, the KVM kernel module turns the Linux kernel into a hypervisor, while QEMU processes utilize this to run guest operating systems.</a:t>
            </a:r>
          </a:p>
          <a:p>
            <a:r>
              <a:t>3. For lightweight virtualization, LXC (Linux Containers) enables kernel-shared environments, supported by lxcfs, a userspace filesystem that provides containers with virtualized views of /proc files (like CPU and memory stats) so they don't see the host's full resources.</a:t>
            </a:r>
          </a:p>
          <a:p>
            <a:r>
              <a:t>4. Storage Plugins simplify disk management by translating abstract requests ("create disk") into specific backend commands (e.g., zfs create or rbd create).</a:t>
            </a:r>
          </a:p>
          <a:p>
            <a:r>
              <a:t>5. Similarly, the pve-firewall service generates 'iptables' rules dynamically for each guest, creating isolated security zones (Interfaces/Bridges) at the kernel level.</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Key Components (Part 1)</a:t>
            </a:r>
          </a:p>
          <a:p/>
          <a:p>
            <a:r>
              <a:t>Key Points:</a:t>
            </a:r>
          </a:p>
          <a:p>
            <a:r>
              <a:t>1. Proxmox VE is not a single application but a suite of integrated components.</a:t>
            </a:r>
          </a:p>
          <a:p>
            <a:r>
              <a:t>2. Understanding how these distinct parts—the interface, storage backends, and clustering services—fit together is essential for designing a resilient infrastructure.</a:t>
            </a:r>
          </a:p>
          <a:p>
            <a:r>
              <a:t>3. Although the architecture is layered, the daily operational experience revolves around extensive interaction with the following key subsystems.</a:t>
            </a:r>
          </a:p>
          <a:p>
            <a:r>
              <a:t>4. The primary management point is the web-based Graphical User Interface, accessible via port 8006.</a:t>
            </a:r>
          </a:p>
          <a:p>
            <a:r>
              <a:t>5. It abstracts the complexity of qemu command lines and configuration files, allowing administrators to create VMs, manage storage pools, and configure software-defined networking bridges with visual feedback.</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Key Components (Part 2)</a:t>
            </a:r>
          </a:p>
          <a:p/>
          <a:p>
            <a:r>
              <a:t>Key Points:</a:t>
            </a:r>
          </a:p>
          <a:p>
            <a:r>
              <a:t>1. The interface organizes these capabilities into four distinct regions.</a:t>
            </a:r>
          </a:p>
          <a:p>
            <a:r>
              <a:t>2. At the top, the Header provides critical status information and action buttons for system-wide operations.</a:t>
            </a:r>
          </a:p>
          <a:p>
            <a:r>
              <a:t>3. To the left, the Resource Tree acts as the main navigation hub, allowing you to select specific objects such as nodes, VMs, or storage pools.</a:t>
            </a:r>
          </a:p>
          <a:p>
            <a:r>
              <a:t>4. The center region contains the Content Panel, which dynamically updates to show the configuration options and status for whichever object is selected in the tree.</a:t>
            </a:r>
          </a:p>
          <a:p>
            <a:r>
              <a:t>5. Finally, the Log Panel resides at the bottom, creating a real-time audit trail of recent tasks; administrators can double-click these entries to view detailed execution logs or abort running operations.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Key Components (Part 3)</a:t>
            </a:r>
          </a:p>
          <a:p/>
          <a:p>
            <a:r>
              <a:t>Key Points:</a:t>
            </a:r>
          </a:p>
          <a:p>
            <a:r>
              <a:t>1. Proxmox decouples compute from storage to facilitate flexibility across different environments.</a:t>
            </a:r>
          </a:p>
          <a:p>
            <a:r>
              <a:t>2. For standalone setups, administrators often utilize Local Storage such as LVM-Thin or ZFS, which support advanced features like instant snapshots.</a:t>
            </a:r>
          </a:p>
          <a:p>
            <a:r>
              <a:t>3. In clustered environments, the platform leverages Network Storage (NFS, iSCSI, or SMB) to enable VM mobility and Live Migration.</a:t>
            </a:r>
          </a:p>
          <a:p>
            <a:r>
              <a:t>4. Furthermore, Proxmox supports Hyper-Converged infrastructure through native integration with Ceph, a distributed object store that runs directly on the nodes themselves, eliminating the need for expensive external SAN hardware.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Checkpoint</a:t>
            </a:r>
          </a:p>
          <a:p/>
          <a:p>
            <a:r>
              <a:t>Key Points:</a:t>
            </a:r>
          </a:p>
          <a:p>
            <a:r>
              <a:t>1. Architecture: Web UI -&gt; API -&gt; Corosync/pmxcfs -&gt; Kernel/KVM.</a:t>
            </a:r>
          </a:p>
          <a:p>
            <a:r>
              <a:t>2. pmxcfs: The magic filesystem that keeps cluster configs in sync.</a:t>
            </a:r>
          </a:p>
          <a:p>
            <a:r>
              <a:t>3. Storage: Decoupled from compute to allow flexibility (Local vs Shared).</a:t>
            </a:r>
          </a:p>
          <a:p>
            <a:r>
              <a:t>4. Why is an API-first design better for automation?</a:t>
            </a:r>
          </a:p>
          <a:p>
            <a:r>
              <a:t>5. If pmxcfs replicates configs, what happens if you lose network connectivity between nodes?</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Cloning (Part 1)</a:t>
            </a:r>
          </a:p>
          <a:p/>
          <a:p>
            <a:r>
              <a:t>Key Points:</a:t>
            </a:r>
          </a:p>
          <a:p>
            <a:r>
              <a:t>1. A Full Clone is a complete, independent copy of the original VM.</a:t>
            </a:r>
          </a:p>
          <a:p>
            <a:r>
              <a:t>2. The system performs a block-by-block copy of the source disk image to a new file.</a:t>
            </a:r>
          </a:p>
          <a:p>
            <a:r>
              <a:t>3. Since it duplicates all data, it consumes significant time and storage space.</a:t>
            </a:r>
          </a:p>
          <a:p>
            <a:r>
              <a:t>4. However, its complete isolation makes it ideal for production deployments, as the new VM has no dependency on the original.</a:t>
            </a:r>
          </a:p>
          <a:p>
            <a:r>
              <a:t>5. A Linked Clone uses a "Copy-on-Write" mechanism.</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Cloning (Part 2)</a:t>
            </a:r>
          </a:p>
          <a:p/>
          <a:p>
            <a:r>
              <a:t>Key Points:</a:t>
            </a:r>
          </a:p>
          <a:p>
            <a:r>
              <a:t>1. It does not copy the original disk; instead, it creates a new delta file that references the original "Base" disk.</a:t>
            </a:r>
          </a:p>
          <a:p>
            <a:r>
              <a:t>2. The new VM reads from the Base disk but writes changes to its own small delta file.</a:t>
            </a:r>
          </a:p>
          <a:p>
            <a:r>
              <a:t>3. This allows for near-instant creation and minimal storage usage, making it perfect for efficient testing or classroom labs.</a:t>
            </a:r>
          </a:p>
          <a:p>
            <a:r>
              <a:t>4. However, it introduces a critical dependency: the Base disk cannot be deleted without breaking all Linked Clones.</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 Snapshots</a:t>
            </a:r>
          </a:p>
          <a:p/>
          <a:p>
            <a:r>
              <a:t>Key Points:</a:t>
            </a:r>
          </a:p>
          <a:p>
            <a:r>
              <a:t>1. When a snapshot is taken in Proxmox (specifically on QCOW2 or ZFS storage), the system marks the current data blocks as read-only.</a:t>
            </a:r>
          </a:p>
          <a:p>
            <a:r>
              <a:t>2. Any new writes are diverted to new blocks.</a:t>
            </a:r>
          </a:p>
          <a:p>
            <a:r>
              <a:t>3. If basic disk snapshotting is selected, only the disk state is saved (crash-consistent).</a:t>
            </a:r>
          </a:p>
          <a:p>
            <a:r>
              <a:t>4. If "Include RAM" is selected, the entire contents of the running memory are dumped to disk.</a:t>
            </a:r>
          </a:p>
          <a:p>
            <a:r>
              <a:t>5. This allows the VM to be restored to a running state, preserving open applications and processes, though it takes longer to complete.</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Console Access</a:t>
            </a:r>
          </a:p>
          <a:p/>
          <a:p>
            <a:r>
              <a:t>Key Points:</a:t>
            </a:r>
          </a:p>
          <a:p>
            <a:r>
              <a:t>1. For a richer desktop experience, Proxmox supports SPICE.</a:t>
            </a:r>
          </a:p>
          <a:p>
            <a:r>
              <a:t>2. This protocol offers advanced features such as high-quality audio streaming, multi-monitor support, and USB device redirection (plugging a USB drive into your client and having it appear in the VM).</a:t>
            </a:r>
          </a:p>
          <a:p>
            <a:r>
              <a:t>3. However, unlike NoVNC, SPICE requires a dedicated client viewer software (virt-viewer) to be installed on the user's machine.</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Checkpoint (Part 1)</a:t>
            </a:r>
          </a:p>
          <a:p/>
          <a:p>
            <a:r>
              <a:t>Key Points:</a:t>
            </a:r>
          </a:p>
          <a:p>
            <a:r>
              <a:t>1. Cloning: Full (Performance/Isolation) vs Linked (Speed/Space).</a:t>
            </a:r>
          </a:p>
          <a:p>
            <a:r>
              <a:t>2. Snapshots: "Save Game" state before risky changes. Not a backup!</a:t>
            </a:r>
          </a:p>
          <a:p>
            <a:r>
              <a:t>3. Consoles: NoVNC is convenient (browser-based), SPICE is powerful (requires client).</a:t>
            </a:r>
          </a:p>
          <a:p>
            <a:r>
              <a:t>4. Why should you delete a Linked Clone if you delete the Parent?</a:t>
            </a:r>
          </a:p>
          <a:p>
            <a:r>
              <a:t>5. Does a snapshot consume disk space? If so, when?</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Checkpoint (Part 2)</a:t>
            </a:r>
          </a:p>
          <a:p/>
          <a:p>
            <a:r>
              <a:t>Key Points:</a:t>
            </a:r>
          </a:p>
          <a:p>
            <a:r>
              <a:t>1. Proxmox VE: Live Snapshots</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Preparing for Week 3</a:t>
            </a:r>
          </a:p>
          <a:p/>
          <a:p>
            <a:r>
              <a:t>Key Points:</a:t>
            </a:r>
          </a:p>
          <a:p>
            <a:r>
              <a:t>1. Can you explain what happens during a "VM Exit"?</a:t>
            </a:r>
          </a:p>
          <a:p>
            <a:r>
              <a:t>2. Do you understand why a vCPU is treated like a Chrome tab by the scheduler?</a:t>
            </a:r>
          </a:p>
          <a:p>
            <a:r>
              <a:t>3. Have you successfully SSH'd into your new Ubuntu Server?</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1828800"/>
            <a:ext cx="7315200" cy="731520"/>
          </a:xfrm>
          <a:prstGeom prst="rect">
            <a:avLst/>
          </a:prstGeom>
          <a:noFill/>
        </p:spPr>
        <p:txBody>
          <a:bodyPr wrap="none">
            <a:spAutoFit/>
          </a:bodyPr>
          <a:lstStyle/>
          <a:p>
            <a:pPr algn="ctr">
              <a:defRPr sz="3600" b="1">
                <a:solidFill>
                  <a:srgbClr val="C9984A"/>
                </a:solidFill>
              </a:defRPr>
            </a:pPr>
            <a:r>
              <a:t>Week 2</a:t>
            </a:r>
          </a:p>
        </p:txBody>
      </p:sp>
      <p:sp>
        <p:nvSpPr>
          <p:cNvPr id="4" name="TextBox 3"/>
          <p:cNvSpPr txBox="1"/>
          <p:nvPr/>
        </p:nvSpPr>
        <p:spPr>
          <a:xfrm>
            <a:off x="457200" y="2743200"/>
            <a:ext cx="8229600" cy="1828800"/>
          </a:xfrm>
          <a:prstGeom prst="rect">
            <a:avLst/>
          </a:prstGeom>
          <a:noFill/>
        </p:spPr>
        <p:txBody>
          <a:bodyPr wrap="square">
            <a:spAutoFit/>
          </a:bodyPr>
          <a:lstStyle/>
          <a:p>
            <a:pPr algn="ctr">
              <a:defRPr sz="4400" b="1">
                <a:solidFill>
                  <a:srgbClr val="FFFFFF"/>
                </a:solidFill>
              </a:defRPr>
            </a:pPr>
            <a:r>
              <a:t>Virtual Machines (VMs)</a:t>
            </a:r>
          </a:p>
        </p:txBody>
      </p:sp>
      <p:sp>
        <p:nvSpPr>
          <p:cNvPr id="5" name="TextBox 4"/>
          <p:cNvSpPr txBox="1"/>
          <p:nvPr/>
        </p:nvSpPr>
        <p:spPr>
          <a:xfrm>
            <a:off x="914400" y="5029200"/>
            <a:ext cx="7315200" cy="548640"/>
          </a:xfrm>
          <a:prstGeom prst="rect">
            <a:avLst/>
          </a:prstGeom>
          <a:noFill/>
        </p:spPr>
        <p:txBody>
          <a:bodyPr wrap="none">
            <a:spAutoFit/>
          </a:bodyPr>
          <a:lstStyle/>
          <a:p>
            <a:pPr algn="ctr">
              <a:defRPr sz="2000">
                <a:solidFill>
                  <a:srgbClr val="C8C8C8"/>
                </a:solidFill>
              </a:defRPr>
            </a:pPr>
            <a:r>
              <a:t>OPS3 - Virtualization and Cloud Infrastructure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Welcome to Week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What You'll Learn This Week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1. Deep Dive: Linux Virtualization (KVM &amp; QEMU)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 The Engine: KVM (Kernel-based Virtual Machine)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Kernel-based Virtual Machine (KVM) is implemented as a loadable kernel module (kvm.ko) that transforms the Linux kernel into a Type-1 hypervisor.</a:t>
            </a:r>
          </a:p>
          <a:p>
            <a:pPr>
              <a:spcBef>
                <a:spcPts val="800"/>
              </a:spcBef>
              <a:spcAft>
                <a:spcPts val="800"/>
              </a:spcAft>
              <a:defRPr sz="2000">
                <a:solidFill>
                  <a:srgbClr val="FFFFFF"/>
                </a:solidFill>
              </a:defRPr>
            </a:pPr>
            <a:r>
              <a:t>Unlike traditional hypervisors that run as a separate software layer, KVM leverages the kernel's existing process scheduling, memory management, and I/O stack.</a:t>
            </a:r>
          </a:p>
          <a:p>
            <a:pPr>
              <a:spcBef>
                <a:spcPts val="800"/>
              </a:spcBef>
              <a:spcAft>
                <a:spcPts val="800"/>
              </a:spcAft>
              <a:defRPr sz="2000">
                <a:solidFill>
                  <a:srgbClr val="FFFFFF"/>
                </a:solidFill>
              </a:defRPr>
            </a:pPr>
            <a:r>
              <a:t>It exposes a character device, /dev/kvm, which user-space processes (like QEMU) interact with via ioctl() system calls to create and run virtual machines.</a:t>
            </a:r>
          </a:p>
          <a:p>
            <a:pPr>
              <a:spcBef>
                <a:spcPts val="800"/>
              </a:spcBef>
              <a:spcAft>
                <a:spcPts val="800"/>
              </a:spcAft>
              <a:defRPr sz="2000">
                <a:solidFill>
                  <a:srgbClr val="FFFFFF"/>
                </a:solidFill>
              </a:defRPr>
            </a:pPr>
            <a:r>
              <a:t>The VM Execution Loop (ioctl Interface):</a:t>
            </a:r>
            <a:br/>
            <a:r>
              <a:t>The interaction between User Mode (the QEMU process) and Guest Mode (the VM code) is handled via a blocking system call known as KVM_RUN.</a:t>
            </a:r>
          </a:p>
          <a:p>
            <a:pPr>
              <a:spcBef>
                <a:spcPts val="800"/>
              </a:spcBef>
              <a:spcAft>
                <a:spcPts val="800"/>
              </a:spcAft>
              <a:defRPr sz="2000">
                <a:solidFill>
                  <a:srgbClr val="FFFFFF"/>
                </a:solidFill>
              </a:defRPr>
            </a:pPr>
            <a:r>
              <a:t>The process begins with Setup, where QEMU opens the /dev/kvm device node, issues the KVM_CREATE_VM call to initialize the virtual environment, and maps the necessary memory for the guest.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 The Engine: KVM (Kernel-based Virtual Machine)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Once initialized, the Execution phase begins: QEMU invokes the KVM_RUN ioctl, signaling the kernel to context-switch the CPU into Guest Mode (Ring -1 or VMX Root Operation).</a:t>
            </a:r>
          </a:p>
          <a:p>
            <a:pPr>
              <a:spcBef>
                <a:spcPts val="800"/>
              </a:spcBef>
              <a:spcAft>
                <a:spcPts val="800"/>
              </a:spcAft>
              <a:defRPr sz="2000">
                <a:solidFill>
                  <a:srgbClr val="FFFFFF"/>
                </a:solidFill>
              </a:defRPr>
            </a:pPr>
            <a:r>
              <a:t>In this mode, the vCPU executes instructions directly on the silicon at native speed ("Direct Execution").</a:t>
            </a:r>
          </a:p>
          <a:p>
            <a:pPr>
              <a:spcBef>
                <a:spcPts val="800"/>
              </a:spcBef>
              <a:spcAft>
                <a:spcPts val="800"/>
              </a:spcAft>
              <a:defRPr sz="2000">
                <a:solidFill>
                  <a:srgbClr val="FFFFFF"/>
                </a:solidFill>
              </a:defRPr>
            </a:pPr>
            <a:r>
              <a:t>This continues until the VM attempts a privileged operation, such as writing to a hardware register or accessing restricted memory, which triggers a VM Exit.</a:t>
            </a:r>
          </a:p>
          <a:p>
            <a:pPr>
              <a:spcBef>
                <a:spcPts val="800"/>
              </a:spcBef>
              <a:spcAft>
                <a:spcPts val="800"/>
              </a:spcAft>
              <a:defRPr sz="2000">
                <a:solidFill>
                  <a:srgbClr val="FFFFFF"/>
                </a:solidFill>
              </a:defRPr>
            </a:pPr>
            <a:r>
              <a:t>The hardware forces the CPU back into Host Kernel Mode, where KVM analyzes the exit reason.</a:t>
            </a:r>
          </a:p>
          <a:p>
            <a:pPr>
              <a:spcBef>
                <a:spcPts val="800"/>
              </a:spcBef>
              <a:spcAft>
                <a:spcPts val="800"/>
              </a:spcAft>
              <a:defRPr sz="2000">
                <a:solidFill>
                  <a:srgbClr val="FFFFFF"/>
                </a:solidFill>
              </a:defRPr>
            </a:pPr>
            <a:r>
              <a:t>If the exit is "Lightweight" (e.g., a simple timer interrupt or paging request), KVM handles it internally and immediately re-enters the VM.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 The Engine: KVM (Kernel-based Virtual Machine)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However, if the exit is "Heavyweight" (requiring complex I/O like disk writes), KVM returns control to the QEMU user-space process.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1.2 Advanced KVM Technologies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Kernel Samepage Merging (KSM) is a memory deduplication feature within the Linux kernel (stored in mm/ksm.c) that allows for high-density virtualization.</a:t>
            </a:r>
          </a:p>
          <a:p>
            <a:pPr>
              <a:spcBef>
                <a:spcPts val="800"/>
              </a:spcBef>
              <a:spcAft>
                <a:spcPts val="800"/>
              </a:spcAft>
              <a:defRPr sz="2000">
                <a:solidFill>
                  <a:srgbClr val="FFFFFF"/>
                </a:solidFill>
              </a:defRPr>
            </a:pPr>
            <a:r>
              <a:t>KSM utilizes a background kernel thread (ksmd) that periodically scans designated memory regions looking for pages with identical content.</a:t>
            </a:r>
          </a:p>
          <a:p>
            <a:pPr>
              <a:spcBef>
                <a:spcPts val="800"/>
              </a:spcBef>
              <a:spcAft>
                <a:spcPts val="800"/>
              </a:spcAft>
              <a:defRPr sz="2000">
                <a:solidFill>
                  <a:srgbClr val="FFFFFF"/>
                </a:solidFill>
              </a:defRPr>
            </a:pPr>
            <a:r>
              <a:t>When matches are found, KSM merges these pages into a single physical page marked as Copy-on-Write (CoW).</a:t>
            </a:r>
          </a:p>
          <a:p>
            <a:pPr>
              <a:spcBef>
                <a:spcPts val="800"/>
              </a:spcBef>
              <a:spcAft>
                <a:spcPts val="800"/>
              </a:spcAft>
              <a:defRPr sz="2000">
                <a:solidFill>
                  <a:srgbClr val="FFFFFF"/>
                </a:solidFill>
              </a:defRPr>
            </a:pPr>
            <a:r>
              <a:t>This allows multiple virtual machines running similar operating systems (e.g., ten instances of Windows Server) to share the same physical RAM for common libraries and kernel data.</a:t>
            </a:r>
          </a:p>
          <a:p>
            <a:pPr>
              <a:spcBef>
                <a:spcPts val="800"/>
              </a:spcBef>
              <a:spcAft>
                <a:spcPts val="800"/>
              </a:spcAft>
              <a:defRPr sz="2000">
                <a:solidFill>
                  <a:srgbClr val="FFFFFF"/>
                </a:solidFill>
              </a:defRPr>
            </a:pPr>
            <a:r>
              <a:t>While this significantly increases density (memory overcommitment), it comes with a slight CPU overhead due to the scanning process.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1.2 Advanced KVM Technologies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Live Migration is the capability to move a running virtual machine from one physical host to another with no perceptible downtime to the end-user.</a:t>
            </a:r>
          </a:p>
          <a:p>
            <a:pPr>
              <a:spcBef>
                <a:spcPts val="800"/>
              </a:spcBef>
              <a:spcAft>
                <a:spcPts val="800"/>
              </a:spcAft>
              <a:defRPr sz="2000">
                <a:solidFill>
                  <a:srgbClr val="FFFFFF"/>
                </a:solidFill>
              </a:defRPr>
            </a:pPr>
            <a:r>
              <a:t>The process involves an iterative memory copy mechanism.</a:t>
            </a:r>
          </a:p>
          <a:p>
            <a:pPr>
              <a:spcBef>
                <a:spcPts val="800"/>
              </a:spcBef>
              <a:spcAft>
                <a:spcPts val="800"/>
              </a:spcAft>
              <a:defRPr sz="2000">
                <a:solidFill>
                  <a:srgbClr val="FFFFFF"/>
                </a:solidFill>
              </a:defRPr>
            </a:pPr>
            <a:r>
              <a:t>First, the hypervisor copies the VM's memory to the destination host while the VM continues to execute.</a:t>
            </a:r>
          </a:p>
          <a:p>
            <a:pPr>
              <a:spcBef>
                <a:spcPts val="800"/>
              </a:spcBef>
              <a:spcAft>
                <a:spcPts val="800"/>
              </a:spcAft>
              <a:defRPr sz="2000">
                <a:solidFill>
                  <a:srgbClr val="FFFFFF"/>
                </a:solidFill>
              </a:defRPr>
            </a:pPr>
            <a:r>
              <a:t>As memory changes (becomes "dirty") during this copy, those dirty pages are tracked and re-sent in subsequent rounds.</a:t>
            </a:r>
          </a:p>
          <a:p>
            <a:pPr>
              <a:spcBef>
                <a:spcPts val="800"/>
              </a:spcBef>
              <a:spcAft>
                <a:spcPts val="800"/>
              </a:spcAft>
              <a:defRPr sz="2000">
                <a:solidFill>
                  <a:srgbClr val="FFFFFF"/>
                </a:solidFill>
              </a:defRPr>
            </a:pPr>
            <a:r>
              <a:t>Once the remaining dirty pages are small enough to be transferred instantly, the VM is momentarily paused, the final state (CPU registers and remaining memory) is synced, and execution resumes on the new host.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1.2 Advanced KVM Technologies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Nested Virtualization refers to the practice of running a hypervisor inside another virtual machine—effectively, a "VM inside a VM." This is achieved by forwarding hardware virtualization extensions (Intel VT-x or AMD-V) from the host CPU through Level 0 (Host Hypervisor) to Level 1 (Guest Hypervisor).</a:t>
            </a:r>
          </a:p>
          <a:p>
            <a:pPr>
              <a:spcBef>
                <a:spcPts val="800"/>
              </a:spcBef>
              <a:spcAft>
                <a:spcPts val="800"/>
              </a:spcAft>
              <a:defRPr sz="2000">
                <a:solidFill>
                  <a:srgbClr val="FFFFFF"/>
                </a:solidFill>
              </a:defRPr>
            </a:pPr>
            <a:r>
              <a:t>This is particularly useful for training environments, development labs, or testing cloud orchestration platforms like OpenStack without requiring dedicated bare-metal hardware for every node.</a:t>
            </a:r>
          </a:p>
          <a:p>
            <a:pPr>
              <a:spcBef>
                <a:spcPts val="800"/>
              </a:spcBef>
              <a:spcAft>
                <a:spcPts val="800"/>
              </a:spcAft>
              <a:defRPr sz="2000">
                <a:solidFill>
                  <a:srgbClr val="FFFFFF"/>
                </a:solidFill>
              </a:defRPr>
            </a:pPr>
            <a:r>
              <a:t>Standard virtualization relies on QEMU to emulate hardware devices, which introduces overhead due to the translation of instructions.</a:t>
            </a:r>
          </a:p>
          <a:p>
            <a:pPr>
              <a:spcBef>
                <a:spcPts val="800"/>
              </a:spcBef>
              <a:spcAft>
                <a:spcPts val="800"/>
              </a:spcAft>
              <a:defRPr sz="2000">
                <a:solidFill>
                  <a:srgbClr val="FFFFFF"/>
                </a:solidFill>
              </a:defRPr>
            </a:pPr>
            <a:r>
              <a:t>For workloads requiring extreme performance—such as high-frequency trading, GPU-accelerated Machine Learning, or 100Gbps networking—emulation is insufficient.</a:t>
            </a:r>
          </a:p>
          <a:p>
            <a:pPr>
              <a:spcBef>
                <a:spcPts val="800"/>
              </a:spcBef>
              <a:spcAft>
                <a:spcPts val="800"/>
              </a:spcAft>
              <a:defRPr sz="2000">
                <a:solidFill>
                  <a:srgbClr val="FFFFFF"/>
                </a:solidFill>
              </a:defRPr>
            </a:pPr>
            <a:r>
              <a:t>The Virtual Function I/O (VFIO) framework allows the host kernel to unbind a physical PCI device from the host drivers and pass it directly to the virtual machine.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1.2 Advanced KVM Technologies (Part 4)</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This gives the guest OS direct, exclusive access to the hardware, resulting in near-native performance, albeit at the cost of losing that device on the host system.</a:t>
            </a:r>
          </a:p>
          <a:p>
            <a:pPr>
              <a:spcBef>
                <a:spcPts val="800"/>
              </a:spcBef>
              <a:spcAft>
                <a:spcPts val="800"/>
              </a:spcAft>
              <a:defRPr sz="2000">
                <a:solidFill>
                  <a:srgbClr val="FFFFFF"/>
                </a:solidFill>
              </a:defRPr>
            </a:pPr>
            <a:r>
              <a:t>Memory Ballooning is a dynamic memory management technique that allows the hypervisor to reclaim RAM from running virtual machines.</a:t>
            </a:r>
          </a:p>
          <a:p>
            <a:pPr>
              <a:spcBef>
                <a:spcPts val="800"/>
              </a:spcBef>
              <a:spcAft>
                <a:spcPts val="800"/>
              </a:spcAft>
              <a:defRPr sz="2000">
                <a:solidFill>
                  <a:srgbClr val="FFFFFF"/>
                </a:solidFill>
              </a:defRPr>
            </a:pPr>
            <a:r>
              <a:t>It utilizes the virtio-balloon driver installed within the guest OS.</a:t>
            </a:r>
          </a:p>
          <a:p>
            <a:pPr>
              <a:spcBef>
                <a:spcPts val="800"/>
              </a:spcBef>
              <a:spcAft>
                <a:spcPts val="800"/>
              </a:spcAft>
              <a:defRPr sz="2000">
                <a:solidFill>
                  <a:srgbClr val="FFFFFF"/>
                </a:solidFill>
              </a:defRPr>
            </a:pPr>
            <a:r>
              <a:t>When the host is under memory pressure, it instructs the balloon driver to "inflate," causing the guest kernel to allocate RAM to the driver.</a:t>
            </a:r>
          </a:p>
          <a:p>
            <a:pPr>
              <a:spcBef>
                <a:spcPts val="800"/>
              </a:spcBef>
              <a:spcAft>
                <a:spcPts val="800"/>
              </a:spcAft>
              <a:defRPr sz="2000">
                <a:solidFill>
                  <a:srgbClr val="FFFFFF"/>
                </a:solidFill>
              </a:defRPr>
            </a:pPr>
            <a:r>
              <a:t>The driver then informs the host which physical pages it has claimed, allowing the host to safely repurpose those physical pages for other tasks.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1.2 Advanced KVM Technologies (Part 5)</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Conversely, when the guest needs more memory, the balloon "deflates," returning the pages to the guest's free pool.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1.3 Practical: Verifying KVM Support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first step is to confirm that the physical processor supports the necessary virtualization extensions (Intel VT-x or AMD-V) and that these extensions are enabled in the system BIOS/UEFI.</a:t>
            </a:r>
          </a:p>
          <a:p>
            <a:pPr>
              <a:spcBef>
                <a:spcPts val="800"/>
              </a:spcBef>
              <a:spcAft>
                <a:spcPts val="800"/>
              </a:spcAft>
              <a:defRPr sz="2000">
                <a:solidFill>
                  <a:srgbClr val="FFFFFF"/>
                </a:solidFill>
              </a:defRPr>
            </a:pPr>
            <a:r>
              <a:t>In Linux, we verify this by inspecting the CPU flags via the lscpu command.</a:t>
            </a:r>
          </a:p>
          <a:p>
            <a:pPr>
              <a:spcBef>
                <a:spcPts val="800"/>
              </a:spcBef>
              <a:spcAft>
                <a:spcPts val="800"/>
              </a:spcAft>
              <a:defRPr sz="2000">
                <a:solidFill>
                  <a:srgbClr val="FFFFFF"/>
                </a:solidFill>
              </a:defRPr>
            </a:pPr>
            <a:r>
              <a:t>We specifically filter for "Virtualization" to see the vendor-specific technology.</a:t>
            </a:r>
          </a:p>
          <a:p>
            <a:pPr>
              <a:spcBef>
                <a:spcPts val="800"/>
              </a:spcBef>
              <a:spcAft>
                <a:spcPts val="800"/>
              </a:spcAft>
              <a:defRPr sz="2000">
                <a:solidFill>
                  <a:srgbClr val="FFFFFF"/>
                </a:solidFill>
              </a:defRPr>
            </a:pPr>
            <a:r>
              <a:t>Security is a critical aspect of virtualization.</a:t>
            </a:r>
          </a:p>
          <a:p>
            <a:pPr>
              <a:spcBef>
                <a:spcPts val="800"/>
              </a:spcBef>
              <a:spcAft>
                <a:spcPts val="800"/>
              </a:spcAft>
              <a:defRPr sz="2000">
                <a:solidFill>
                  <a:srgbClr val="FFFFFF"/>
                </a:solidFill>
              </a:defRPr>
            </a:pPr>
            <a:r>
              <a:t>The kernel interface for creating VMs, located at /dev/kvm, is restricted.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1.3 Practical: Verifying KVM Support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Standard users cannot access this device by default.</a:t>
            </a:r>
          </a:p>
          <a:p>
            <a:pPr>
              <a:spcBef>
                <a:spcPts val="800"/>
              </a:spcBef>
              <a:spcAft>
                <a:spcPts val="800"/>
              </a:spcAft>
              <a:defRPr sz="2000">
                <a:solidFill>
                  <a:srgbClr val="FFFFFF"/>
                </a:solidFill>
              </a:defRPr>
            </a:pPr>
            <a:r>
              <a:t>To allow a user to run VMs without root privileges (a security best practice), the user must be added to the specialized kvm group.</a:t>
            </a:r>
          </a:p>
          <a:p>
            <a:pPr>
              <a:spcBef>
                <a:spcPts val="800"/>
              </a:spcBef>
              <a:spcAft>
                <a:spcPts val="800"/>
              </a:spcAft>
              <a:defRPr sz="2000">
                <a:solidFill>
                  <a:srgbClr val="FFFFFF"/>
                </a:solidFill>
              </a:defRPr>
            </a:pPr>
            <a:r>
              <a:t>"KVM: disabled by BIOS": This message explicitly states that while the CPU supports virtualization, the feature is turned off in the computer's firmware. This cannot be fixed from within the OS; a physical reboot is required to modify BIOS settings.</a:t>
            </a:r>
          </a:p>
          <a:p>
            <a:pPr>
              <a:spcBef>
                <a:spcPts val="800"/>
              </a:spcBef>
              <a:spcAft>
                <a:spcPts val="800"/>
              </a:spcAft>
              <a:defRPr sz="2000">
                <a:solidFill>
                  <a:srgbClr val="FFFFFF"/>
                </a:solidFill>
              </a:defRPr>
            </a:pPr>
            <a:r>
              <a:t>"KVM support not available": This often occurs when trying to run KVM inside another virtual machine (e.g., a cloud VPS) that does not support Nested Virtualization. In this scenario, the "outer" hypervisor has not passed the hardware extensions through to your "inner" guest.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1.4 The Hardware: QEMU (Quick Emulator)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To the Host Linux Kernel, a running Virtual Machine is purely a standard user-space process (qemu-system-x86_64) that happens to be multi-threaded.</a:t>
            </a:r>
          </a:p>
          <a:p>
            <a:pPr>
              <a:spcBef>
                <a:spcPts val="800"/>
              </a:spcBef>
              <a:spcAft>
                <a:spcPts val="800"/>
              </a:spcAft>
              <a:defRPr sz="2000">
                <a:solidFill>
                  <a:srgbClr val="FFFFFF"/>
                </a:solidFill>
              </a:defRPr>
            </a:pPr>
            <a:r>
              <a:t>It does not look different from a web browser or database server from the scheduler's perspective.</a:t>
            </a:r>
          </a:p>
          <a:p>
            <a:pPr>
              <a:spcBef>
                <a:spcPts val="800"/>
              </a:spcBef>
              <a:spcAft>
                <a:spcPts val="800"/>
              </a:spcAft>
              <a:defRPr sz="2000">
                <a:solidFill>
                  <a:srgbClr val="FFFFFF"/>
                </a:solidFill>
              </a:defRPr>
            </a:pPr>
            <a:r>
              <a:t>The architecture relies on three distinct thread types.</a:t>
            </a:r>
          </a:p>
          <a:p>
            <a:pPr>
              <a:spcBef>
                <a:spcPts val="800"/>
              </a:spcBef>
              <a:spcAft>
                <a:spcPts val="800"/>
              </a:spcAft>
              <a:defRPr sz="2000">
                <a:solidFill>
                  <a:srgbClr val="FFFFFF"/>
                </a:solidFill>
              </a:defRPr>
            </a:pPr>
            <a:r>
              <a:t>The Main Loop (iothread) is a single thread running a glib-based event loop responsible for non-blocking tasks, such as handling the QEMU Monitor (management interface), updating VNC/SPICE displays, and dispatching general I/O events.</a:t>
            </a:r>
          </a:p>
          <a:p>
            <a:pPr>
              <a:spcBef>
                <a:spcPts val="800"/>
              </a:spcBef>
              <a:spcAft>
                <a:spcPts val="800"/>
              </a:spcAft>
              <a:defRPr sz="2000">
                <a:solidFill>
                  <a:srgbClr val="FFFFFF"/>
                </a:solidFill>
              </a:defRPr>
            </a:pPr>
            <a:r>
              <a:t>Parallel to this are the vCPU Threads; for every Virtual CPU core assigned to the guest, QEMU spawns a dedicated POSIX thread (pthread) that enters the KVM_RUN ioctl loop to execute guest code on the physical CPU.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1.4 The Hardware: QEMU (Quick Emulator)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This single line defines the fundamental architecture of the virtual motherboard.</a:t>
            </a:r>
          </a:p>
          <a:p>
            <a:pPr>
              <a:spcBef>
                <a:spcPts val="800"/>
              </a:spcBef>
              <a:spcAft>
                <a:spcPts val="800"/>
              </a:spcAft>
              <a:defRPr sz="2000">
                <a:solidFill>
                  <a:srgbClr val="FFFFFF"/>
                </a:solidFill>
              </a:defRPr>
            </a:pPr>
            <a:r>
              <a:t>The pc-q35 argument selects the modern Q35 chipset, which provides support for PCIe native handling and Secure Boot, as opposed to the legacy i440fx type which mimics a 1996-era PC.</a:t>
            </a:r>
          </a:p>
          <a:p>
            <a:pPr>
              <a:spcBef>
                <a:spcPts val="800"/>
              </a:spcBef>
              <a:spcAft>
                <a:spcPts val="800"/>
              </a:spcAft>
              <a:defRPr sz="2000">
                <a:solidFill>
                  <a:srgbClr val="FFFFFF"/>
                </a:solidFill>
              </a:defRPr>
            </a:pPr>
            <a:r>
              <a:t>Crucially, the accel=kvm flag explicitly links the Emulator (QEMU) to the Engine (KVM).</a:t>
            </a:r>
          </a:p>
          <a:p>
            <a:pPr>
              <a:spcBef>
                <a:spcPts val="800"/>
              </a:spcBef>
              <a:spcAft>
                <a:spcPts val="800"/>
              </a:spcAft>
              <a:defRPr sz="2000">
                <a:solidFill>
                  <a:srgbClr val="FFFFFF"/>
                </a:solidFill>
              </a:defRPr>
            </a:pPr>
            <a:r>
              <a:t>Without this flag, QEMU would default to "TCG" (Tiny Code Generator), a software-only mode that interprets every instruction, resulting in agonizingly slow performance.</a:t>
            </a:r>
          </a:p>
          <a:p>
            <a:pPr>
              <a:spcBef>
                <a:spcPts val="800"/>
              </a:spcBef>
              <a:spcAft>
                <a:spcPts val="800"/>
              </a:spcAft>
              <a:defRPr sz="2000">
                <a:solidFill>
                  <a:srgbClr val="FFFFFF"/>
                </a:solidFill>
              </a:defRPr>
            </a:pPr>
            <a:r>
              <a:t>The Backend (defined by -netdev or -drive) refers to the host-side resource, such as connecting to a Linux Bridge (tap100i0) or a disk image file.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1.4 The Hardware: QEMU (Quick Emulator)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(Note: The concept of the Linux Bridge and how it connects VMs to the physical network will be discussed in depth in the Network Chapter in Week 4.) The Frontend (defined by -device) creates the virtual hardware that appears on the guest's PCI bus, such as a "VirtIO Network Card".</a:t>
            </a:r>
          </a:p>
          <a:p>
            <a:pPr>
              <a:spcBef>
                <a:spcPts val="800"/>
              </a:spcBef>
              <a:spcAft>
                <a:spcPts val="800"/>
              </a:spcAft>
              <a:defRPr sz="2000">
                <a:solidFill>
                  <a:srgbClr val="FFFFFF"/>
                </a:solidFill>
              </a:defRPr>
            </a:pPr>
            <a:r>
              <a:t>The guest OS writes data to the Frontend device, and QEMU is responsible for passing that data to the polling Backend.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1.5 Optimization: VirtIO (Paravirtualization)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Solution: VirtIO</a:t>
            </a:r>
            <a:br/>
            <a:r>
              <a:t>VirtIO replaces full hardware emulation with a standardized "Paravirtualized" architecture.</a:t>
            </a:r>
          </a:p>
          <a:p>
            <a:pPr>
              <a:spcBef>
                <a:spcPts val="800"/>
              </a:spcBef>
              <a:spcAft>
                <a:spcPts val="800"/>
              </a:spcAft>
              <a:defRPr sz="2000">
                <a:solidFill>
                  <a:srgbClr val="FFFFFF"/>
                </a:solidFill>
              </a:defRPr>
            </a:pPr>
            <a:r>
              <a:t>In this model, the Guest OS is aware that it is running in a virtual environment.</a:t>
            </a:r>
          </a:p>
          <a:p>
            <a:pPr>
              <a:spcBef>
                <a:spcPts val="800"/>
              </a:spcBef>
              <a:spcAft>
                <a:spcPts val="800"/>
              </a:spcAft>
              <a:defRPr sz="2000">
                <a:solidFill>
                  <a:srgbClr val="FFFFFF"/>
                </a:solidFill>
              </a:defRPr>
            </a:pPr>
            <a:r>
              <a:t>Instead of trapping and emulating legacy hardware registers (which is slow), the Guest uses a specialized virtio driver to communicate directly with the Host via a shared memory interface.</a:t>
            </a:r>
          </a:p>
          <a:p>
            <a:pPr>
              <a:spcBef>
                <a:spcPts val="800"/>
              </a:spcBef>
              <a:spcAft>
                <a:spcPts val="800"/>
              </a:spcAft>
              <a:defRPr sz="2000">
                <a:solidFill>
                  <a:srgbClr val="FFFFFF"/>
                </a:solidFill>
              </a:defRPr>
            </a:pPr>
            <a:r>
              <a:t>Mechanism (The Ring Buffer):</a:t>
            </a:r>
            <a:br/>
            <a:r>
              <a:t>The core of VirtIO's performance is the Virtqueue, implemented as a circular ring buffer in shared memory.</a:t>
            </a:r>
          </a:p>
          <a:p>
            <a:pPr>
              <a:spcBef>
                <a:spcPts val="800"/>
              </a:spcBef>
              <a:spcAft>
                <a:spcPts val="800"/>
              </a:spcAft>
              <a:defRPr sz="2000">
                <a:solidFill>
                  <a:srgbClr val="FFFFFF"/>
                </a:solidFill>
              </a:defRPr>
            </a:pPr>
            <a:r>
              <a:t>The process begins with Shared Memory, where QEMU allocates a region of RAM that is mapped into the address spaces of both the Host and the Guest.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1.5 Optimization: VirtIO (Paravirtualization)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When the Guest needs to send data (e.g., a network packet), it initiates a vRing Operation by placing a descriptor pointer into the vRing buffer.</a:t>
            </a:r>
          </a:p>
          <a:p>
            <a:pPr>
              <a:spcBef>
                <a:spcPts val="800"/>
              </a:spcBef>
              <a:spcAft>
                <a:spcPts val="800"/>
              </a:spcAft>
              <a:defRPr sz="2000">
                <a:solidFill>
                  <a:srgbClr val="FFFFFF"/>
                </a:solidFill>
              </a:defRPr>
            </a:pPr>
            <a:r>
              <a:t>Subsequently, the Guest performs a Kick Notification—a lightweight signal (via ioeventfd)—to alert the Host that new data is available.</a:t>
            </a:r>
          </a:p>
          <a:p>
            <a:pPr>
              <a:spcBef>
                <a:spcPts val="800"/>
              </a:spcBef>
              <a:spcAft>
                <a:spcPts val="800"/>
              </a:spcAft>
              <a:defRPr sz="2000">
                <a:solidFill>
                  <a:srgbClr val="FFFFFF"/>
                </a:solidFill>
              </a:defRPr>
            </a:pPr>
            <a:r>
              <a:t>Finally, the Host performs Zero-Copy Processing by reading the data directly from the shared memory without needing to simulate a physical device operation, processing it, and placing a response back in the 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1.6 Essential Command Reference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While Proxmox handles these automatically, knowing the underlying commands is useful for debugging and "deep dive" understanding.</a:t>
            </a:r>
          </a:p>
          <a:p>
            <a:pPr>
              <a:spcBef>
                <a:spcPts val="800"/>
              </a:spcBef>
              <a:spcAft>
                <a:spcPts val="800"/>
              </a:spcAft>
              <a:defRPr sz="2000">
                <a:solidFill>
                  <a:srgbClr val="FFFFFF"/>
                </a:solidFill>
              </a:defRPr>
            </a:pPr>
            <a:r>
              <a:t>The following commands are provided for reference and theoretical understanding; you will have the opportunity to execute them and observe their output directly in this week's Lab exercises.</a:t>
            </a:r>
          </a:p>
          <a:p>
            <a:pPr>
              <a:spcBef>
                <a:spcPts val="800"/>
              </a:spcBef>
              <a:spcAft>
                <a:spcPts val="800"/>
              </a:spcAft>
              <a:defRPr sz="2000">
                <a:solidFill>
                  <a:srgbClr val="FFFFFF"/>
                </a:solidFill>
              </a:defRPr>
            </a:pPr>
            <a:r>
              <a:t>The qemu-img utility handles virtual disk creation and manipulation.</a:t>
            </a:r>
          </a:p>
          <a:p>
            <a:pPr>
              <a:spcBef>
                <a:spcPts val="800"/>
              </a:spcBef>
              <a:spcAft>
                <a:spcPts val="800"/>
              </a:spcAft>
              <a:defRPr sz="2000">
                <a:solidFill>
                  <a:srgbClr val="FFFFFF"/>
                </a:solidFill>
              </a:defRPr>
            </a:pPr>
            <a:r>
              <a:t>To create a new disk, the create subcommand is used, specifying the format (typically qcow2 for thin provisioning) and the size.</a:t>
            </a:r>
          </a:p>
          <a:p>
            <a:pPr>
              <a:spcBef>
                <a:spcPts val="800"/>
              </a:spcBef>
              <a:spcAft>
                <a:spcPts val="800"/>
              </a:spcAft>
              <a:defRPr sz="2000">
                <a:solidFill>
                  <a:srgbClr val="FFFFFF"/>
                </a:solidFill>
              </a:defRPr>
            </a:pPr>
            <a:r>
              <a:t>For example, qemu-img create -f qcow2 mydisk.qcow2 20G.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1.6 Essential Command Reference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To inspect an existing disk's virtual size and actual disk usage, the info command provides detailed metadata.</a:t>
            </a:r>
          </a:p>
          <a:p>
            <a:pPr>
              <a:spcBef>
                <a:spcPts val="800"/>
              </a:spcBef>
              <a:spcAft>
                <a:spcPts val="800"/>
              </a:spcAft>
              <a:defRPr sz="2000">
                <a:solidFill>
                  <a:srgbClr val="FFFFFF"/>
                </a:solidFill>
              </a:defRPr>
            </a:pPr>
            <a:r>
              <a:t>Furthermore, the convert subcommand interacts with the format translation engine, allowing administrators to transform a generic .img image into a VMware .vmdk or QEMU .qcow2 image.</a:t>
            </a:r>
          </a:p>
          <a:p>
            <a:pPr>
              <a:spcBef>
                <a:spcPts val="800"/>
              </a:spcBef>
              <a:spcAft>
                <a:spcPts val="800"/>
              </a:spcAft>
              <a:defRPr sz="2000">
                <a:solidFill>
                  <a:srgbClr val="FFFFFF"/>
                </a:solidFill>
              </a:defRPr>
            </a:pPr>
            <a:r>
              <a:t>Launching a VM manually involves the qemu-system-x86_64 binary.</a:t>
            </a:r>
          </a:p>
          <a:p>
            <a:pPr>
              <a:spcBef>
                <a:spcPts val="800"/>
              </a:spcBef>
              <a:spcAft>
                <a:spcPts val="800"/>
              </a:spcAft>
              <a:defRPr sz="2000">
                <a:solidFill>
                  <a:srgbClr val="FFFFFF"/>
                </a:solidFill>
              </a:defRPr>
            </a:pPr>
            <a:r>
              <a:t>A basic invocation usually requires defining the hard drive (-hda), the allocated RAM (-m), and crucially, the KVM accelerator (-enable-kvm or -accel kvm).</a:t>
            </a:r>
          </a:p>
          <a:p>
            <a:pPr>
              <a:spcBef>
                <a:spcPts val="800"/>
              </a:spcBef>
              <a:spcAft>
                <a:spcPts val="800"/>
              </a:spcAft>
              <a:defRPr sz="2000">
                <a:solidFill>
                  <a:srgbClr val="FFFFFF"/>
                </a:solidFill>
              </a:defRPr>
            </a:pPr>
            <a:r>
              <a:t>For booting from an installer ISO, the -cdrom flag is added, often accompanied by -boot d to prioritize the optical drive in the boot order.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1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KVM: The kernel module that handles CPU execution (Guest Mode).</a:t>
            </a:r>
          </a:p>
          <a:p>
            <a:pPr>
              <a:spcBef>
                <a:spcPts val="800"/>
              </a:spcBef>
              <a:spcAft>
                <a:spcPts val="800"/>
              </a:spcAft>
              <a:defRPr sz="2000">
                <a:solidFill>
                  <a:srgbClr val="FFFFFF"/>
                </a:solidFill>
              </a:defRPr>
            </a:pPr>
            <a:r>
              <a:t>QEMU: The process that provides virtual hardware (Disks, NICs).</a:t>
            </a:r>
          </a:p>
          <a:p>
            <a:pPr>
              <a:spcBef>
                <a:spcPts val="800"/>
              </a:spcBef>
              <a:spcAft>
                <a:spcPts val="800"/>
              </a:spcAft>
              <a:defRPr sz="2000">
                <a:solidFill>
                  <a:srgbClr val="FFFFFF"/>
                </a:solidFill>
              </a:defRPr>
            </a:pPr>
            <a:r>
              <a:t>VirtIO: Special drivers that bypass emulation for speed.</a:t>
            </a:r>
          </a:p>
          <a:p>
            <a:pPr>
              <a:spcBef>
                <a:spcPts val="800"/>
              </a:spcBef>
              <a:spcAft>
                <a:spcPts val="800"/>
              </a:spcAft>
              <a:defRPr sz="2000">
                <a:solidFill>
                  <a:srgbClr val="FFFFFF"/>
                </a:solidFill>
              </a:defRPr>
            </a:pPr>
            <a:r>
              <a:t>Why does top on the host show a qemu-kvm process using 100% CPU if the VM is busy?</a:t>
            </a:r>
          </a:p>
          <a:p>
            <a:pPr>
              <a:spcBef>
                <a:spcPts val="800"/>
              </a:spcBef>
              <a:spcAft>
                <a:spcPts val="800"/>
              </a:spcAft>
              <a:defRPr sz="2000">
                <a:solidFill>
                  <a:srgbClr val="FFFFFF"/>
                </a:solidFill>
              </a:defRPr>
            </a:pPr>
            <a:r>
              <a:t>What is the difference between "Full Emulation" and "Paravirtualization"?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1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Red Hat: KVM Architecture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2. The Platform: Proxmox VE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Architectural Breakdown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This layer facilitates all human-to-machine interaction and is driven by several key daemons.</a:t>
            </a:r>
          </a:p>
          <a:p>
            <a:pPr>
              <a:spcBef>
                <a:spcPts val="800"/>
              </a:spcBef>
              <a:spcAft>
                <a:spcPts val="800"/>
              </a:spcAft>
              <a:defRPr sz="2000">
                <a:solidFill>
                  <a:srgbClr val="FFFFFF"/>
                </a:solidFill>
              </a:defRPr>
            </a:pPr>
            <a:r>
              <a:t>The pveproxy service acts as the primary "front door," listening on port 8006 and serving the web interface via a secure HTTP server; it forwards valid requests to the internal API (pvedaemon).</a:t>
            </a:r>
          </a:p>
          <a:p>
            <a:pPr>
              <a:spcBef>
                <a:spcPts val="800"/>
              </a:spcBef>
              <a:spcAft>
                <a:spcPts val="800"/>
              </a:spcAft>
              <a:defRPr sz="2000">
                <a:solidFill>
                  <a:srgbClr val="FFFFFF"/>
                </a:solidFill>
              </a:defRPr>
            </a:pPr>
            <a:r>
              <a:t>For console access, spiceproxy and vncterm handle the streaming of graphical display data from VMs to the browser.</a:t>
            </a:r>
          </a:p>
          <a:p>
            <a:pPr>
              <a:spcBef>
                <a:spcPts val="800"/>
              </a:spcBef>
              <a:spcAft>
                <a:spcPts val="800"/>
              </a:spcAft>
              <a:defRPr sz="2000">
                <a:solidFill>
                  <a:srgbClr val="FFFFFF"/>
                </a:solidFill>
              </a:defRPr>
            </a:pPr>
            <a:r>
              <a:t>The pvedaemon (PVE API Daemon) is the worker background process that actually executes privileged tasks; whether triggered by the JSON-based Web GUI, the pvesh CLI tool, or an external script, all roads lead to this daemon, ensuring a consistent execution path for every command.</a:t>
            </a:r>
          </a:p>
          <a:p>
            <a:pPr>
              <a:spcBef>
                <a:spcPts val="800"/>
              </a:spcBef>
              <a:spcAft>
                <a:spcPts val="800"/>
              </a:spcAft>
              <a:defRPr sz="2000">
                <a:solidFill>
                  <a:srgbClr val="FFFFFF"/>
                </a:solidFill>
              </a:defRPr>
            </a:pPr>
            <a:r>
              <a:t>This layer also enforces User Authentication, validating credentials against configurable realms (PAM, LDAP, AD) before granting access.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Architectural Breakdown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Invisible to the user, a suite of daemons maintains the cluster's brain.</a:t>
            </a:r>
          </a:p>
          <a:p>
            <a:pPr>
              <a:spcBef>
                <a:spcPts val="800"/>
              </a:spcBef>
              <a:spcAft>
                <a:spcPts val="800"/>
              </a:spcAft>
              <a:defRPr sz="2000">
                <a:solidFill>
                  <a:srgbClr val="FFFFFF"/>
                </a:solidFill>
              </a:defRPr>
            </a:pPr>
            <a:r>
              <a:t>Corosync is the foundational cluster engine, providing the reliable, low-latency communication required to maintain quorum (node consensus).</a:t>
            </a:r>
          </a:p>
          <a:p>
            <a:pPr>
              <a:spcBef>
                <a:spcPts val="800"/>
              </a:spcBef>
              <a:spcAft>
                <a:spcPts val="800"/>
              </a:spcAft>
              <a:defRPr sz="2000">
                <a:solidFill>
                  <a:srgbClr val="FFFFFF"/>
                </a:solidFill>
              </a:defRPr>
            </a:pPr>
            <a:r>
              <a:t>Data consistency is handled by pmxcfs (Proxmox Cluster File System), a database-driven filesystem that instantly replicates configuration files in /etc/pve to all nodes.</a:t>
            </a:r>
          </a:p>
          <a:p>
            <a:pPr>
              <a:spcBef>
                <a:spcPts val="800"/>
              </a:spcBef>
              <a:spcAft>
                <a:spcPts val="800"/>
              </a:spcAft>
              <a:defRPr sz="2000">
                <a:solidFill>
                  <a:srgbClr val="FFFFFF"/>
                </a:solidFill>
              </a:defRPr>
            </a:pPr>
            <a:r>
              <a:t>Monitoring is the responsibility of pvestatd (PVE Status Daemon), which queries the status of VMs, containers, and storage every 10 seconds to update the management layer.</a:t>
            </a:r>
          </a:p>
          <a:p>
            <a:pPr>
              <a:spcBef>
                <a:spcPts val="800"/>
              </a:spcBef>
              <a:spcAft>
                <a:spcPts val="800"/>
              </a:spcAft>
              <a:defRPr sz="2000">
                <a:solidFill>
                  <a:srgbClr val="FFFFFF"/>
                </a:solidFill>
              </a:defRPr>
            </a:pPr>
            <a:r>
              <a:t>Finally, the High Availability (HA) stack consists of two critical components: the pve-ha-crm (Cluster Resource Manager), which decides where a service should run, and the pve-ha-lrm (Local Resource Manager), which watches services on the local node and reports their state to the CRM, ensuring rapid recovery if a node fails.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Architectural Breakdown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This is where the actual work happens, overseen by the Proxmox Kernel.</a:t>
            </a:r>
          </a:p>
          <a:p>
            <a:pPr>
              <a:spcBef>
                <a:spcPts val="800"/>
              </a:spcBef>
              <a:spcAft>
                <a:spcPts val="800"/>
              </a:spcAft>
              <a:defRPr sz="2000">
                <a:solidFill>
                  <a:srgbClr val="FFFFFF"/>
                </a:solidFill>
              </a:defRPr>
            </a:pPr>
            <a:r>
              <a:t>For full virtualization, the KVM kernel module turns the Linux kernel into a hypervisor, while QEMU processes utilize this to run guest operating systems.</a:t>
            </a:r>
          </a:p>
          <a:p>
            <a:pPr>
              <a:spcBef>
                <a:spcPts val="800"/>
              </a:spcBef>
              <a:spcAft>
                <a:spcPts val="800"/>
              </a:spcAft>
              <a:defRPr sz="2000">
                <a:solidFill>
                  <a:srgbClr val="FFFFFF"/>
                </a:solidFill>
              </a:defRPr>
            </a:pPr>
            <a:r>
              <a:t>For lightweight virtualization, LXC (Linux Containers) enables kernel-shared environments, supported by lxcfs, a userspace filesystem that provides containers with virtualized views of /proc files (like CPU and memory stats) so they don't see the host's full resources.</a:t>
            </a:r>
          </a:p>
          <a:p>
            <a:pPr>
              <a:spcBef>
                <a:spcPts val="800"/>
              </a:spcBef>
              <a:spcAft>
                <a:spcPts val="800"/>
              </a:spcAft>
              <a:defRPr sz="2000">
                <a:solidFill>
                  <a:srgbClr val="FFFFFF"/>
                </a:solidFill>
              </a:defRPr>
            </a:pPr>
            <a:r>
              <a:t>Storage Plugins simplify disk management by translating abstract requests ("create disk") into specific backend commands (e.g., zfs create or rbd create).</a:t>
            </a:r>
          </a:p>
          <a:p>
            <a:pPr>
              <a:spcBef>
                <a:spcPts val="800"/>
              </a:spcBef>
              <a:spcAft>
                <a:spcPts val="800"/>
              </a:spcAft>
              <a:defRPr sz="2000">
                <a:solidFill>
                  <a:srgbClr val="FFFFFF"/>
                </a:solidFill>
              </a:defRPr>
            </a:pPr>
            <a:r>
              <a:t>Similarly, the pve-firewall service generates 'iptables' rules dynamically for each guest, creating isolated security zones (Interfaces/Bridges) at the kernel level.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Key Components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Proxmox VE is not a single application but a suite of integrated components.</a:t>
            </a:r>
          </a:p>
          <a:p>
            <a:pPr>
              <a:spcBef>
                <a:spcPts val="800"/>
              </a:spcBef>
              <a:spcAft>
                <a:spcPts val="800"/>
              </a:spcAft>
              <a:defRPr sz="2000">
                <a:solidFill>
                  <a:srgbClr val="FFFFFF"/>
                </a:solidFill>
              </a:defRPr>
            </a:pPr>
            <a:r>
              <a:t>Understanding how these distinct parts—the interface, storage backends, and clustering services—fit together is essential for designing a resilient infrastructure.</a:t>
            </a:r>
          </a:p>
          <a:p>
            <a:pPr>
              <a:spcBef>
                <a:spcPts val="800"/>
              </a:spcBef>
              <a:spcAft>
                <a:spcPts val="800"/>
              </a:spcAft>
              <a:defRPr sz="2000">
                <a:solidFill>
                  <a:srgbClr val="FFFFFF"/>
                </a:solidFill>
              </a:defRPr>
            </a:pPr>
            <a:r>
              <a:t>Although the architecture is layered, the daily operational experience revolves around extensive interaction with the following key subsystems.</a:t>
            </a:r>
          </a:p>
          <a:p>
            <a:pPr>
              <a:spcBef>
                <a:spcPts val="800"/>
              </a:spcBef>
              <a:spcAft>
                <a:spcPts val="800"/>
              </a:spcAft>
              <a:defRPr sz="2000">
                <a:solidFill>
                  <a:srgbClr val="FFFFFF"/>
                </a:solidFill>
              </a:defRPr>
            </a:pPr>
            <a:r>
              <a:t>The primary management point is the web-based Graphical User Interface, accessible via port 8006.</a:t>
            </a:r>
          </a:p>
          <a:p>
            <a:pPr>
              <a:spcBef>
                <a:spcPts val="800"/>
              </a:spcBef>
              <a:spcAft>
                <a:spcPts val="800"/>
              </a:spcAft>
              <a:defRPr sz="2000">
                <a:solidFill>
                  <a:srgbClr val="FFFFFF"/>
                </a:solidFill>
              </a:defRPr>
            </a:pPr>
            <a:r>
              <a:t>It abstracts the complexity of qemu command lines and configuration files, allowing administrators to create VMs, manage storage pools, and configure software-defined networking bridges with visual feedback.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Key Components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interface organizes these capabilities into four distinct regions.</a:t>
            </a:r>
          </a:p>
          <a:p>
            <a:pPr>
              <a:spcBef>
                <a:spcPts val="800"/>
              </a:spcBef>
              <a:spcAft>
                <a:spcPts val="800"/>
              </a:spcAft>
              <a:defRPr sz="2000">
                <a:solidFill>
                  <a:srgbClr val="FFFFFF"/>
                </a:solidFill>
              </a:defRPr>
            </a:pPr>
            <a:r>
              <a:t>At the top, the Header provides critical status information and action buttons for system-wide operations.</a:t>
            </a:r>
          </a:p>
          <a:p>
            <a:pPr>
              <a:spcBef>
                <a:spcPts val="800"/>
              </a:spcBef>
              <a:spcAft>
                <a:spcPts val="800"/>
              </a:spcAft>
              <a:defRPr sz="2000">
                <a:solidFill>
                  <a:srgbClr val="FFFFFF"/>
                </a:solidFill>
              </a:defRPr>
            </a:pPr>
            <a:r>
              <a:t>To the left, the Resource Tree acts as the main navigation hub, allowing you to select specific objects such as nodes, VMs, or storage pools.</a:t>
            </a:r>
          </a:p>
          <a:p>
            <a:pPr>
              <a:spcBef>
                <a:spcPts val="800"/>
              </a:spcBef>
              <a:spcAft>
                <a:spcPts val="800"/>
              </a:spcAft>
              <a:defRPr sz="2000">
                <a:solidFill>
                  <a:srgbClr val="FFFFFF"/>
                </a:solidFill>
              </a:defRPr>
            </a:pPr>
            <a:r>
              <a:t>The center region contains the Content Panel, which dynamically updates to show the configuration options and status for whichever object is selected in the tree.</a:t>
            </a:r>
          </a:p>
          <a:p>
            <a:pPr>
              <a:spcBef>
                <a:spcPts val="800"/>
              </a:spcBef>
              <a:spcAft>
                <a:spcPts val="800"/>
              </a:spcAft>
              <a:defRPr sz="2000">
                <a:solidFill>
                  <a:srgbClr val="FFFFFF"/>
                </a:solidFill>
              </a:defRPr>
            </a:pPr>
            <a:r>
              <a:t>Finally, the Log Panel resides at the bottom, creating a real-time audit trail of recent tasks; administrators can double-click these entries to view detailed execution logs or abort running operations.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Key Components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Proxmox decouples compute from storage to facilitate flexibility across different environments.</a:t>
            </a:r>
          </a:p>
          <a:p>
            <a:pPr>
              <a:spcBef>
                <a:spcPts val="800"/>
              </a:spcBef>
              <a:spcAft>
                <a:spcPts val="800"/>
              </a:spcAft>
              <a:defRPr sz="2000">
                <a:solidFill>
                  <a:srgbClr val="FFFFFF"/>
                </a:solidFill>
              </a:defRPr>
            </a:pPr>
            <a:r>
              <a:t>For standalone setups, administrators often utilize Local Storage such as LVM-Thin or ZFS, which support advanced features like instant snapshots.</a:t>
            </a:r>
          </a:p>
          <a:p>
            <a:pPr>
              <a:spcBef>
                <a:spcPts val="800"/>
              </a:spcBef>
              <a:spcAft>
                <a:spcPts val="800"/>
              </a:spcAft>
              <a:defRPr sz="2000">
                <a:solidFill>
                  <a:srgbClr val="FFFFFF"/>
                </a:solidFill>
              </a:defRPr>
            </a:pPr>
            <a:r>
              <a:t>In clustered environments, the platform leverages Network Storage (NFS, iSCSI, or SMB) to enable VM mobility and Live Migration.</a:t>
            </a:r>
          </a:p>
          <a:p>
            <a:pPr>
              <a:spcBef>
                <a:spcPts val="800"/>
              </a:spcBef>
              <a:spcAft>
                <a:spcPts val="800"/>
              </a:spcAft>
              <a:defRPr sz="2000">
                <a:solidFill>
                  <a:srgbClr val="FFFFFF"/>
                </a:solidFill>
              </a:defRPr>
            </a:pPr>
            <a:r>
              <a:t>Furthermore, Proxmox supports Hyper-Converged infrastructure through native integration with Ceph, a distributed object store that runs directly on the nodes themselves, eliminating the need for expensive external SAN hardware.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2 Checkpoint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Architecture: Web UI -&gt; API -&gt; Corosync/pmxcfs -&gt; Kernel/KVM.</a:t>
            </a:r>
          </a:p>
          <a:p>
            <a:pPr>
              <a:spcBef>
                <a:spcPts val="800"/>
              </a:spcBef>
              <a:spcAft>
                <a:spcPts val="800"/>
              </a:spcAft>
              <a:defRPr sz="2000">
                <a:solidFill>
                  <a:srgbClr val="FFFFFF"/>
                </a:solidFill>
              </a:defRPr>
            </a:pPr>
            <a:r>
              <a:t>pmxcfs: The magic filesystem that keeps cluster configs in sync.</a:t>
            </a:r>
          </a:p>
          <a:p>
            <a:pPr>
              <a:spcBef>
                <a:spcPts val="800"/>
              </a:spcBef>
              <a:spcAft>
                <a:spcPts val="800"/>
              </a:spcAft>
              <a:defRPr sz="2000">
                <a:solidFill>
                  <a:srgbClr val="FFFFFF"/>
                </a:solidFill>
              </a:defRPr>
            </a:pPr>
            <a:r>
              <a:t>Storage: Decoupled from compute to allow flexibility (Local vs Shared).</a:t>
            </a:r>
          </a:p>
          <a:p>
            <a:pPr>
              <a:spcBef>
                <a:spcPts val="800"/>
              </a:spcBef>
              <a:spcAft>
                <a:spcPts val="800"/>
              </a:spcAft>
              <a:defRPr sz="2000">
                <a:solidFill>
                  <a:srgbClr val="FFFFFF"/>
                </a:solidFill>
              </a:defRPr>
            </a:pPr>
            <a:r>
              <a:t>Why is an API-first design better for automation?</a:t>
            </a:r>
          </a:p>
          <a:p>
            <a:pPr>
              <a:spcBef>
                <a:spcPts val="800"/>
              </a:spcBef>
              <a:spcAft>
                <a:spcPts val="800"/>
              </a:spcAft>
              <a:defRPr sz="2000">
                <a:solidFill>
                  <a:srgbClr val="FFFFFF"/>
                </a:solidFill>
              </a:defRPr>
            </a:pPr>
            <a:r>
              <a:t>If pmxcfs replicates configs, what happens if you lose network connectivity between nodes?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3. VM Management Features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3.1 Cloning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A Full Clone is a complete, independent copy of the original VM.</a:t>
            </a:r>
          </a:p>
          <a:p>
            <a:pPr>
              <a:spcBef>
                <a:spcPts val="800"/>
              </a:spcBef>
              <a:spcAft>
                <a:spcPts val="800"/>
              </a:spcAft>
              <a:defRPr sz="2000">
                <a:solidFill>
                  <a:srgbClr val="FFFFFF"/>
                </a:solidFill>
              </a:defRPr>
            </a:pPr>
            <a:r>
              <a:t>The system performs a block-by-block copy of the source disk image to a new file.</a:t>
            </a:r>
          </a:p>
          <a:p>
            <a:pPr>
              <a:spcBef>
                <a:spcPts val="800"/>
              </a:spcBef>
              <a:spcAft>
                <a:spcPts val="800"/>
              </a:spcAft>
              <a:defRPr sz="2000">
                <a:solidFill>
                  <a:srgbClr val="FFFFFF"/>
                </a:solidFill>
              </a:defRPr>
            </a:pPr>
            <a:r>
              <a:t>Since it duplicates all data, it consumes significant time and storage space.</a:t>
            </a:r>
          </a:p>
          <a:p>
            <a:pPr>
              <a:spcBef>
                <a:spcPts val="800"/>
              </a:spcBef>
              <a:spcAft>
                <a:spcPts val="800"/>
              </a:spcAft>
              <a:defRPr sz="2000">
                <a:solidFill>
                  <a:srgbClr val="FFFFFF"/>
                </a:solidFill>
              </a:defRPr>
            </a:pPr>
            <a:r>
              <a:t>However, its complete isolation makes it ideal for production deployments, as the new VM has no dependency on the original.</a:t>
            </a:r>
          </a:p>
          <a:p>
            <a:pPr>
              <a:spcBef>
                <a:spcPts val="800"/>
              </a:spcBef>
              <a:spcAft>
                <a:spcPts val="800"/>
              </a:spcAft>
              <a:defRPr sz="2000">
                <a:solidFill>
                  <a:srgbClr val="FFFFFF"/>
                </a:solidFill>
              </a:defRPr>
            </a:pPr>
            <a:r>
              <a:t>A Linked Clone uses a "Copy-on-Write" mechanism.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3.1 Cloning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It does not copy the original disk; instead, it creates a new delta file that references the original "Base" disk.</a:t>
            </a:r>
          </a:p>
          <a:p>
            <a:pPr>
              <a:spcBef>
                <a:spcPts val="800"/>
              </a:spcBef>
              <a:spcAft>
                <a:spcPts val="800"/>
              </a:spcAft>
              <a:defRPr sz="2000">
                <a:solidFill>
                  <a:srgbClr val="FFFFFF"/>
                </a:solidFill>
              </a:defRPr>
            </a:pPr>
            <a:r>
              <a:t>The new VM reads from the Base disk but writes changes to its own small delta file.</a:t>
            </a:r>
          </a:p>
          <a:p>
            <a:pPr>
              <a:spcBef>
                <a:spcPts val="800"/>
              </a:spcBef>
              <a:spcAft>
                <a:spcPts val="800"/>
              </a:spcAft>
              <a:defRPr sz="2000">
                <a:solidFill>
                  <a:srgbClr val="FFFFFF"/>
                </a:solidFill>
              </a:defRPr>
            </a:pPr>
            <a:r>
              <a:t>This allows for near-instant creation and minimal storage usage, making it perfect for efficient testing or classroom labs.</a:t>
            </a:r>
          </a:p>
          <a:p>
            <a:pPr>
              <a:spcBef>
                <a:spcPts val="800"/>
              </a:spcBef>
              <a:spcAft>
                <a:spcPts val="800"/>
              </a:spcAft>
              <a:defRPr sz="2000">
                <a:solidFill>
                  <a:srgbClr val="FFFFFF"/>
                </a:solidFill>
              </a:defRPr>
            </a:pPr>
            <a:r>
              <a:t>However, it introduces a critical dependency: the Base disk cannot be deleted without breaking all Linked Clones.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3.2 Snapshots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When a snapshot is taken in Proxmox (specifically on QCOW2 or ZFS storage), the system marks the current data blocks as read-only.</a:t>
            </a:r>
          </a:p>
          <a:p>
            <a:pPr>
              <a:spcBef>
                <a:spcPts val="800"/>
              </a:spcBef>
              <a:spcAft>
                <a:spcPts val="800"/>
              </a:spcAft>
              <a:defRPr sz="2000">
                <a:solidFill>
                  <a:srgbClr val="FFFFFF"/>
                </a:solidFill>
              </a:defRPr>
            </a:pPr>
            <a:r>
              <a:t>Any new writes are diverted to new blocks.</a:t>
            </a:r>
          </a:p>
          <a:p>
            <a:pPr>
              <a:spcBef>
                <a:spcPts val="800"/>
              </a:spcBef>
              <a:spcAft>
                <a:spcPts val="800"/>
              </a:spcAft>
              <a:defRPr sz="2000">
                <a:solidFill>
                  <a:srgbClr val="FFFFFF"/>
                </a:solidFill>
              </a:defRPr>
            </a:pPr>
            <a:r>
              <a:t>If basic disk snapshotting is selected, only the disk state is saved (crash-consistent).</a:t>
            </a:r>
          </a:p>
          <a:p>
            <a:pPr>
              <a:spcBef>
                <a:spcPts val="800"/>
              </a:spcBef>
              <a:spcAft>
                <a:spcPts val="800"/>
              </a:spcAft>
              <a:defRPr sz="2000">
                <a:solidFill>
                  <a:srgbClr val="FFFFFF"/>
                </a:solidFill>
              </a:defRPr>
            </a:pPr>
            <a:r>
              <a:t>If "Include RAM" is selected, the entire contents of the running memory are dumped to disk.</a:t>
            </a:r>
          </a:p>
          <a:p>
            <a:pPr>
              <a:spcBef>
                <a:spcPts val="800"/>
              </a:spcBef>
              <a:spcAft>
                <a:spcPts val="800"/>
              </a:spcAft>
              <a:defRPr sz="2000">
                <a:solidFill>
                  <a:srgbClr val="FFFFFF"/>
                </a:solidFill>
              </a:defRPr>
            </a:pPr>
            <a:r>
              <a:t>This allows the VM to be restored to a running state, preserving open applications and processes, though it takes longer to complete.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3.3 Console Access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For a richer desktop experience, Proxmox supports SPICE.</a:t>
            </a:r>
          </a:p>
          <a:p>
            <a:pPr>
              <a:spcBef>
                <a:spcPts val="800"/>
              </a:spcBef>
              <a:spcAft>
                <a:spcPts val="800"/>
              </a:spcAft>
              <a:defRPr sz="2000">
                <a:solidFill>
                  <a:srgbClr val="FFFFFF"/>
                </a:solidFill>
              </a:defRPr>
            </a:pPr>
            <a:r>
              <a:t>This protocol offers advanced features such as high-quality audio streaming, multi-monitor support, and USB device redirection (plugging a USB drive into your client and having it appear in the VM).</a:t>
            </a:r>
          </a:p>
          <a:p>
            <a:pPr>
              <a:spcBef>
                <a:spcPts val="800"/>
              </a:spcBef>
              <a:spcAft>
                <a:spcPts val="800"/>
              </a:spcAft>
              <a:defRPr sz="2000">
                <a:solidFill>
                  <a:srgbClr val="FFFFFF"/>
                </a:solidFill>
              </a:defRPr>
            </a:pPr>
            <a:r>
              <a:t>However, unlike NoVNC, SPICE requires a dedicated client viewer software (virt-viewer) to be installed on the user's machine.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3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Cloning: Full (Performance/Isolation) vs Linked (Speed/Space).</a:t>
            </a:r>
          </a:p>
          <a:p>
            <a:pPr>
              <a:spcBef>
                <a:spcPts val="800"/>
              </a:spcBef>
              <a:spcAft>
                <a:spcPts val="800"/>
              </a:spcAft>
              <a:defRPr sz="2000">
                <a:solidFill>
                  <a:srgbClr val="FFFFFF"/>
                </a:solidFill>
              </a:defRPr>
            </a:pPr>
            <a:r>
              <a:t>Snapshots: "Save Game" state before risky changes. Not a backup!</a:t>
            </a:r>
          </a:p>
          <a:p>
            <a:pPr>
              <a:spcBef>
                <a:spcPts val="800"/>
              </a:spcBef>
              <a:spcAft>
                <a:spcPts val="800"/>
              </a:spcAft>
              <a:defRPr sz="2000">
                <a:solidFill>
                  <a:srgbClr val="FFFFFF"/>
                </a:solidFill>
              </a:defRPr>
            </a:pPr>
            <a:r>
              <a:t>Consoles: NoVNC is convenient (browser-based), SPICE is powerful (requires client).</a:t>
            </a:r>
          </a:p>
          <a:p>
            <a:pPr>
              <a:spcBef>
                <a:spcPts val="800"/>
              </a:spcBef>
              <a:spcAft>
                <a:spcPts val="800"/>
              </a:spcAft>
              <a:defRPr sz="2000">
                <a:solidFill>
                  <a:srgbClr val="FFFFFF"/>
                </a:solidFill>
              </a:defRPr>
            </a:pPr>
            <a:r>
              <a:t>Why should you delete a Linked Clone if you delete the Parent?</a:t>
            </a:r>
          </a:p>
          <a:p>
            <a:pPr>
              <a:spcBef>
                <a:spcPts val="800"/>
              </a:spcBef>
              <a:spcAft>
                <a:spcPts val="800"/>
              </a:spcAft>
              <a:defRPr sz="2000">
                <a:solidFill>
                  <a:srgbClr val="FFFFFF"/>
                </a:solidFill>
              </a:defRPr>
            </a:pPr>
            <a:r>
              <a:t>Does a snapshot consume disk space? If so, when?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3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Proxmox VE: Live Snapshots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4. Summary and Next Steps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Preparing for Week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Can you explain what happens during a "VM Exit"?</a:t>
            </a:r>
          </a:p>
          <a:p>
            <a:pPr>
              <a:spcBef>
                <a:spcPts val="800"/>
              </a:spcBef>
              <a:spcAft>
                <a:spcPts val="800"/>
              </a:spcAft>
              <a:defRPr sz="2000">
                <a:solidFill>
                  <a:srgbClr val="FFFFFF"/>
                </a:solidFill>
              </a:defRPr>
            </a:pPr>
            <a:r>
              <a:t>Do you understand why a vCPU is treated like a Chrome tab by the scheduler?</a:t>
            </a:r>
          </a:p>
          <a:p>
            <a:pPr>
              <a:spcBef>
                <a:spcPts val="800"/>
              </a:spcBef>
              <a:spcAft>
                <a:spcPts val="800"/>
              </a:spcAft>
              <a:defRPr sz="2000">
                <a:solidFill>
                  <a:srgbClr val="FFFFFF"/>
                </a:solidFill>
              </a:defRPr>
            </a:pPr>
            <a:r>
              <a:t>Have you successfully SSH'd into your new Ubuntu Server?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5. Lab Exercises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Summary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