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Fundamental Difference (Part 1)</a:t>
            </a:r>
          </a:p>
          <a:p/>
          <a:p>
            <a:r>
              <a:t>Key Points:</a:t>
            </a:r>
          </a:p>
          <a:p>
            <a:r>
              <a:t>1. Proxmox VE is built for the "Pet" philosophy.</a:t>
            </a:r>
          </a:p>
          <a:p>
            <a:r>
              <a:t>2. In this model, each server is unique, important, and manually cared for.</a:t>
            </a:r>
          </a:p>
          <a:p>
            <a:r>
              <a:t>3. If a "Pet" server gets sick (fails), the administrator rushes to nurse it back to health.</a:t>
            </a:r>
          </a:p>
          <a:p>
            <a:r>
              <a:t>4. This approach implies vertical scaling (making the VM bigger) and is ideal for workloads that require manual fine-tuning and persistence.</a:t>
            </a:r>
          </a:p>
          <a:p>
            <a:r>
              <a:t>5. OpenStack, in contrast, is built for the "Cattle" philosophy.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Fundamental Difference (Part 2)</a:t>
            </a:r>
          </a:p>
          <a:p/>
          <a:p>
            <a:r>
              <a:t>Key Points:</a:t>
            </a:r>
          </a:p>
          <a:p>
            <a:r>
              <a:t>1. In this model, servers are disposable resources mass-produced in a factory.</a:t>
            </a:r>
          </a:p>
          <a:p>
            <a:r>
              <a:t>2. They are given numbers, not names.</a:t>
            </a:r>
          </a:p>
          <a:p>
            <a:r>
              <a:t>3. If a "Cattle" server gets sick, it is replaced, not fixed.</a:t>
            </a:r>
          </a:p>
          <a:p>
            <a:r>
              <a:t>4. This approach relies on horizontal scaling (adding more VMs) and is designed for developers who consume infrastructure via APIs.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Enterprise Deployment Scenarios (Part 1)</a:t>
            </a:r>
          </a:p>
          <a:p/>
          <a:p>
            <a:r>
              <a:t>Key Points:</a:t>
            </a:r>
          </a:p>
          <a:p>
            <a:r>
              <a:t>1. Proxmox in the Enterprise is typically found in Small-to-Medium Enterprises (SMEs) or specific branch offices.</a:t>
            </a:r>
          </a:p>
          <a:p>
            <a:r>
              <a:t>2. It excels at hosting "static" workloads that do not change often, such as File Servers, Print Servers, Legacy ERP systems, and Domain Controllers.</a:t>
            </a:r>
          </a:p>
          <a:p>
            <a:r>
              <a:t>3. IT Managers choose Proxmox because it is lightweight, easy to maintain, and requires less hardware overhead than a full cloud stack.</a:t>
            </a:r>
          </a:p>
          <a:p>
            <a:r>
              <a:t>4. OpenStack in the Enterprise is the domain of Large Enterprises, Telecommunications providers, and Research Institutes.</a:t>
            </a:r>
          </a:p>
          <a:p>
            <a:r>
              <a:t>5. It is designed for "dynamic" workloads where infrastructure needs to scale up and down automatically to match demand, such as web applications, CI/CD build pipelines, and big data clusters.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Enterprise Deployment Scenarios (Part 2)</a:t>
            </a:r>
          </a:p>
          <a:p/>
          <a:p>
            <a:r>
              <a:t>Key Points:</a:t>
            </a:r>
          </a:p>
          <a:p>
            <a:r>
              <a:t>1. Organizations choose OpenStack when they need to provide an "AWS-like" self-service experience to their internal teams while strictly maintaining Data Sovereignty within their own private data centers.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Service Models (The Pizza Analogy) (Part 1)</a:t>
            </a:r>
          </a:p>
          <a:p/>
          <a:p>
            <a:r>
              <a:t>Key Points:</a:t>
            </a:r>
          </a:p>
          <a:p>
            <a:r>
              <a:t>1. Infrastructure as a Service - IaaS (Take &amp; Bake Pizza) gives you the "Kitchen" but you bring the "Pizza." The provider manages the physical hardware (Networking, Storage, Servers, Virtualization).</a:t>
            </a:r>
          </a:p>
          <a:p>
            <a:r>
              <a:t>2. You rent the Virtual Machine and are responsible for installing the Operating System, patching it, and running your application.</a:t>
            </a:r>
          </a:p>
          <a:p>
            <a:r>
              <a:t>3. This is the model OpenStack provides.</a:t>
            </a:r>
          </a:p>
          <a:p>
            <a:r>
              <a:t>4. Platform as a Service - PaaS (Pizza Delivery) handles almost everything.</a:t>
            </a:r>
          </a:p>
          <a:p>
            <a:r>
              <a:t>5. The provider manages the hardware and the Operating System runtime.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Service Models (The Pizza Analogy) (Part 2)</a:t>
            </a:r>
          </a:p>
          <a:p/>
          <a:p>
            <a:r>
              <a:t>Key Points:</a:t>
            </a:r>
          </a:p>
          <a:p>
            <a:r>
              <a:t>1. You simply provide the code (the "Order") and they deliver the running application.</a:t>
            </a:r>
          </a:p>
          <a:p>
            <a:r>
              <a:t>2. You don't worry about Windows updates or Linux kernels; you focus solely on development.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Service Models Expanded (Part 1)</a:t>
            </a:r>
          </a:p>
          <a:p/>
          <a:p>
            <a:r>
              <a:t>Key Points:</a:t>
            </a:r>
          </a:p>
          <a:p>
            <a:r>
              <a:t>1. Infrastructure as a Service (IaaS) represents the foundational layer of cloud computing.</a:t>
            </a:r>
          </a:p>
          <a:p>
            <a:r>
              <a:t>2. In this model, the cloud provider supplies the raw compute power, storage, and networking hardware, effectively serving as a virtual data center.</a:t>
            </a:r>
          </a:p>
          <a:p>
            <a:r>
              <a:t>3. As a consumer, you retain the highest level of control but also bear the greatest responsibility.</a:t>
            </a:r>
          </a:p>
          <a:p>
            <a:r>
              <a:t>4. You are tasked with installing the operating system, patching the kernel, configuring firewalls, and managing all middleware and runtime environments.</a:t>
            </a:r>
          </a:p>
          <a:p>
            <a:r>
              <a:t>5. It offers the flexibility to run almost any workload but requires significant administrative overhead.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Service Models Expanded (Part 2)</a:t>
            </a:r>
          </a:p>
          <a:p/>
          <a:p>
            <a:r>
              <a:t>Key Points:</a:t>
            </a:r>
          </a:p>
          <a:p>
            <a:r>
              <a:t>1. Platform as a Service (PaaS) abstracts the underlying infrastructure to provide a streamlined environment specifically for developers.</a:t>
            </a:r>
          </a:p>
          <a:p>
            <a:r>
              <a:t>2. The provider manages the servers, storage, networking, operating system, and middleware, allowing developers to focus solely on writing and deploying code.</a:t>
            </a:r>
          </a:p>
          <a:p>
            <a:r>
              <a:t>3. This model significantly increases convenience and speed of deployment but sacrifices granular control over the environment.</a:t>
            </a:r>
          </a:p>
          <a:p>
            <a:r>
              <a:t>4. If your application requires a custom kernel module or specific OS tweak, PaaS may be too restrictive.</a:t>
            </a:r>
          </a:p>
          <a:p>
            <a:r>
              <a:t>5. Common examples include Heroku, Google App Engine, and AWS Lambda.</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Service Models Expanded (Part 3)</a:t>
            </a:r>
          </a:p>
          <a:p/>
          <a:p>
            <a:r>
              <a:t>Key Points:</a:t>
            </a:r>
          </a:p>
          <a:p>
            <a:r>
              <a:t>1. Software as a Service (SaaS) delivers fully functional applications directly to the end-user over the internet.</a:t>
            </a:r>
          </a:p>
          <a:p>
            <a:r>
              <a:t>2. In this model, the consumer has zero visibility or control over the underlying infrastructure or platform.</a:t>
            </a:r>
          </a:p>
          <a:p>
            <a:r>
              <a:t>3. The provider manages everything from the hardware to the application code itself, ensuring high availability and security.</a:t>
            </a:r>
          </a:p>
          <a:p>
            <a:r>
              <a:t>4. This model creates maximum convenience for users who simply need a tool to perform a task, such as email or document collaboration.</a:t>
            </a:r>
          </a:p>
          <a:p>
            <a:r>
              <a:t>5. Examples include Gmail, Salesforce, and Microsoft 365.</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Common Cloud Providers (Part 1)</a:t>
            </a:r>
          </a:p>
          <a:p/>
          <a:p>
            <a:r>
              <a:t>Key Points:</a:t>
            </a:r>
          </a:p>
          <a:p>
            <a:r>
              <a:t>1. Amazon Web Services (AWS) is the pioneer and current market leader in public cloud computing.</a:t>
            </a:r>
          </a:p>
          <a:p>
            <a:r>
              <a:t>2. It offers the most extensive catalog of services, numbering over 200 distinct products.</a:t>
            </a:r>
          </a:p>
          <a:p>
            <a:r>
              <a:t>3. AWS is often the default choice for startups and enterprises seeking a "one-stop-shop" for everything from simple compute to complex machine learning and satellite ground stations.</a:t>
            </a:r>
          </a:p>
          <a:p>
            <a:r>
              <a:t>4. Its maturity and breadth making it a safe, albeit complex, choice for general-purpose cloud computing.</a:t>
            </a:r>
          </a:p>
          <a:p>
            <a:r>
              <a:t>5. Microsoft Azure dominates the enterprise sector, particularly among organizations already invested in the Microsoft ecosystem.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Common Cloud Providers (Part 2)</a:t>
            </a:r>
          </a:p>
          <a:p/>
          <a:p>
            <a:r>
              <a:t>Key Points:</a:t>
            </a:r>
          </a:p>
          <a:p>
            <a:r>
              <a:t>1. Its primary strength lies in its seamless integration with Windows Server, Active Directory, and Microsoft 365.</a:t>
            </a:r>
          </a:p>
          <a:p>
            <a:r>
              <a:t>2. For companies running .NET applications or requiring hybrid cloud setups that extend their on-premise Active Directory to the cloud, Azure offers the path of least resistance.</a:t>
            </a:r>
          </a:p>
          <a:p>
            <a:r>
              <a:t>3. Google Cloud Platform (GCP) differentiates itself through engineering excellence in data analytics, artificial intelligence, and container orchestration.</a:t>
            </a:r>
          </a:p>
          <a:p>
            <a:r>
              <a:t>4. Having invented Kubernetes, Google makes GCP the premier environment for container-native applications and microservices.</a:t>
            </a:r>
          </a:p>
          <a:p>
            <a:r>
              <a:t>5. It is frequently chosen by organizations heavily focused on big data processing and machine learning workflows.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Common Cloud Providers (Part 3)</a:t>
            </a:r>
          </a:p>
          <a:p/>
          <a:p>
            <a:r>
              <a:t>Key Points:</a:t>
            </a:r>
          </a:p>
          <a:p>
            <a:r>
              <a:t>1. OpenStack stands apart as the de facto standard for Private Cloud infrastructure.</a:t>
            </a:r>
          </a:p>
          <a:p>
            <a:r>
              <a:t>2. Unlike the hyperscalers where you rent space on someone else's computer, OpenStack allows you to build the cloud in your own data center.</a:t>
            </a:r>
          </a:p>
          <a:p>
            <a:r>
              <a:t>3. This is the preferred choice for telecommunications providers, governments, and research institutes (like CERN) who require absolute control over their data sovereignty, or who operate at such a massive scale that renting public cloud resources becomes cost-prohibitive.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Cloud Deployment Models (Part 1)</a:t>
            </a:r>
          </a:p>
          <a:p/>
          <a:p>
            <a:r>
              <a:t>Key Points:</a:t>
            </a:r>
          </a:p>
          <a:p>
            <a:r>
              <a:t>1. Public Cloud is the most common model, where resources are owned and operated by a third-party provider (like AWS or Azure) and shared across millions of customers via the public internet.</a:t>
            </a:r>
          </a:p>
          <a:p>
            <a:r>
              <a:t>2. It offers the highest level of efficiency and elasticity but requires trusting the provider with your data and accepting a multi-tenant environment where your "neighbor" could be anyone.</a:t>
            </a:r>
          </a:p>
          <a:p>
            <a:r>
              <a:t>3. It is ideal for startups, web hosting, and highly variable workloads that need to scale instantly.</a:t>
            </a:r>
          </a:p>
          <a:p>
            <a:r>
              <a:t>4. Private Cloud is infrastructure provisioned for the exclusive use of a single organization.</a:t>
            </a:r>
          </a:p>
          <a:p>
            <a:r>
              <a:t>5. It can be hosted on-premise (in your own building) or by a third-party, but the hardware is strictly dedicated and never shared with other customers.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Cloud Deployment Models (Part 2)</a:t>
            </a:r>
          </a:p>
          <a:p/>
          <a:p>
            <a:r>
              <a:t>Key Points:</a:t>
            </a:r>
          </a:p>
          <a:p>
            <a:r>
              <a:t>1. This model offers maximum control, security, and performance customization, making it the non-negotiable choice for banks, governments, and regulated industries.</a:t>
            </a:r>
          </a:p>
          <a:p>
            <a:r>
              <a:t>2. OpenStack is the global standard for building these Private Clouds.</a:t>
            </a:r>
          </a:p>
          <a:p>
            <a:r>
              <a:t>3. Hybrid Cloud represents the best of both worlds, combining Public and Private clouds bound together by technology that allows data and applications to be shared between them.</a:t>
            </a:r>
          </a:p>
          <a:p>
            <a:r>
              <a:t>4. A typical enterprise use case involves keeping sensitive customer databases "on-premise" in a Private Cloud for strict security compliance, while running web-server frontends in a Public Cloud to take advantage of infinite scaling during traffic spikes (a technique known as Cloud Bursting).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Cloud Structure: Regions and Zones (Part 1)</a:t>
            </a:r>
          </a:p>
          <a:p/>
          <a:p>
            <a:r>
              <a:t>Key Points:</a:t>
            </a:r>
          </a:p>
          <a:p>
            <a:r>
              <a:t>1. A Region is a specific geographical location (e.g., "US-East", "Europe-West", "Africa-South") that contains a cluster of data centers.</a:t>
            </a:r>
          </a:p>
          <a:p>
            <a:r>
              <a:t>2. Each region is completely independent; if the US-East region loses power or suffers a natural disaster, the Europe-West region remains unaffected.</a:t>
            </a:r>
          </a:p>
          <a:p>
            <a:r>
              <a:t>3. Data compliance laws (such as GDPR or POPI) often dictate exactly which Region you must store your user data in to remain within legal jurisdictions.</a:t>
            </a:r>
          </a:p>
          <a:p>
            <a:r>
              <a:t>4. An Availability Zone (AZ) is an isolated location within a Region.</a:t>
            </a:r>
          </a:p>
          <a:p>
            <a:r>
              <a:t>5. Think of an AZ as a separate physical building (or cluster of buildings) with its own independent power grids, cooling systems, and networking infrastructure.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Cloud Structure: Regions and Zones (Part 2)</a:t>
            </a:r>
          </a:p>
          <a:p/>
          <a:p>
            <a:r>
              <a:t>Key Points:</a:t>
            </a:r>
          </a:p>
          <a:p>
            <a:r>
              <a:t>1. A Region is typically made up of multiple AZs (usually 3 or more).</a:t>
            </a:r>
          </a:p>
          <a:p>
            <a:r>
              <a:t>2. To achieve High Availability, cloud architects deploy applications across multiple AZs.</a:t>
            </a:r>
          </a:p>
          <a:p>
            <a:r>
              <a:t>3. If "Building A" burns down, "Building B" continues to run the application without interruption.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The Four Pillars of Cloud Infrastructure</a:t>
            </a:r>
          </a:p>
          <a:p/>
          <a:p>
            <a:r>
              <a:t>Key Points:</a:t>
            </a:r>
          </a:p>
          <a:p>
            <a:r>
              <a:t>1. Security in the cloud shifts from physical perimeter defense (locks and guards) to identity-based and software-defined security.</a:t>
            </a:r>
          </a:p>
          <a:p>
            <a:r>
              <a:t>2. Security Groups act as virtual distributed firewalls applied directly to each instance, controlling inbound and outbound traffic at the packet level regardless of network topology.</a:t>
            </a:r>
          </a:p>
          <a:p>
            <a:r>
              <a:t>3. Identity and Access Management (IAM) acts as the central directory, strictly controlling who (users/services) can perform what actions (permissions) on which specific 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The Shared Responsibility Model</a:t>
            </a:r>
          </a:p>
          <a:p/>
          <a:p>
            <a:r>
              <a:t>Key Points:</a:t>
            </a:r>
          </a:p>
          <a:p>
            <a:r>
              <a:t>1. In an On-Premise environment, you are responsible for everything from the physical door lock to the user's password.</a:t>
            </a:r>
          </a:p>
          <a:p>
            <a:r>
              <a:t>2. In an IaaS model (like OpenStack), the Provider secures the physical data center, network hardware, and hypervisor.</a:t>
            </a:r>
          </a:p>
          <a:p>
            <a:r>
              <a:t>3. You, the Customer, are responsible for securing the Guest OS, applications, data, and firewall configurations.</a:t>
            </a:r>
          </a:p>
          <a:p>
            <a:r>
              <a:t>4. As you move up the stack to PaaS and SaaS, the Provider takes on more responsibility (like patching the OS), but you are always responsible for your Data and Identity (User Accounts).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Cloud Economics: CapEx vs. OpEx (Part 1)</a:t>
            </a:r>
          </a:p>
          <a:p/>
          <a:p>
            <a:r>
              <a:t>Key Points:</a:t>
            </a:r>
          </a:p>
          <a:p>
            <a:r>
              <a:t>1. Capital Expenditure (CapEx) is the traditional model where you spend a large amount of money upfront to buy physical servers, storage arrays, and network switches.</a:t>
            </a:r>
          </a:p>
          <a:p>
            <a:r>
              <a:t>2. This is an "Investment" that depreciates over 3-5 years.</a:t>
            </a:r>
          </a:p>
          <a:p>
            <a:r>
              <a:t>3. You pay for the maximum capacity you might need, which often leads to underutilization.</a:t>
            </a:r>
          </a:p>
          <a:p>
            <a:r>
              <a:t>4. Operational Expenditure (OpEx) is the cloud model where you pay for services as you use them (Pay-as-you-Go).</a:t>
            </a:r>
          </a:p>
          <a:p>
            <a:r>
              <a:t>5. There is no upfront cost.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Cloud Economics: CapEx vs. OpEx (Part 2)</a:t>
            </a:r>
          </a:p>
          <a:p/>
          <a:p>
            <a:r>
              <a:t>Key Points:</a:t>
            </a:r>
          </a:p>
          <a:p>
            <a:r>
              <a:t>1. This aligns spending with actual usage.</a:t>
            </a:r>
          </a:p>
          <a:p>
            <a:r>
              <a:t>2. If you shut down your VMs at night, you stop paying.</a:t>
            </a:r>
          </a:p>
          <a:p>
            <a:r>
              <a:t>3. This shifts IT spending from a "Fixed Cost" to a "Variable Cost," allowing businesses to be more agile.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Scalability vs. Elasticity (Part 1)</a:t>
            </a:r>
          </a:p>
          <a:p/>
          <a:p>
            <a:r>
              <a:t>Key Points:</a:t>
            </a:r>
          </a:p>
          <a:p>
            <a:r>
              <a:t>1. Scalability is the strategic ability of a system to handle projected growth over time.</a:t>
            </a:r>
          </a:p>
          <a:p>
            <a:r>
              <a:t>2. A scalable system typically involves human intervention to upgrade capacity.</a:t>
            </a:r>
          </a:p>
          <a:p>
            <a:r>
              <a:t>3. This can be achieved through Vertical Scaling (scaling up by adding more RAM/CPU to a single server) or Horizontal Scaling (scaling out by adding more servers to a cluster).</a:t>
            </a:r>
          </a:p>
          <a:p>
            <a:r>
              <a:t>4. It effectively answers the question: "Can we get bigger if the company grows?"</a:t>
            </a:r>
          </a:p>
          <a:p>
            <a:r>
              <a:t>5. Elasticity is the tactical ability to scale resources automatically in real-time response to demand, in both directions.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Scalability vs. Elasticity (Part 2)</a:t>
            </a:r>
          </a:p>
          <a:p/>
          <a:p>
            <a:r>
              <a:t>Key Points:</a:t>
            </a:r>
          </a:p>
          <a:p>
            <a:r>
              <a:t>1. An elastic system adds servers when traffic spikes (e.g., during a Black Friday sale) and removes them when traffic drops (at 3 AM), maintaining performance while optimizing cost.</a:t>
            </a:r>
          </a:p>
          <a:p>
            <a:r>
              <a:t>2. It answers the question: "Can the system resize itself right now without human help?"</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Migration Strategies (The 6 Rs) (Part 1)</a:t>
            </a:r>
          </a:p>
          <a:p/>
          <a:p>
            <a:r>
              <a:t>Key Points:</a:t>
            </a:r>
          </a:p>
          <a:p>
            <a:r>
              <a:t>1. 1.</a:t>
            </a:r>
          </a:p>
          <a:p>
            <a:r>
              <a:t>2. Rehost ("Lift and Shift")</a:t>
            </a:r>
          </a:p>
          <a:p>
            <a:r>
              <a:t>This is the fastest and lowest-risk strategy.</a:t>
            </a:r>
          </a:p>
          <a:p>
            <a:r>
              <a:t>3. It involves moving an application from on-premise to the cloud without making any changes to its underlying architecture.</a:t>
            </a:r>
          </a:p>
          <a:p>
            <a:r>
              <a:t>4. For example, exporting a virtual machine from VMware and importing it directly into OpenStack.</a:t>
            </a:r>
          </a:p>
          <a:p>
            <a:r>
              <a:t>5. While quick, this method typically fails to realize the long-term benefits of the cloud, such as auto-scaling and elasticity, because the application still thinks it is running on a static server.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Migration Strategies (The 6 Rs) (Part 2)</a:t>
            </a:r>
          </a:p>
          <a:p/>
          <a:p>
            <a:r>
              <a:t>Key Points:</a:t>
            </a:r>
          </a:p>
          <a:p>
            <a:r>
              <a:t>1. 2.</a:t>
            </a:r>
          </a:p>
          <a:p>
            <a:r>
              <a:t>2. Replatform ("Lift, Tweak, and Shift")</a:t>
            </a:r>
          </a:p>
          <a:p>
            <a:r>
              <a:t>This strategy involves making small optimizations to the application to run more efficiently in the cloud without rewriting the core code.</a:t>
            </a:r>
          </a:p>
          <a:p>
            <a:r>
              <a:t>3. A common example is migrating a local MySQL database to a managed SQL service (PaaS) or containerizing a legacy application to run on Kubernetes.</a:t>
            </a:r>
          </a:p>
          <a:p>
            <a:r>
              <a:t>4. This offers a middle ground, providing some cloud benefits without the heavy cost of a full rewrite.</a:t>
            </a:r>
          </a:p>
          <a:p>
            <a:r>
              <a:t>5. 3.</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Migration Strategies (The 6 Rs) (Part 3)</a:t>
            </a:r>
          </a:p>
          <a:p/>
          <a:p>
            <a:r>
              <a:t>Key Points:</a:t>
            </a:r>
          </a:p>
          <a:p>
            <a:r>
              <a:t>1. Refactor (Re-architect)</a:t>
            </a:r>
          </a:p>
          <a:p>
            <a:r>
              <a:t>Refactoring is the most expensive but most rewarding strategy.</a:t>
            </a:r>
          </a:p>
          <a:p>
            <a:r>
              <a:t>2. It involves rewriting the application from scratch to be "Cloud Native." For instance, breaking a monolithic Java application into dozens of Python microservices that communicate via APIs.</a:t>
            </a:r>
          </a:p>
          <a:p>
            <a:r>
              <a:t>3. This allows the application to scale infinitely and heal itself, fully unlocking the power of the cloud.</a:t>
            </a:r>
          </a:p>
          <a:p>
            <a:r>
              <a:t>4. 4.</a:t>
            </a:r>
          </a:p>
          <a:p>
            <a:r>
              <a:t>5. Repurchase ("Drop and Shop")</a:t>
            </a:r>
          </a:p>
          <a:p>
            <a:r>
              <a:t>This involves abandoning the legacy application entirely and moving to a commercial SaaS solution.</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Migration Strategies (The 6 Rs) (Part 4)</a:t>
            </a:r>
          </a:p>
          <a:p/>
          <a:p>
            <a:r>
              <a:t>Key Points:</a:t>
            </a:r>
          </a:p>
          <a:p>
            <a:r>
              <a:t>1. A classic example is decommissioning an on-premise Microsoft Exchange Server and migrating all users to Microsoft 365.</a:t>
            </a:r>
          </a:p>
          <a:p>
            <a:r>
              <a:t>2. Further examples include moving logical CRM systems to Salesforce.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1)</a:t>
            </a:r>
          </a:p>
          <a:p/>
          <a:p>
            <a:r>
              <a:t>Key Points:</a:t>
            </a:r>
          </a:p>
          <a:p>
            <a:r>
              <a:t>1. NIST Cloud Definition: Self-Service, Broad Access, Pooling, Elasticity, Measured.</a:t>
            </a:r>
          </a:p>
          <a:p>
            <a:r>
              <a:t>2. Service Models: IaaS (Rent Hardware), PaaS (Rent Platform), SaaS (Rent App).</a:t>
            </a:r>
          </a:p>
          <a:p>
            <a:r>
              <a:t>3. Deployment: Public (Shared), Private (Dedicated), Hybrid (Mixed).</a:t>
            </a:r>
          </a:p>
          <a:p>
            <a:r>
              <a:t>4. Shared Responsibility: You are always responsible for Data and Identity.</a:t>
            </a:r>
          </a:p>
          <a:p>
            <a:r>
              <a:t>5. Economics: Shift from CapEx (Investment) to OpEx (Consumption).</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2)</a:t>
            </a:r>
          </a:p>
          <a:p/>
          <a:p>
            <a:r>
              <a:t>Key Points:</a:t>
            </a:r>
          </a:p>
          <a:p>
            <a:r>
              <a:t>1. Dynamics: Scalability (Growth) vs Elasticity (Auto-sizing).</a:t>
            </a:r>
          </a:p>
          <a:p>
            <a:r>
              <a:t>2. Migration: Rehost (Fastest) vs Refactor (Best Long-term).</a:t>
            </a:r>
          </a:p>
          <a:p>
            <a:r>
              <a:t>3. In a SaaS model (like Gmail), who is responsible if you share a confidential file with the wrong person? (Hint: Shared Responsibility).</a:t>
            </a:r>
          </a:p>
          <a:p>
            <a:r>
              <a:t>4. Why does the CFO (Chief Financial Officer) prefer OpEx over CapEx for a risky new startup?</a:t>
            </a:r>
          </a:p>
          <a:p>
            <a:r>
              <a:t>5. Can a system be Scalable but not Elastic? Give an example.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3)</a:t>
            </a:r>
          </a:p>
          <a:p/>
          <a:p>
            <a:r>
              <a:t>Key Points:</a:t>
            </a:r>
          </a:p>
          <a:p>
            <a:r>
              <a:t>1. Which migration strategy would you use for a 20-year-old Legacy ERP system that nobody knows how to modify? (Hint: Lift and Shift).</a:t>
            </a:r>
          </a:p>
          <a:p>
            <a:r>
              <a:t>2. NIST Cloud Computing Definition (PDF)</a:t>
            </a:r>
          </a:p>
          <a:p>
            <a:r>
              <a:t>3. Book: CompTIA Cloud+ Certification Study Guide (Exam CV0-003) - Ben Piper.</a:t>
            </a:r>
          </a:p>
          <a:p>
            <a:r>
              <a:t>4. Whitepaper: AWS "6 Strategies for Migrating Applications"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"Core" Services (Remember these Names!) (Part 1)</a:t>
            </a:r>
          </a:p>
          <a:p/>
          <a:p>
            <a:r>
              <a:t>Key Points:</a:t>
            </a:r>
          </a:p>
          <a:p>
            <a:r>
              <a:t>1. OpenStack can be overwhelming because it consists of dozens of projects.</a:t>
            </a:r>
          </a:p>
          <a:p>
            <a:r>
              <a:t>2. However, a functional cloud only requires a handful of core services to operate.</a:t>
            </a:r>
          </a:p>
          <a:p>
            <a:r>
              <a:t>3. These "Big 5" services form the foundation of almost every deployment, handling computation, networking, identity, storage images, and the user interface.</a:t>
            </a:r>
          </a:p>
          <a:p>
            <a:r>
              <a:t>4. Nova is the heart of OpenStack.</a:t>
            </a:r>
          </a:p>
          <a:p>
            <a:r>
              <a:t>5. It is responsible for the entire lifecycle of a Virtual Machine (Instance), from spawning to termination.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"Core" Services (Remember these Names!) (Part 2)</a:t>
            </a:r>
          </a:p>
          <a:p/>
          <a:p>
            <a:r>
              <a:t>Key Points:</a:t>
            </a:r>
          </a:p>
          <a:p>
            <a:r>
              <a:t>1. It is not a single binary but a distributed system.</a:t>
            </a:r>
          </a:p>
          <a:p>
            <a:r>
              <a:t>2. The nova-api accepts requests, the nova-scheduler uses complex filters (like RamFilter) to decide which physical server is best suited for the VM, and nova-compute talks to the underlying hypervisor (KVM) to actually run the process.</a:t>
            </a:r>
          </a:p>
          <a:p>
            <a:r>
              <a:t>3. Neutron is the "Plumber" of the cloud.</a:t>
            </a:r>
          </a:p>
          <a:p>
            <a:r>
              <a:t>4. It manages "Software Defined Networking" (SDN).</a:t>
            </a:r>
          </a:p>
          <a:p>
            <a:r>
              <a:t>5. It uses the ML2 Plugin (Modular Layer 2) to talk to different backend technologies, such as Open vSwitch or Linux Bridge.</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"Core" Services (Remember these Names!) (Part 3)</a:t>
            </a:r>
          </a:p>
          <a:p/>
          <a:p>
            <a:r>
              <a:t>Key Points:</a:t>
            </a:r>
          </a:p>
          <a:p>
            <a:r>
              <a:t>1. It employs an L3 Agent to handle virtual routing and floating IPs, and a DHCP Agent to automatically assign IP addresses to instances via dnsmasq.</a:t>
            </a:r>
          </a:p>
          <a:p>
            <a:r>
              <a:t>2. Keystone is the "Bouncer." It provides a single point of integration for securing the cloud.</a:t>
            </a:r>
          </a:p>
          <a:p>
            <a:r>
              <a:t>3. It maintains the Service Catalog (a registry of where all other APIs live) and issues Fernet Tokens—lightweight, encrypted keys—that users and services present to authenticate themselves for every single action.</a:t>
            </a:r>
          </a:p>
          <a:p>
            <a:r>
              <a:t>4. Glance is the "Librarian." It stores and retrieves virtual machine disk images.</a:t>
            </a:r>
          </a:p>
          <a:p>
            <a:r>
              <a:t>5. When you want to launch an "Ubuntu 22.04" server, Nova asks Glance to provide the image file.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"Core" Services (Remember these Names!) (Part 4)</a:t>
            </a:r>
          </a:p>
          <a:p/>
          <a:p>
            <a:r>
              <a:t>Key Points:</a:t>
            </a:r>
          </a:p>
          <a:p>
            <a:r>
              <a:t>1. Glance can store these images on a local hard drive, or more commonly, in an enterprise Object Storage system like Ceph, ensuring that your "golden master" images remain immutable and secure.</a:t>
            </a:r>
          </a:p>
          <a:p>
            <a:r>
              <a:t>2. Horizon is the "Face" of OpenStack.</a:t>
            </a:r>
          </a:p>
          <a:p>
            <a:r>
              <a:t>3. It provides a web-based graphical user interface (GUI) that allows users to launch instances, configure networks, and managed storage without typing a single command.</a:t>
            </a:r>
          </a:p>
          <a:p>
            <a:r>
              <a:t>4. Under the hood, Horizon is simply a Python Django web application that translates user clicks into API calls sent to Nova, Neutron, and Keystone.</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How they work together: A Day in the Life of a Request (Part 1)</a:t>
            </a:r>
          </a:p>
          <a:p/>
          <a:p>
            <a:r>
              <a:t>Key Points:</a:t>
            </a:r>
          </a:p>
          <a:p>
            <a:r>
              <a:t>1. Step 1: Authorization (Keystone)</a:t>
            </a:r>
          </a:p>
          <a:p>
            <a:r>
              <a:t>The user's request first goes to Keystone.</a:t>
            </a:r>
          </a:p>
          <a:p>
            <a:r>
              <a:t>2. It validates the user's Token and checks the Policy engine to ensure they have the specific permission (compute:create) required to launch an instance.</a:t>
            </a:r>
          </a:p>
          <a:p>
            <a:r>
              <a:t>3. If the token is expired or the user lacks the "Member" role, the request is rejected immediately with a 403 Forbidden error, protecting the cloud resources from unauthorized access.</a:t>
            </a:r>
          </a:p>
          <a:p>
            <a:r>
              <a:t>4. Step 2: Scheduling (Nova)</a:t>
            </a:r>
          </a:p>
          <a:p>
            <a:r>
              <a:t>Once authorized, the request is passed to nova-api.</a:t>
            </a:r>
          </a:p>
          <a:p>
            <a:r>
              <a:t>5. It asks the nova-scheduler: "Where should I put this VM?" The Scheduler analyzes the state of all available compute nodes using filters.</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How they work together: A Day in the Life of a Request (Part 2)</a:t>
            </a:r>
          </a:p>
          <a:p/>
          <a:p>
            <a:r>
              <a:t>Key Points:</a:t>
            </a:r>
          </a:p>
          <a:p>
            <a:r>
              <a:t>1. Data centers are heterogeneous, so the scheduler checks constraints: "Does this node have 4GB RAM free?" (RamFilter) and "Is this node currently alive?" (ComputeFilter).</a:t>
            </a:r>
          </a:p>
          <a:p>
            <a:r>
              <a:t>2. It then selects the mathematically optimal candidate (e.g., Compute-Node-05).</a:t>
            </a:r>
          </a:p>
          <a:p>
            <a:r>
              <a:t>3. Step 3: Network Provisioning (Neutron)</a:t>
            </a:r>
          </a:p>
          <a:p>
            <a:r>
              <a:t>Before starting the VM, Nova acts as a proxy and contacts Neutron.</a:t>
            </a:r>
          </a:p>
          <a:p>
            <a:r>
              <a:t>4. It requests a port on the specified network (e.g., private-net).</a:t>
            </a:r>
          </a:p>
          <a:p>
            <a:r>
              <a:t>5. Neutron creates a logical port entry in its database, assigns a MAC address (e.g., fa:16:3e...), and allocates an IP address (e.g., 192.168.1.15) via its IPAM driver.</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How they work together: A Day in the Life of a Request (Part 3)</a:t>
            </a:r>
          </a:p>
          <a:p/>
          <a:p>
            <a:r>
              <a:t>Key Points:</a:t>
            </a:r>
          </a:p>
          <a:p>
            <a:r>
              <a:t>1. Crucially, it creates this logical reservation before any hardware is touched.</a:t>
            </a:r>
          </a:p>
          <a:p>
            <a:r>
              <a:t>2. Step 4: Image Retrieval (Glance)</a:t>
            </a:r>
          </a:p>
          <a:p>
            <a:r>
              <a:t>The nova-compute service on the selected node (Compute-Node-05) receives the command to build.</a:t>
            </a:r>
          </a:p>
          <a:p>
            <a:r>
              <a:t>3. It checks its local image cache for the requested OS image (e.g., Ubuntu 22.04).</a:t>
            </a:r>
          </a:p>
          <a:p>
            <a:r>
              <a:t>4. If the image is missing, it contacts Glance to download it securely via an HTTP API.</a:t>
            </a:r>
          </a:p>
          <a:p>
            <a:r>
              <a:t>5. It then converts the image into a bootable volume, typically using a Copy-on-Write (CoW) backing file to save space and time.</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How they work together: A Day in the Life of a Request (Part 4)</a:t>
            </a:r>
          </a:p>
          <a:p/>
          <a:p>
            <a:r>
              <a:t>Key Points:</a:t>
            </a:r>
          </a:p>
          <a:p>
            <a:r>
              <a:t>1. Step 5: Wiring (The Final Assembly)</a:t>
            </a:r>
          </a:p>
          <a:p>
            <a:r>
              <a:t>Finally, nova-compute instructs the Hypervisor (KVM/Libvirt) to define the VM.</a:t>
            </a:r>
          </a:p>
          <a:p>
            <a:r>
              <a:t>2. Simultaneously, the Neutron L2 Agent on that node detects the new port data and programs the local virtual switch (Open vSwitch) to connect the VM's virtual network card to the physical network bridge.</a:t>
            </a:r>
          </a:p>
          <a:p>
            <a:r>
              <a:t>3. Only then does the VM start booting, drawing its IP address from the DHCP agent as it initializes.</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 (Part 1)</a:t>
            </a:r>
          </a:p>
          <a:p/>
          <a:p>
            <a:r>
              <a:t>Key Points:</a:t>
            </a:r>
          </a:p>
          <a:p>
            <a:r>
              <a:t>1. Nova: Compute (The Brain).</a:t>
            </a:r>
          </a:p>
          <a:p>
            <a:r>
              <a:t>2. Neutron: Networking (The Plumber).</a:t>
            </a:r>
          </a:p>
          <a:p>
            <a:r>
              <a:t>3. Keystone: Identity/Auth (The Bouncer).</a:t>
            </a:r>
          </a:p>
          <a:p>
            <a:r>
              <a:t>4. Glance: Image Storage (The Librarian).</a:t>
            </a:r>
          </a:p>
          <a:p>
            <a:r>
              <a:t>5. Horizon: Dashboard GUI (The Face).</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 (Part 2)</a:t>
            </a:r>
          </a:p>
          <a:p/>
          <a:p>
            <a:r>
              <a:t>Key Points:</a:t>
            </a:r>
          </a:p>
          <a:p>
            <a:r>
              <a:t>1. If Keystone goes down, can you still log in to Horizon?</a:t>
            </a:r>
          </a:p>
          <a:p>
            <a:r>
              <a:t>2. Why does Nova need to talk to Glance before starting a VM?</a:t>
            </a:r>
          </a:p>
          <a:p>
            <a:r>
              <a:t>3. OpenStack Components Map</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7</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Transition to Cloud Computing Concepts</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Week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Core Comparison: Proxmox vs. OpenStack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 The Fundamental Difference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VE is built for the "Pet" philosophy.</a:t>
            </a:r>
          </a:p>
          <a:p>
            <a:pPr>
              <a:spcBef>
                <a:spcPts val="800"/>
              </a:spcBef>
              <a:spcAft>
                <a:spcPts val="800"/>
              </a:spcAft>
              <a:defRPr sz="2000">
                <a:solidFill>
                  <a:srgbClr val="FFFFFF"/>
                </a:solidFill>
              </a:defRPr>
            </a:pPr>
            <a:r>
              <a:t>In this model, each server is unique, important, and manually cared for.</a:t>
            </a:r>
          </a:p>
          <a:p>
            <a:pPr>
              <a:spcBef>
                <a:spcPts val="800"/>
              </a:spcBef>
              <a:spcAft>
                <a:spcPts val="800"/>
              </a:spcAft>
              <a:defRPr sz="2000">
                <a:solidFill>
                  <a:srgbClr val="FFFFFF"/>
                </a:solidFill>
              </a:defRPr>
            </a:pPr>
            <a:r>
              <a:t>If a "Pet" server gets sick (fails), the administrator rushes to nurse it back to health.</a:t>
            </a:r>
          </a:p>
          <a:p>
            <a:pPr>
              <a:spcBef>
                <a:spcPts val="800"/>
              </a:spcBef>
              <a:spcAft>
                <a:spcPts val="800"/>
              </a:spcAft>
              <a:defRPr sz="2000">
                <a:solidFill>
                  <a:srgbClr val="FFFFFF"/>
                </a:solidFill>
              </a:defRPr>
            </a:pPr>
            <a:r>
              <a:t>This approach implies vertical scaling (making the VM bigger) and is ideal for workloads that require manual fine-tuning and persistence.</a:t>
            </a:r>
          </a:p>
          <a:p>
            <a:pPr>
              <a:spcBef>
                <a:spcPts val="800"/>
              </a:spcBef>
              <a:spcAft>
                <a:spcPts val="800"/>
              </a:spcAft>
              <a:defRPr sz="2000">
                <a:solidFill>
                  <a:srgbClr val="FFFFFF"/>
                </a:solidFill>
              </a:defRPr>
            </a:pPr>
            <a:r>
              <a:t>OpenStack, in contrast, is built for the "Cattle" philosophy.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 The Fundamental Difference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this model, servers are disposable resources mass-produced in a factory.</a:t>
            </a:r>
          </a:p>
          <a:p>
            <a:pPr>
              <a:spcBef>
                <a:spcPts val="800"/>
              </a:spcBef>
              <a:spcAft>
                <a:spcPts val="800"/>
              </a:spcAft>
              <a:defRPr sz="2000">
                <a:solidFill>
                  <a:srgbClr val="FFFFFF"/>
                </a:solidFill>
              </a:defRPr>
            </a:pPr>
            <a:r>
              <a:t>They are given numbers, not names.</a:t>
            </a:r>
          </a:p>
          <a:p>
            <a:pPr>
              <a:spcBef>
                <a:spcPts val="800"/>
              </a:spcBef>
              <a:spcAft>
                <a:spcPts val="800"/>
              </a:spcAft>
              <a:defRPr sz="2000">
                <a:solidFill>
                  <a:srgbClr val="FFFFFF"/>
                </a:solidFill>
              </a:defRPr>
            </a:pPr>
            <a:r>
              <a:t>If a "Cattle" server gets sick, it is replaced, not fixed.</a:t>
            </a:r>
          </a:p>
          <a:p>
            <a:pPr>
              <a:spcBef>
                <a:spcPts val="800"/>
              </a:spcBef>
              <a:spcAft>
                <a:spcPts val="800"/>
              </a:spcAft>
              <a:defRPr sz="2000">
                <a:solidFill>
                  <a:srgbClr val="FFFFFF"/>
                </a:solidFill>
              </a:defRPr>
            </a:pPr>
            <a:r>
              <a:t>This approach relies on horizontal scaling (adding more VMs) and is designed for developers who consume infrastructure via APIs.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 Enterprise Deployment Scenarios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in the Enterprise is typically found in Small-to-Medium Enterprises (SMEs) or specific branch offices.</a:t>
            </a:r>
          </a:p>
          <a:p>
            <a:pPr>
              <a:spcBef>
                <a:spcPts val="800"/>
              </a:spcBef>
              <a:spcAft>
                <a:spcPts val="800"/>
              </a:spcAft>
              <a:defRPr sz="2000">
                <a:solidFill>
                  <a:srgbClr val="FFFFFF"/>
                </a:solidFill>
              </a:defRPr>
            </a:pPr>
            <a:r>
              <a:t>It excels at hosting "static" workloads that do not change often, such as File Servers, Print Servers, Legacy ERP systems, and Domain Controllers.</a:t>
            </a:r>
          </a:p>
          <a:p>
            <a:pPr>
              <a:spcBef>
                <a:spcPts val="800"/>
              </a:spcBef>
              <a:spcAft>
                <a:spcPts val="800"/>
              </a:spcAft>
              <a:defRPr sz="2000">
                <a:solidFill>
                  <a:srgbClr val="FFFFFF"/>
                </a:solidFill>
              </a:defRPr>
            </a:pPr>
            <a:r>
              <a:t>IT Managers choose Proxmox because it is lightweight, easy to maintain, and requires less hardware overhead than a full cloud stack.</a:t>
            </a:r>
          </a:p>
          <a:p>
            <a:pPr>
              <a:spcBef>
                <a:spcPts val="800"/>
              </a:spcBef>
              <a:spcAft>
                <a:spcPts val="800"/>
              </a:spcAft>
              <a:defRPr sz="2000">
                <a:solidFill>
                  <a:srgbClr val="FFFFFF"/>
                </a:solidFill>
              </a:defRPr>
            </a:pPr>
            <a:r>
              <a:t>OpenStack in the Enterprise is the domain of Large Enterprises, Telecommunications providers, and Research Institutes.</a:t>
            </a:r>
          </a:p>
          <a:p>
            <a:pPr>
              <a:spcBef>
                <a:spcPts val="800"/>
              </a:spcBef>
              <a:spcAft>
                <a:spcPts val="800"/>
              </a:spcAft>
              <a:defRPr sz="2000">
                <a:solidFill>
                  <a:srgbClr val="FFFFFF"/>
                </a:solidFill>
              </a:defRPr>
            </a:pPr>
            <a:r>
              <a:t>It is designed for "dynamic" workloads where infrastructure needs to scale up and down automatically to match demand, such as web applications, CI/CD build pipelines, and big data clusters.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 Enterprise Deployment Scenarios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Organizations choose OpenStack when they need to provide an "AWS-like" self-service experience to their internal teams while strictly maintaining Data Sovereignty within their own private data centers.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Defining "The Cloud" (NIST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Service Models (The Pizza Analogy)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Infrastructure as a Service - IaaS (Take &amp; Bake Pizza) gives you the "Kitchen" but you bring the "Pizza." The provider manages the physical hardware (Networking, Storage, Servers, Virtualization).</a:t>
            </a:r>
          </a:p>
          <a:p>
            <a:pPr>
              <a:spcBef>
                <a:spcPts val="800"/>
              </a:spcBef>
              <a:spcAft>
                <a:spcPts val="800"/>
              </a:spcAft>
              <a:defRPr sz="2000">
                <a:solidFill>
                  <a:srgbClr val="FFFFFF"/>
                </a:solidFill>
              </a:defRPr>
            </a:pPr>
            <a:r>
              <a:t>You rent the Virtual Machine and are responsible for installing the Operating System, patching it, and running your application.</a:t>
            </a:r>
          </a:p>
          <a:p>
            <a:pPr>
              <a:spcBef>
                <a:spcPts val="800"/>
              </a:spcBef>
              <a:spcAft>
                <a:spcPts val="800"/>
              </a:spcAft>
              <a:defRPr sz="2000">
                <a:solidFill>
                  <a:srgbClr val="FFFFFF"/>
                </a:solidFill>
              </a:defRPr>
            </a:pPr>
            <a:r>
              <a:t>This is the model OpenStack provides.</a:t>
            </a:r>
          </a:p>
          <a:p>
            <a:pPr>
              <a:spcBef>
                <a:spcPts val="800"/>
              </a:spcBef>
              <a:spcAft>
                <a:spcPts val="800"/>
              </a:spcAft>
              <a:defRPr sz="2000">
                <a:solidFill>
                  <a:srgbClr val="FFFFFF"/>
                </a:solidFill>
              </a:defRPr>
            </a:pPr>
            <a:r>
              <a:t>Platform as a Service - PaaS (Pizza Delivery) handles almost everything.</a:t>
            </a:r>
          </a:p>
          <a:p>
            <a:pPr>
              <a:spcBef>
                <a:spcPts val="800"/>
              </a:spcBef>
              <a:spcAft>
                <a:spcPts val="800"/>
              </a:spcAft>
              <a:defRPr sz="2000">
                <a:solidFill>
                  <a:srgbClr val="FFFFFF"/>
                </a:solidFill>
              </a:defRPr>
            </a:pPr>
            <a:r>
              <a:t>The provider manages the hardware and the Operating System runtime.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Service Models (The Pizza Analogy)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You simply provide the code (the "Order") and they deliver the running application.</a:t>
            </a:r>
          </a:p>
          <a:p>
            <a:pPr>
              <a:spcBef>
                <a:spcPts val="800"/>
              </a:spcBef>
              <a:spcAft>
                <a:spcPts val="800"/>
              </a:spcAft>
              <a:defRPr sz="2000">
                <a:solidFill>
                  <a:srgbClr val="FFFFFF"/>
                </a:solidFill>
              </a:defRPr>
            </a:pPr>
            <a:r>
              <a:t>You don't worry about Windows updates or Linux kernels; you focus solely on development.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Service Models Expanded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Infrastructure as a Service (IaaS) represents the foundational layer of cloud computing.</a:t>
            </a:r>
          </a:p>
          <a:p>
            <a:pPr>
              <a:spcBef>
                <a:spcPts val="800"/>
              </a:spcBef>
              <a:spcAft>
                <a:spcPts val="800"/>
              </a:spcAft>
              <a:defRPr sz="2000">
                <a:solidFill>
                  <a:srgbClr val="FFFFFF"/>
                </a:solidFill>
              </a:defRPr>
            </a:pPr>
            <a:r>
              <a:t>In this model, the cloud provider supplies the raw compute power, storage, and networking hardware, effectively serving as a virtual data center.</a:t>
            </a:r>
          </a:p>
          <a:p>
            <a:pPr>
              <a:spcBef>
                <a:spcPts val="800"/>
              </a:spcBef>
              <a:spcAft>
                <a:spcPts val="800"/>
              </a:spcAft>
              <a:defRPr sz="2000">
                <a:solidFill>
                  <a:srgbClr val="FFFFFF"/>
                </a:solidFill>
              </a:defRPr>
            </a:pPr>
            <a:r>
              <a:t>As a consumer, you retain the highest level of control but also bear the greatest responsibility.</a:t>
            </a:r>
          </a:p>
          <a:p>
            <a:pPr>
              <a:spcBef>
                <a:spcPts val="800"/>
              </a:spcBef>
              <a:spcAft>
                <a:spcPts val="800"/>
              </a:spcAft>
              <a:defRPr sz="2000">
                <a:solidFill>
                  <a:srgbClr val="FFFFFF"/>
                </a:solidFill>
              </a:defRPr>
            </a:pPr>
            <a:r>
              <a:t>You are tasked with installing the operating system, patching the kernel, configuring firewalls, and managing all middleware and runtime environments.</a:t>
            </a:r>
          </a:p>
          <a:p>
            <a:pPr>
              <a:spcBef>
                <a:spcPts val="800"/>
              </a:spcBef>
              <a:spcAft>
                <a:spcPts val="800"/>
              </a:spcAft>
              <a:defRPr sz="2000">
                <a:solidFill>
                  <a:srgbClr val="FFFFFF"/>
                </a:solidFill>
              </a:defRPr>
            </a:pPr>
            <a:r>
              <a:t>It offers the flexibility to run almost any workload but requires significant administrative overhead.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Service Models Expanded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Platform as a Service (PaaS) abstracts the underlying infrastructure to provide a streamlined environment specifically for developers.</a:t>
            </a:r>
          </a:p>
          <a:p>
            <a:pPr>
              <a:spcBef>
                <a:spcPts val="800"/>
              </a:spcBef>
              <a:spcAft>
                <a:spcPts val="800"/>
              </a:spcAft>
              <a:defRPr sz="2000">
                <a:solidFill>
                  <a:srgbClr val="FFFFFF"/>
                </a:solidFill>
              </a:defRPr>
            </a:pPr>
            <a:r>
              <a:t>The provider manages the servers, storage, networking, operating system, and middleware, allowing developers to focus solely on writing and deploying code.</a:t>
            </a:r>
          </a:p>
          <a:p>
            <a:pPr>
              <a:spcBef>
                <a:spcPts val="800"/>
              </a:spcBef>
              <a:spcAft>
                <a:spcPts val="800"/>
              </a:spcAft>
              <a:defRPr sz="2000">
                <a:solidFill>
                  <a:srgbClr val="FFFFFF"/>
                </a:solidFill>
              </a:defRPr>
            </a:pPr>
            <a:r>
              <a:t>This model significantly increases convenience and speed of deployment but sacrifices granular control over the environment.</a:t>
            </a:r>
          </a:p>
          <a:p>
            <a:pPr>
              <a:spcBef>
                <a:spcPts val="800"/>
              </a:spcBef>
              <a:spcAft>
                <a:spcPts val="800"/>
              </a:spcAft>
              <a:defRPr sz="2000">
                <a:solidFill>
                  <a:srgbClr val="FFFFFF"/>
                </a:solidFill>
              </a:defRPr>
            </a:pPr>
            <a:r>
              <a:t>If your application requires a custom kernel module or specific OS tweak, PaaS may be too restrictive.</a:t>
            </a:r>
          </a:p>
          <a:p>
            <a:pPr>
              <a:spcBef>
                <a:spcPts val="800"/>
              </a:spcBef>
              <a:spcAft>
                <a:spcPts val="800"/>
              </a:spcAft>
              <a:defRPr sz="2000">
                <a:solidFill>
                  <a:srgbClr val="FFFFFF"/>
                </a:solidFill>
              </a:defRPr>
            </a:pPr>
            <a:r>
              <a:t>Common examples include Heroku, Google App Engine, and AWS Lambda.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Service Models Expanded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Software as a Service (SaaS) delivers fully functional applications directly to the end-user over the internet.</a:t>
            </a:r>
          </a:p>
          <a:p>
            <a:pPr>
              <a:spcBef>
                <a:spcPts val="800"/>
              </a:spcBef>
              <a:spcAft>
                <a:spcPts val="800"/>
              </a:spcAft>
              <a:defRPr sz="2000">
                <a:solidFill>
                  <a:srgbClr val="FFFFFF"/>
                </a:solidFill>
              </a:defRPr>
            </a:pPr>
            <a:r>
              <a:t>In this model, the consumer has zero visibility or control over the underlying infrastructure or platform.</a:t>
            </a:r>
          </a:p>
          <a:p>
            <a:pPr>
              <a:spcBef>
                <a:spcPts val="800"/>
              </a:spcBef>
              <a:spcAft>
                <a:spcPts val="800"/>
              </a:spcAft>
              <a:defRPr sz="2000">
                <a:solidFill>
                  <a:srgbClr val="FFFFFF"/>
                </a:solidFill>
              </a:defRPr>
            </a:pPr>
            <a:r>
              <a:t>The provider manages everything from the hardware to the application code itself, ensuring high availability and security.</a:t>
            </a:r>
          </a:p>
          <a:p>
            <a:pPr>
              <a:spcBef>
                <a:spcPts val="800"/>
              </a:spcBef>
              <a:spcAft>
                <a:spcPts val="800"/>
              </a:spcAft>
              <a:defRPr sz="2000">
                <a:solidFill>
                  <a:srgbClr val="FFFFFF"/>
                </a:solidFill>
              </a:defRPr>
            </a:pPr>
            <a:r>
              <a:t>This model creates maximum convenience for users who simply need a tool to perform a task, such as email or document collaboration.</a:t>
            </a:r>
          </a:p>
          <a:p>
            <a:pPr>
              <a:spcBef>
                <a:spcPts val="800"/>
              </a:spcBef>
              <a:spcAft>
                <a:spcPts val="800"/>
              </a:spcAft>
              <a:defRPr sz="2000">
                <a:solidFill>
                  <a:srgbClr val="FFFFFF"/>
                </a:solidFill>
              </a:defRPr>
            </a:pPr>
            <a:r>
              <a:t>Examples include Gmail, Salesforce, and Microsoft 365.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Common Cloud Providers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Amazon Web Services (AWS) is the pioneer and current market leader in public cloud computing.</a:t>
            </a:r>
          </a:p>
          <a:p>
            <a:pPr>
              <a:spcBef>
                <a:spcPts val="800"/>
              </a:spcBef>
              <a:spcAft>
                <a:spcPts val="800"/>
              </a:spcAft>
              <a:defRPr sz="2000">
                <a:solidFill>
                  <a:srgbClr val="FFFFFF"/>
                </a:solidFill>
              </a:defRPr>
            </a:pPr>
            <a:r>
              <a:t>It offers the most extensive catalog of services, numbering over 200 distinct products.</a:t>
            </a:r>
          </a:p>
          <a:p>
            <a:pPr>
              <a:spcBef>
                <a:spcPts val="800"/>
              </a:spcBef>
              <a:spcAft>
                <a:spcPts val="800"/>
              </a:spcAft>
              <a:defRPr sz="2000">
                <a:solidFill>
                  <a:srgbClr val="FFFFFF"/>
                </a:solidFill>
              </a:defRPr>
            </a:pPr>
            <a:r>
              <a:t>AWS is often the default choice for startups and enterprises seeking a "one-stop-shop" for everything from simple compute to complex machine learning and satellite ground stations.</a:t>
            </a:r>
          </a:p>
          <a:p>
            <a:pPr>
              <a:spcBef>
                <a:spcPts val="800"/>
              </a:spcBef>
              <a:spcAft>
                <a:spcPts val="800"/>
              </a:spcAft>
              <a:defRPr sz="2000">
                <a:solidFill>
                  <a:srgbClr val="FFFFFF"/>
                </a:solidFill>
              </a:defRPr>
            </a:pPr>
            <a:r>
              <a:t>Its maturity and breadth making it a safe, albeit complex, choice for general-purpose cloud computing.</a:t>
            </a:r>
          </a:p>
          <a:p>
            <a:pPr>
              <a:spcBef>
                <a:spcPts val="800"/>
              </a:spcBef>
              <a:spcAft>
                <a:spcPts val="800"/>
              </a:spcAft>
              <a:defRPr sz="2000">
                <a:solidFill>
                  <a:srgbClr val="FFFFFF"/>
                </a:solidFill>
              </a:defRPr>
            </a:pPr>
            <a:r>
              <a:t>Microsoft Azure dominates the enterprise sector, particularly among organizations already invested in the Microsoft ecosystem.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Common Cloud Providers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Its primary strength lies in its seamless integration with Windows Server, Active Directory, and Microsoft 365.</a:t>
            </a:r>
          </a:p>
          <a:p>
            <a:pPr>
              <a:spcBef>
                <a:spcPts val="800"/>
              </a:spcBef>
              <a:spcAft>
                <a:spcPts val="800"/>
              </a:spcAft>
              <a:defRPr sz="2000">
                <a:solidFill>
                  <a:srgbClr val="FFFFFF"/>
                </a:solidFill>
              </a:defRPr>
            </a:pPr>
            <a:r>
              <a:t>For companies running .NET applications or requiring hybrid cloud setups that extend their on-premise Active Directory to the cloud, Azure offers the path of least resistance.</a:t>
            </a:r>
          </a:p>
          <a:p>
            <a:pPr>
              <a:spcBef>
                <a:spcPts val="800"/>
              </a:spcBef>
              <a:spcAft>
                <a:spcPts val="800"/>
              </a:spcAft>
              <a:defRPr sz="2000">
                <a:solidFill>
                  <a:srgbClr val="FFFFFF"/>
                </a:solidFill>
              </a:defRPr>
            </a:pPr>
            <a:r>
              <a:t>Google Cloud Platform (GCP) differentiates itself through engineering excellence in data analytics, artificial intelligence, and container orchestration.</a:t>
            </a:r>
          </a:p>
          <a:p>
            <a:pPr>
              <a:spcBef>
                <a:spcPts val="800"/>
              </a:spcBef>
              <a:spcAft>
                <a:spcPts val="800"/>
              </a:spcAft>
              <a:defRPr sz="2000">
                <a:solidFill>
                  <a:srgbClr val="FFFFFF"/>
                </a:solidFill>
              </a:defRPr>
            </a:pPr>
            <a:r>
              <a:t>Having invented Kubernetes, Google makes GCP the premier environment for container-native applications and microservices.</a:t>
            </a:r>
          </a:p>
          <a:p>
            <a:pPr>
              <a:spcBef>
                <a:spcPts val="800"/>
              </a:spcBef>
              <a:spcAft>
                <a:spcPts val="800"/>
              </a:spcAft>
              <a:defRPr sz="2000">
                <a:solidFill>
                  <a:srgbClr val="FFFFFF"/>
                </a:solidFill>
              </a:defRPr>
            </a:pPr>
            <a:r>
              <a:t>It is frequently chosen by organizations heavily focused on big data processing and machine learning workflows.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Common Cloud Providers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OpenStack stands apart as the de facto standard for Private Cloud infrastructure.</a:t>
            </a:r>
          </a:p>
          <a:p>
            <a:pPr>
              <a:spcBef>
                <a:spcPts val="800"/>
              </a:spcBef>
              <a:spcAft>
                <a:spcPts val="800"/>
              </a:spcAft>
              <a:defRPr sz="2000">
                <a:solidFill>
                  <a:srgbClr val="FFFFFF"/>
                </a:solidFill>
              </a:defRPr>
            </a:pPr>
            <a:r>
              <a:t>Unlike the hyperscalers where you rent space on someone else's computer, OpenStack allows you to build the cloud in your own data center.</a:t>
            </a:r>
          </a:p>
          <a:p>
            <a:pPr>
              <a:spcBef>
                <a:spcPts val="800"/>
              </a:spcBef>
              <a:spcAft>
                <a:spcPts val="800"/>
              </a:spcAft>
              <a:defRPr sz="2000">
                <a:solidFill>
                  <a:srgbClr val="FFFFFF"/>
                </a:solidFill>
              </a:defRPr>
            </a:pPr>
            <a:r>
              <a:t>This is the preferred choice for telecommunications providers, governments, and research institutes (like CERN) who require absolute control over their data sovereignty, or who operate at such a massive scale that renting public cloud resources becomes cost-prohibitive.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Cloud Deployment Models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Public Cloud is the most common model, where resources are owned and operated by a third-party provider (like AWS or Azure) and shared across millions of customers via the public internet.</a:t>
            </a:r>
          </a:p>
          <a:p>
            <a:pPr>
              <a:spcBef>
                <a:spcPts val="800"/>
              </a:spcBef>
              <a:spcAft>
                <a:spcPts val="800"/>
              </a:spcAft>
              <a:defRPr sz="2000">
                <a:solidFill>
                  <a:srgbClr val="FFFFFF"/>
                </a:solidFill>
              </a:defRPr>
            </a:pPr>
            <a:r>
              <a:t>It offers the highest level of efficiency and elasticity but requires trusting the provider with your data and accepting a multi-tenant environment where your "neighbor" could be anyone.</a:t>
            </a:r>
          </a:p>
          <a:p>
            <a:pPr>
              <a:spcBef>
                <a:spcPts val="800"/>
              </a:spcBef>
              <a:spcAft>
                <a:spcPts val="800"/>
              </a:spcAft>
              <a:defRPr sz="2000">
                <a:solidFill>
                  <a:srgbClr val="FFFFFF"/>
                </a:solidFill>
              </a:defRPr>
            </a:pPr>
            <a:r>
              <a:t>It is ideal for startups, web hosting, and highly variable workloads that need to scale instantly.</a:t>
            </a:r>
          </a:p>
          <a:p>
            <a:pPr>
              <a:spcBef>
                <a:spcPts val="800"/>
              </a:spcBef>
              <a:spcAft>
                <a:spcPts val="800"/>
              </a:spcAft>
              <a:defRPr sz="2000">
                <a:solidFill>
                  <a:srgbClr val="FFFFFF"/>
                </a:solidFill>
              </a:defRPr>
            </a:pPr>
            <a:r>
              <a:t>Private Cloud is infrastructure provisioned for the exclusive use of a single organization.</a:t>
            </a:r>
          </a:p>
          <a:p>
            <a:pPr>
              <a:spcBef>
                <a:spcPts val="800"/>
              </a:spcBef>
              <a:spcAft>
                <a:spcPts val="800"/>
              </a:spcAft>
              <a:defRPr sz="2000">
                <a:solidFill>
                  <a:srgbClr val="FFFFFF"/>
                </a:solidFill>
              </a:defRPr>
            </a:pPr>
            <a:r>
              <a:t>It can be hosted on-premise (in your own building) or by a third-party, but the hardware is strictly dedicated and never shared with other customers.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1.4 Cloud Deployment Models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model offers maximum control, security, and performance customization, making it the non-negotiable choice for banks, governments, and regulated industries.</a:t>
            </a:r>
          </a:p>
          <a:p>
            <a:pPr>
              <a:spcBef>
                <a:spcPts val="800"/>
              </a:spcBef>
              <a:spcAft>
                <a:spcPts val="800"/>
              </a:spcAft>
              <a:defRPr sz="2000">
                <a:solidFill>
                  <a:srgbClr val="FFFFFF"/>
                </a:solidFill>
              </a:defRPr>
            </a:pPr>
            <a:r>
              <a:t>OpenStack is the global standard for building these Private Clouds.</a:t>
            </a:r>
          </a:p>
          <a:p>
            <a:pPr>
              <a:spcBef>
                <a:spcPts val="800"/>
              </a:spcBef>
              <a:spcAft>
                <a:spcPts val="800"/>
              </a:spcAft>
              <a:defRPr sz="2000">
                <a:solidFill>
                  <a:srgbClr val="FFFFFF"/>
                </a:solidFill>
              </a:defRPr>
            </a:pPr>
            <a:r>
              <a:t>Hybrid Cloud represents the best of both worlds, combining Public and Private clouds bound together by technology that allows data and applications to be shared between them.</a:t>
            </a:r>
          </a:p>
          <a:p>
            <a:pPr>
              <a:spcBef>
                <a:spcPts val="800"/>
              </a:spcBef>
              <a:spcAft>
                <a:spcPts val="800"/>
              </a:spcAft>
              <a:defRPr sz="2000">
                <a:solidFill>
                  <a:srgbClr val="FFFFFF"/>
                </a:solidFill>
              </a:defRPr>
            </a:pPr>
            <a:r>
              <a:t>A typical enterprise use case involves keeping sensitive customer databases "on-premise" in a Private Cloud for strict security compliance, while running web-server frontends in a Public Cloud to take advantage of infinite scaling during traffic spikes (a technique known as Cloud Bursting).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1.5 Cloud Structure: Regions and Zones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Region is a specific geographical location (e.g., "US-East", "Europe-West", "Africa-South") that contains a cluster of data centers.</a:t>
            </a:r>
          </a:p>
          <a:p>
            <a:pPr>
              <a:spcBef>
                <a:spcPts val="800"/>
              </a:spcBef>
              <a:spcAft>
                <a:spcPts val="800"/>
              </a:spcAft>
              <a:defRPr sz="2000">
                <a:solidFill>
                  <a:srgbClr val="FFFFFF"/>
                </a:solidFill>
              </a:defRPr>
            </a:pPr>
            <a:r>
              <a:t>Each region is completely independent; if the US-East region loses power or suffers a natural disaster, the Europe-West region remains unaffected.</a:t>
            </a:r>
          </a:p>
          <a:p>
            <a:pPr>
              <a:spcBef>
                <a:spcPts val="800"/>
              </a:spcBef>
              <a:spcAft>
                <a:spcPts val="800"/>
              </a:spcAft>
              <a:defRPr sz="2000">
                <a:solidFill>
                  <a:srgbClr val="FFFFFF"/>
                </a:solidFill>
              </a:defRPr>
            </a:pPr>
            <a:r>
              <a:t>Data compliance laws (such as GDPR or POPI) often dictate exactly which Region you must store your user data in to remain within legal jurisdictions.</a:t>
            </a:r>
          </a:p>
          <a:p>
            <a:pPr>
              <a:spcBef>
                <a:spcPts val="800"/>
              </a:spcBef>
              <a:spcAft>
                <a:spcPts val="800"/>
              </a:spcAft>
              <a:defRPr sz="2000">
                <a:solidFill>
                  <a:srgbClr val="FFFFFF"/>
                </a:solidFill>
              </a:defRPr>
            </a:pPr>
            <a:r>
              <a:t>An Availability Zone (AZ) is an isolated location within a Region.</a:t>
            </a:r>
          </a:p>
          <a:p>
            <a:pPr>
              <a:spcBef>
                <a:spcPts val="800"/>
              </a:spcBef>
              <a:spcAft>
                <a:spcPts val="800"/>
              </a:spcAft>
              <a:defRPr sz="2000">
                <a:solidFill>
                  <a:srgbClr val="FFFFFF"/>
                </a:solidFill>
              </a:defRPr>
            </a:pPr>
            <a:r>
              <a:t>Think of an AZ as a separate physical building (or cluster of buildings) with its own independent power grids, cooling systems, and networking infrastructure.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1.5 Cloud Structure: Regions and Zones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Region is typically made up of multiple AZs (usually 3 or more).</a:t>
            </a:r>
          </a:p>
          <a:p>
            <a:pPr>
              <a:spcBef>
                <a:spcPts val="800"/>
              </a:spcBef>
              <a:spcAft>
                <a:spcPts val="800"/>
              </a:spcAft>
              <a:defRPr sz="2000">
                <a:solidFill>
                  <a:srgbClr val="FFFFFF"/>
                </a:solidFill>
              </a:defRPr>
            </a:pPr>
            <a:r>
              <a:t>To achieve High Availability, cloud architects deploy applications across multiple AZs.</a:t>
            </a:r>
          </a:p>
          <a:p>
            <a:pPr>
              <a:spcBef>
                <a:spcPts val="800"/>
              </a:spcBef>
              <a:spcAft>
                <a:spcPts val="800"/>
              </a:spcAft>
              <a:defRPr sz="2000">
                <a:solidFill>
                  <a:srgbClr val="FFFFFF"/>
                </a:solidFill>
              </a:defRPr>
            </a:pPr>
            <a:r>
              <a:t>If "Building A" burns down, "Building B" continues to run the application without interruption.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1.6 The Four Pillars of Cloud Infrastructure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Security in the cloud shifts from physical perimeter defense (locks and guards) to identity-based and software-defined security.</a:t>
            </a:r>
          </a:p>
          <a:p>
            <a:pPr>
              <a:spcBef>
                <a:spcPts val="800"/>
              </a:spcBef>
              <a:spcAft>
                <a:spcPts val="800"/>
              </a:spcAft>
              <a:defRPr sz="2000">
                <a:solidFill>
                  <a:srgbClr val="FFFFFF"/>
                </a:solidFill>
              </a:defRPr>
            </a:pPr>
            <a:r>
              <a:t>Security Groups act as virtual distributed firewalls applied directly to each instance, controlling inbound and outbound traffic at the packet level regardless of network topology.</a:t>
            </a:r>
          </a:p>
          <a:p>
            <a:pPr>
              <a:spcBef>
                <a:spcPts val="800"/>
              </a:spcBef>
              <a:spcAft>
                <a:spcPts val="800"/>
              </a:spcAft>
              <a:defRPr sz="2000">
                <a:solidFill>
                  <a:srgbClr val="FFFFFF"/>
                </a:solidFill>
              </a:defRPr>
            </a:pPr>
            <a:r>
              <a:t>Identity and Access Management (IAM) acts as the central directory, strictly controlling who (users/services) can perform what actions (permissions) on which specific resources.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1.7 The Shared Responsibility Model</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an On-Premise environment, you are responsible for everything from the physical door lock to the user's password.</a:t>
            </a:r>
          </a:p>
          <a:p>
            <a:pPr>
              <a:spcBef>
                <a:spcPts val="800"/>
              </a:spcBef>
              <a:spcAft>
                <a:spcPts val="800"/>
              </a:spcAft>
              <a:defRPr sz="2000">
                <a:solidFill>
                  <a:srgbClr val="FFFFFF"/>
                </a:solidFill>
              </a:defRPr>
            </a:pPr>
            <a:r>
              <a:t>In an IaaS model (like OpenStack), the Provider secures the physical data center, network hardware, and hypervisor.</a:t>
            </a:r>
          </a:p>
          <a:p>
            <a:pPr>
              <a:spcBef>
                <a:spcPts val="800"/>
              </a:spcBef>
              <a:spcAft>
                <a:spcPts val="800"/>
              </a:spcAft>
              <a:defRPr sz="2000">
                <a:solidFill>
                  <a:srgbClr val="FFFFFF"/>
                </a:solidFill>
              </a:defRPr>
            </a:pPr>
            <a:r>
              <a:t>You, the Customer, are responsible for securing the Guest OS, applications, data, and firewall configurations.</a:t>
            </a:r>
          </a:p>
          <a:p>
            <a:pPr>
              <a:spcBef>
                <a:spcPts val="800"/>
              </a:spcBef>
              <a:spcAft>
                <a:spcPts val="800"/>
              </a:spcAft>
              <a:defRPr sz="2000">
                <a:solidFill>
                  <a:srgbClr val="FFFFFF"/>
                </a:solidFill>
              </a:defRPr>
            </a:pPr>
            <a:r>
              <a:t>As you move up the stack to PaaS and SaaS, the Provider takes on more responsibility (like patching the OS), but you are always responsible for your Data and Identity (User Accounts).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1.8 Cloud Economics: CapEx vs. OpEx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Capital Expenditure (CapEx) is the traditional model where you spend a large amount of money upfront to buy physical servers, storage arrays, and network switches.</a:t>
            </a:r>
          </a:p>
          <a:p>
            <a:pPr>
              <a:spcBef>
                <a:spcPts val="800"/>
              </a:spcBef>
              <a:spcAft>
                <a:spcPts val="800"/>
              </a:spcAft>
              <a:defRPr sz="2000">
                <a:solidFill>
                  <a:srgbClr val="FFFFFF"/>
                </a:solidFill>
              </a:defRPr>
            </a:pPr>
            <a:r>
              <a:t>This is an "Investment" that depreciates over 3-5 years.</a:t>
            </a:r>
          </a:p>
          <a:p>
            <a:pPr>
              <a:spcBef>
                <a:spcPts val="800"/>
              </a:spcBef>
              <a:spcAft>
                <a:spcPts val="800"/>
              </a:spcAft>
              <a:defRPr sz="2000">
                <a:solidFill>
                  <a:srgbClr val="FFFFFF"/>
                </a:solidFill>
              </a:defRPr>
            </a:pPr>
            <a:r>
              <a:t>You pay for the maximum capacity you might need, which often leads to underutilization.</a:t>
            </a:r>
          </a:p>
          <a:p>
            <a:pPr>
              <a:spcBef>
                <a:spcPts val="800"/>
              </a:spcBef>
              <a:spcAft>
                <a:spcPts val="800"/>
              </a:spcAft>
              <a:defRPr sz="2000">
                <a:solidFill>
                  <a:srgbClr val="FFFFFF"/>
                </a:solidFill>
              </a:defRPr>
            </a:pPr>
            <a:r>
              <a:t>Operational Expenditure (OpEx) is the cloud model where you pay for services as you use them (Pay-as-you-Go).</a:t>
            </a:r>
          </a:p>
          <a:p>
            <a:pPr>
              <a:spcBef>
                <a:spcPts val="800"/>
              </a:spcBef>
              <a:spcAft>
                <a:spcPts val="800"/>
              </a:spcAft>
              <a:defRPr sz="2000">
                <a:solidFill>
                  <a:srgbClr val="FFFFFF"/>
                </a:solidFill>
              </a:defRPr>
            </a:pPr>
            <a:r>
              <a:t>There is no upfront cost.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1.8 Cloud Economics: CapEx vs. OpEx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aligns spending with actual usage.</a:t>
            </a:r>
          </a:p>
          <a:p>
            <a:pPr>
              <a:spcBef>
                <a:spcPts val="800"/>
              </a:spcBef>
              <a:spcAft>
                <a:spcPts val="800"/>
              </a:spcAft>
              <a:defRPr sz="2000">
                <a:solidFill>
                  <a:srgbClr val="FFFFFF"/>
                </a:solidFill>
              </a:defRPr>
            </a:pPr>
            <a:r>
              <a:t>If you shut down your VMs at night, you stop paying.</a:t>
            </a:r>
          </a:p>
          <a:p>
            <a:pPr>
              <a:spcBef>
                <a:spcPts val="800"/>
              </a:spcBef>
              <a:spcAft>
                <a:spcPts val="800"/>
              </a:spcAft>
              <a:defRPr sz="2000">
                <a:solidFill>
                  <a:srgbClr val="FFFFFF"/>
                </a:solidFill>
              </a:defRPr>
            </a:pPr>
            <a:r>
              <a:t>This shifts IT spending from a "Fixed Cost" to a "Variable Cost," allowing businesses to be more agile.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1.9 Scalability vs. Elasticity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Scalability is the strategic ability of a system to handle projected growth over time.</a:t>
            </a:r>
          </a:p>
          <a:p>
            <a:pPr>
              <a:spcBef>
                <a:spcPts val="800"/>
              </a:spcBef>
              <a:spcAft>
                <a:spcPts val="800"/>
              </a:spcAft>
              <a:defRPr sz="2000">
                <a:solidFill>
                  <a:srgbClr val="FFFFFF"/>
                </a:solidFill>
              </a:defRPr>
            </a:pPr>
            <a:r>
              <a:t>A scalable system typically involves human intervention to upgrade capacity.</a:t>
            </a:r>
          </a:p>
          <a:p>
            <a:pPr>
              <a:spcBef>
                <a:spcPts val="800"/>
              </a:spcBef>
              <a:spcAft>
                <a:spcPts val="800"/>
              </a:spcAft>
              <a:defRPr sz="2000">
                <a:solidFill>
                  <a:srgbClr val="FFFFFF"/>
                </a:solidFill>
              </a:defRPr>
            </a:pPr>
            <a:r>
              <a:t>This can be achieved through Vertical Scaling (scaling up by adding more RAM/CPU to a single server) or Horizontal Scaling (scaling out by adding more servers to a cluster).</a:t>
            </a:r>
          </a:p>
          <a:p>
            <a:pPr>
              <a:spcBef>
                <a:spcPts val="800"/>
              </a:spcBef>
              <a:spcAft>
                <a:spcPts val="800"/>
              </a:spcAft>
              <a:defRPr sz="2000">
                <a:solidFill>
                  <a:srgbClr val="FFFFFF"/>
                </a:solidFill>
              </a:defRPr>
            </a:pPr>
            <a:r>
              <a:t>It effectively answers the question: "Can we get bigger if the company grows?"</a:t>
            </a:r>
          </a:p>
          <a:p>
            <a:pPr>
              <a:spcBef>
                <a:spcPts val="800"/>
              </a:spcBef>
              <a:spcAft>
                <a:spcPts val="800"/>
              </a:spcAft>
              <a:defRPr sz="2000">
                <a:solidFill>
                  <a:srgbClr val="FFFFFF"/>
                </a:solidFill>
              </a:defRPr>
            </a:pPr>
            <a:r>
              <a:t>Elasticity is the tactical ability to scale resources automatically in real-time response to demand, in both directions.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1.9 Scalability vs. Elasticity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An elastic system adds servers when traffic spikes (e.g., during a Black Friday sale) and removes them when traffic drops (at 3 AM), maintaining performance while optimizing cost.</a:t>
            </a:r>
          </a:p>
          <a:p>
            <a:pPr>
              <a:spcBef>
                <a:spcPts val="800"/>
              </a:spcBef>
              <a:spcAft>
                <a:spcPts val="800"/>
              </a:spcAft>
              <a:defRPr sz="2000">
                <a:solidFill>
                  <a:srgbClr val="FFFFFF"/>
                </a:solidFill>
              </a:defRPr>
            </a:pPr>
            <a:r>
              <a:t>It answers the question: "Can the system resize itself right now without human help?"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1.10 Migration Strategies (The 6 Rs)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1.</a:t>
            </a:r>
          </a:p>
          <a:p>
            <a:pPr>
              <a:spcBef>
                <a:spcPts val="800"/>
              </a:spcBef>
              <a:spcAft>
                <a:spcPts val="800"/>
              </a:spcAft>
              <a:defRPr sz="2000">
                <a:solidFill>
                  <a:srgbClr val="FFFFFF"/>
                </a:solidFill>
              </a:defRPr>
            </a:pPr>
            <a:r>
              <a:t>Rehost ("Lift and Shift")</a:t>
            </a:r>
            <a:br/>
            <a:r>
              <a:t>This is the fastest and lowest-risk strategy.</a:t>
            </a:r>
          </a:p>
          <a:p>
            <a:pPr>
              <a:spcBef>
                <a:spcPts val="800"/>
              </a:spcBef>
              <a:spcAft>
                <a:spcPts val="800"/>
              </a:spcAft>
              <a:defRPr sz="2000">
                <a:solidFill>
                  <a:srgbClr val="FFFFFF"/>
                </a:solidFill>
              </a:defRPr>
            </a:pPr>
            <a:r>
              <a:t>It involves moving an application from on-premise to the cloud without making any changes to its underlying architecture.</a:t>
            </a:r>
          </a:p>
          <a:p>
            <a:pPr>
              <a:spcBef>
                <a:spcPts val="800"/>
              </a:spcBef>
              <a:spcAft>
                <a:spcPts val="800"/>
              </a:spcAft>
              <a:defRPr sz="2000">
                <a:solidFill>
                  <a:srgbClr val="FFFFFF"/>
                </a:solidFill>
              </a:defRPr>
            </a:pPr>
            <a:r>
              <a:t>For example, exporting a virtual machine from VMware and importing it directly into OpenStack.</a:t>
            </a:r>
          </a:p>
          <a:p>
            <a:pPr>
              <a:spcBef>
                <a:spcPts val="800"/>
              </a:spcBef>
              <a:spcAft>
                <a:spcPts val="800"/>
              </a:spcAft>
              <a:defRPr sz="2000">
                <a:solidFill>
                  <a:srgbClr val="FFFFFF"/>
                </a:solidFill>
              </a:defRPr>
            </a:pPr>
            <a:r>
              <a:t>While quick, this method typically fails to realize the long-term benefits of the cloud, such as auto-scaling and elasticity, because the application still thinks it is running on a static server.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1.10 Migration Strategies (The 6 Rs)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2.</a:t>
            </a:r>
          </a:p>
          <a:p>
            <a:pPr>
              <a:spcBef>
                <a:spcPts val="800"/>
              </a:spcBef>
              <a:spcAft>
                <a:spcPts val="800"/>
              </a:spcAft>
              <a:defRPr sz="2000">
                <a:solidFill>
                  <a:srgbClr val="FFFFFF"/>
                </a:solidFill>
              </a:defRPr>
            </a:pPr>
            <a:r>
              <a:t>Replatform ("Lift, Tweak, and Shift")</a:t>
            </a:r>
            <a:br/>
            <a:r>
              <a:t>This strategy involves making small optimizations to the application to run more efficiently in the cloud without rewriting the core code.</a:t>
            </a:r>
          </a:p>
          <a:p>
            <a:pPr>
              <a:spcBef>
                <a:spcPts val="800"/>
              </a:spcBef>
              <a:spcAft>
                <a:spcPts val="800"/>
              </a:spcAft>
              <a:defRPr sz="2000">
                <a:solidFill>
                  <a:srgbClr val="FFFFFF"/>
                </a:solidFill>
              </a:defRPr>
            </a:pPr>
            <a:r>
              <a:t>A common example is migrating a local MySQL database to a managed SQL service (PaaS) or containerizing a legacy application to run on Kubernetes.</a:t>
            </a:r>
          </a:p>
          <a:p>
            <a:pPr>
              <a:spcBef>
                <a:spcPts val="800"/>
              </a:spcBef>
              <a:spcAft>
                <a:spcPts val="800"/>
              </a:spcAft>
              <a:defRPr sz="2000">
                <a:solidFill>
                  <a:srgbClr val="FFFFFF"/>
                </a:solidFill>
              </a:defRPr>
            </a:pPr>
            <a:r>
              <a:t>This offers a middle ground, providing some cloud benefits without the heavy cost of a full rewrite.</a:t>
            </a:r>
          </a:p>
          <a:p>
            <a:pPr>
              <a:spcBef>
                <a:spcPts val="800"/>
              </a:spcBef>
              <a:spcAft>
                <a:spcPts val="800"/>
              </a:spcAft>
              <a:defRPr sz="2000">
                <a:solidFill>
                  <a:srgbClr val="FFFFFF"/>
                </a:solidFill>
              </a:defRPr>
            </a:pPr>
            <a:r>
              <a:t>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1.10 Migration Strategies (The 6 Rs)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Refactor (Re-architect)</a:t>
            </a:r>
            <a:br/>
            <a:r>
              <a:t>Refactoring is the most expensive but most rewarding strategy.</a:t>
            </a:r>
          </a:p>
          <a:p>
            <a:pPr>
              <a:spcBef>
                <a:spcPts val="800"/>
              </a:spcBef>
              <a:spcAft>
                <a:spcPts val="800"/>
              </a:spcAft>
              <a:defRPr sz="2000">
                <a:solidFill>
                  <a:srgbClr val="FFFFFF"/>
                </a:solidFill>
              </a:defRPr>
            </a:pPr>
            <a:r>
              <a:t>It involves rewriting the application from scratch to be "Cloud Native." For instance, breaking a monolithic Java application into dozens of Python microservices that communicate via APIs.</a:t>
            </a:r>
          </a:p>
          <a:p>
            <a:pPr>
              <a:spcBef>
                <a:spcPts val="800"/>
              </a:spcBef>
              <a:spcAft>
                <a:spcPts val="800"/>
              </a:spcAft>
              <a:defRPr sz="2000">
                <a:solidFill>
                  <a:srgbClr val="FFFFFF"/>
                </a:solidFill>
              </a:defRPr>
            </a:pPr>
            <a:r>
              <a:t>This allows the application to scale infinitely and heal itself, fully unlocking the power of the cloud.</a:t>
            </a:r>
          </a:p>
          <a:p>
            <a:pPr>
              <a:spcBef>
                <a:spcPts val="800"/>
              </a:spcBef>
              <a:spcAft>
                <a:spcPts val="800"/>
              </a:spcAft>
              <a:defRPr sz="2000">
                <a:solidFill>
                  <a:srgbClr val="FFFFFF"/>
                </a:solidFill>
              </a:defRPr>
            </a:pPr>
            <a:r>
              <a:t>4.</a:t>
            </a:r>
          </a:p>
          <a:p>
            <a:pPr>
              <a:spcBef>
                <a:spcPts val="800"/>
              </a:spcBef>
              <a:spcAft>
                <a:spcPts val="800"/>
              </a:spcAft>
              <a:defRPr sz="2000">
                <a:solidFill>
                  <a:srgbClr val="FFFFFF"/>
                </a:solidFill>
              </a:defRPr>
            </a:pPr>
            <a:r>
              <a:t>Repurchase ("Drop and Shop")</a:t>
            </a:r>
            <a:br/>
            <a:r>
              <a:t>This involves abandoning the legacy application entirely and moving to a commercial SaaS solution.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1.10 Migration Strategies (The 6 Rs)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classic example is decommissioning an on-premise Microsoft Exchange Server and migrating all users to Microsoft 365.</a:t>
            </a:r>
          </a:p>
          <a:p>
            <a:pPr>
              <a:spcBef>
                <a:spcPts val="800"/>
              </a:spcBef>
              <a:spcAft>
                <a:spcPts val="800"/>
              </a:spcAft>
              <a:defRPr sz="2000">
                <a:solidFill>
                  <a:srgbClr val="FFFFFF"/>
                </a:solidFill>
              </a:defRPr>
            </a:pPr>
            <a:r>
              <a:t>Further examples include moving logical CRM systems to Salesforce.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NIST Cloud Definition: Self-Service, Broad Access, Pooling, Elasticity, Measured.</a:t>
            </a:r>
          </a:p>
          <a:p>
            <a:pPr>
              <a:spcBef>
                <a:spcPts val="800"/>
              </a:spcBef>
              <a:spcAft>
                <a:spcPts val="800"/>
              </a:spcAft>
              <a:defRPr sz="2000">
                <a:solidFill>
                  <a:srgbClr val="FFFFFF"/>
                </a:solidFill>
              </a:defRPr>
            </a:pPr>
            <a:r>
              <a:t>Service Models: IaaS (Rent Hardware), PaaS (Rent Platform), SaaS (Rent App).</a:t>
            </a:r>
          </a:p>
          <a:p>
            <a:pPr>
              <a:spcBef>
                <a:spcPts val="800"/>
              </a:spcBef>
              <a:spcAft>
                <a:spcPts val="800"/>
              </a:spcAft>
              <a:defRPr sz="2000">
                <a:solidFill>
                  <a:srgbClr val="FFFFFF"/>
                </a:solidFill>
              </a:defRPr>
            </a:pPr>
            <a:r>
              <a:t>Deployment: Public (Shared), Private (Dedicated), Hybrid (Mixed).</a:t>
            </a:r>
          </a:p>
          <a:p>
            <a:pPr>
              <a:spcBef>
                <a:spcPts val="800"/>
              </a:spcBef>
              <a:spcAft>
                <a:spcPts val="800"/>
              </a:spcAft>
              <a:defRPr sz="2000">
                <a:solidFill>
                  <a:srgbClr val="FFFFFF"/>
                </a:solidFill>
              </a:defRPr>
            </a:pPr>
            <a:r>
              <a:t>Shared Responsibility: You are always responsible for Data and Identity.</a:t>
            </a:r>
          </a:p>
          <a:p>
            <a:pPr>
              <a:spcBef>
                <a:spcPts val="800"/>
              </a:spcBef>
              <a:spcAft>
                <a:spcPts val="800"/>
              </a:spcAft>
              <a:defRPr sz="2000">
                <a:solidFill>
                  <a:srgbClr val="FFFFFF"/>
                </a:solidFill>
              </a:defRPr>
            </a:pPr>
            <a:r>
              <a:t>Economics: Shift from CapEx (Investment) to OpEx (Consumption).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Dynamics: Scalability (Growth) vs Elasticity (Auto-sizing).</a:t>
            </a:r>
          </a:p>
          <a:p>
            <a:pPr>
              <a:spcBef>
                <a:spcPts val="800"/>
              </a:spcBef>
              <a:spcAft>
                <a:spcPts val="800"/>
              </a:spcAft>
              <a:defRPr sz="2000">
                <a:solidFill>
                  <a:srgbClr val="FFFFFF"/>
                </a:solidFill>
              </a:defRPr>
            </a:pPr>
            <a:r>
              <a:t>Migration: Rehost (Fastest) vs Refactor (Best Long-term).</a:t>
            </a:r>
          </a:p>
          <a:p>
            <a:pPr>
              <a:spcBef>
                <a:spcPts val="800"/>
              </a:spcBef>
              <a:spcAft>
                <a:spcPts val="800"/>
              </a:spcAft>
              <a:defRPr sz="2000">
                <a:solidFill>
                  <a:srgbClr val="FFFFFF"/>
                </a:solidFill>
              </a:defRPr>
            </a:pPr>
            <a:r>
              <a:t>In a SaaS model (like Gmail), who is responsible if you share a confidential file with the wrong person? (Hint: Shared Responsibility).</a:t>
            </a:r>
          </a:p>
          <a:p>
            <a:pPr>
              <a:spcBef>
                <a:spcPts val="800"/>
              </a:spcBef>
              <a:spcAft>
                <a:spcPts val="800"/>
              </a:spcAft>
              <a:defRPr sz="2000">
                <a:solidFill>
                  <a:srgbClr val="FFFFFF"/>
                </a:solidFill>
              </a:defRPr>
            </a:pPr>
            <a:r>
              <a:t>Why does the CFO (Chief Financial Officer) prefer OpEx over CapEx for a risky new startup?</a:t>
            </a:r>
          </a:p>
          <a:p>
            <a:pPr>
              <a:spcBef>
                <a:spcPts val="800"/>
              </a:spcBef>
              <a:spcAft>
                <a:spcPts val="800"/>
              </a:spcAft>
              <a:defRPr sz="2000">
                <a:solidFill>
                  <a:srgbClr val="FFFFFF"/>
                </a:solidFill>
              </a:defRPr>
            </a:pPr>
            <a:r>
              <a:t>Can a system be Scalable but not Elastic? Give an example.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Which migration strategy would you use for a 20-year-old Legacy ERP system that nobody knows how to modify? (Hint: Lift and Shift).</a:t>
            </a:r>
          </a:p>
          <a:p>
            <a:pPr>
              <a:spcBef>
                <a:spcPts val="800"/>
              </a:spcBef>
              <a:spcAft>
                <a:spcPts val="800"/>
              </a:spcAft>
              <a:defRPr sz="2000">
                <a:solidFill>
                  <a:srgbClr val="FFFFFF"/>
                </a:solidFill>
              </a:defRPr>
            </a:pPr>
            <a:r>
              <a:t>NIST Cloud Computing Definition (PDF)</a:t>
            </a:r>
          </a:p>
          <a:p>
            <a:pPr>
              <a:spcBef>
                <a:spcPts val="800"/>
              </a:spcBef>
              <a:spcAft>
                <a:spcPts val="800"/>
              </a:spcAft>
              <a:defRPr sz="2000">
                <a:solidFill>
                  <a:srgbClr val="FFFFFF"/>
                </a:solidFill>
              </a:defRPr>
            </a:pPr>
            <a:r>
              <a:t>Book: CompTIA Cloud+ Certification Study Guide (Exam CV0-003) - Ben Piper.</a:t>
            </a:r>
          </a:p>
          <a:p>
            <a:pPr>
              <a:spcBef>
                <a:spcPts val="800"/>
              </a:spcBef>
              <a:spcAft>
                <a:spcPts val="800"/>
              </a:spcAft>
              <a:defRPr sz="2000">
                <a:solidFill>
                  <a:srgbClr val="FFFFFF"/>
                </a:solidFill>
              </a:defRPr>
            </a:pPr>
            <a:r>
              <a:t>Whitepaper: AWS "6 Strategies for Migrating Applications"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Introducing OpenStack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"Core" Services (Remember these Names!)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OpenStack can be overwhelming because it consists of dozens of projects.</a:t>
            </a:r>
          </a:p>
          <a:p>
            <a:pPr>
              <a:spcBef>
                <a:spcPts val="800"/>
              </a:spcBef>
              <a:spcAft>
                <a:spcPts val="800"/>
              </a:spcAft>
              <a:defRPr sz="2000">
                <a:solidFill>
                  <a:srgbClr val="FFFFFF"/>
                </a:solidFill>
              </a:defRPr>
            </a:pPr>
            <a:r>
              <a:t>However, a functional cloud only requires a handful of core services to operate.</a:t>
            </a:r>
          </a:p>
          <a:p>
            <a:pPr>
              <a:spcBef>
                <a:spcPts val="800"/>
              </a:spcBef>
              <a:spcAft>
                <a:spcPts val="800"/>
              </a:spcAft>
              <a:defRPr sz="2000">
                <a:solidFill>
                  <a:srgbClr val="FFFFFF"/>
                </a:solidFill>
              </a:defRPr>
            </a:pPr>
            <a:r>
              <a:t>These "Big 5" services form the foundation of almost every deployment, handling computation, networking, identity, storage images, and the user interface.</a:t>
            </a:r>
          </a:p>
          <a:p>
            <a:pPr>
              <a:spcBef>
                <a:spcPts val="800"/>
              </a:spcBef>
              <a:spcAft>
                <a:spcPts val="800"/>
              </a:spcAft>
              <a:defRPr sz="2000">
                <a:solidFill>
                  <a:srgbClr val="FFFFFF"/>
                </a:solidFill>
              </a:defRPr>
            </a:pPr>
            <a:r>
              <a:t>Nova is the heart of OpenStack.</a:t>
            </a:r>
          </a:p>
          <a:p>
            <a:pPr>
              <a:spcBef>
                <a:spcPts val="800"/>
              </a:spcBef>
              <a:spcAft>
                <a:spcPts val="800"/>
              </a:spcAft>
              <a:defRPr sz="2000">
                <a:solidFill>
                  <a:srgbClr val="FFFFFF"/>
                </a:solidFill>
              </a:defRPr>
            </a:pPr>
            <a:r>
              <a:t>It is responsible for the entire lifecycle of a Virtual Machine (Instance), from spawning to termination.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"Core" Services (Remember these Names!)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is not a single binary but a distributed system.</a:t>
            </a:r>
          </a:p>
          <a:p>
            <a:pPr>
              <a:spcBef>
                <a:spcPts val="800"/>
              </a:spcBef>
              <a:spcAft>
                <a:spcPts val="800"/>
              </a:spcAft>
              <a:defRPr sz="2000">
                <a:solidFill>
                  <a:srgbClr val="FFFFFF"/>
                </a:solidFill>
              </a:defRPr>
            </a:pPr>
            <a:r>
              <a:t>The nova-api accepts requests, the nova-scheduler uses complex filters (like RamFilter) to decide which physical server is best suited for the VM, and nova-compute talks to the underlying hypervisor (KVM) to actually run the process.</a:t>
            </a:r>
          </a:p>
          <a:p>
            <a:pPr>
              <a:spcBef>
                <a:spcPts val="800"/>
              </a:spcBef>
              <a:spcAft>
                <a:spcPts val="800"/>
              </a:spcAft>
              <a:defRPr sz="2000">
                <a:solidFill>
                  <a:srgbClr val="FFFFFF"/>
                </a:solidFill>
              </a:defRPr>
            </a:pPr>
            <a:r>
              <a:t>Neutron is the "Plumber" of the cloud.</a:t>
            </a:r>
          </a:p>
          <a:p>
            <a:pPr>
              <a:spcBef>
                <a:spcPts val="800"/>
              </a:spcBef>
              <a:spcAft>
                <a:spcPts val="800"/>
              </a:spcAft>
              <a:defRPr sz="2000">
                <a:solidFill>
                  <a:srgbClr val="FFFFFF"/>
                </a:solidFill>
              </a:defRPr>
            </a:pPr>
            <a:r>
              <a:t>It manages "Software Defined Networking" (SDN).</a:t>
            </a:r>
          </a:p>
          <a:p>
            <a:pPr>
              <a:spcBef>
                <a:spcPts val="800"/>
              </a:spcBef>
              <a:spcAft>
                <a:spcPts val="800"/>
              </a:spcAft>
              <a:defRPr sz="2000">
                <a:solidFill>
                  <a:srgbClr val="FFFFFF"/>
                </a:solidFill>
              </a:defRPr>
            </a:pPr>
            <a:r>
              <a:t>It uses the ML2 Plugin (Modular Layer 2) to talk to different backend technologies, such as Open vSwitch or Linux Bridge.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"Core" Services (Remember these Names!)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employs an L3 Agent to handle virtual routing and floating IPs, and a DHCP Agent to automatically assign IP addresses to instances via dnsmasq.</a:t>
            </a:r>
          </a:p>
          <a:p>
            <a:pPr>
              <a:spcBef>
                <a:spcPts val="800"/>
              </a:spcBef>
              <a:spcAft>
                <a:spcPts val="800"/>
              </a:spcAft>
              <a:defRPr sz="2000">
                <a:solidFill>
                  <a:srgbClr val="FFFFFF"/>
                </a:solidFill>
              </a:defRPr>
            </a:pPr>
            <a:r>
              <a:t>Keystone is the "Bouncer." It provides a single point of integration for securing the cloud.</a:t>
            </a:r>
          </a:p>
          <a:p>
            <a:pPr>
              <a:spcBef>
                <a:spcPts val="800"/>
              </a:spcBef>
              <a:spcAft>
                <a:spcPts val="800"/>
              </a:spcAft>
              <a:defRPr sz="2000">
                <a:solidFill>
                  <a:srgbClr val="FFFFFF"/>
                </a:solidFill>
              </a:defRPr>
            </a:pPr>
            <a:r>
              <a:t>It maintains the Service Catalog (a registry of where all other APIs live) and issues Fernet Tokens—lightweight, encrypted keys—that users and services present to authenticate themselves for every single action.</a:t>
            </a:r>
          </a:p>
          <a:p>
            <a:pPr>
              <a:spcBef>
                <a:spcPts val="800"/>
              </a:spcBef>
              <a:spcAft>
                <a:spcPts val="800"/>
              </a:spcAft>
              <a:defRPr sz="2000">
                <a:solidFill>
                  <a:srgbClr val="FFFFFF"/>
                </a:solidFill>
              </a:defRPr>
            </a:pPr>
            <a:r>
              <a:t>Glance is the "Librarian." It stores and retrieves virtual machine disk images.</a:t>
            </a:r>
          </a:p>
          <a:p>
            <a:pPr>
              <a:spcBef>
                <a:spcPts val="800"/>
              </a:spcBef>
              <a:spcAft>
                <a:spcPts val="800"/>
              </a:spcAft>
              <a:defRPr sz="2000">
                <a:solidFill>
                  <a:srgbClr val="FFFFFF"/>
                </a:solidFill>
              </a:defRPr>
            </a:pPr>
            <a:r>
              <a:t>When you want to launch an "Ubuntu 22.04" server, Nova asks Glance to provide the image file.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"Core" Services (Remember these Names!)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Glance can store these images on a local hard drive, or more commonly, in an enterprise Object Storage system like Ceph, ensuring that your "golden master" images remain immutable and secure.</a:t>
            </a:r>
          </a:p>
          <a:p>
            <a:pPr>
              <a:spcBef>
                <a:spcPts val="800"/>
              </a:spcBef>
              <a:spcAft>
                <a:spcPts val="800"/>
              </a:spcAft>
              <a:defRPr sz="2000">
                <a:solidFill>
                  <a:srgbClr val="FFFFFF"/>
                </a:solidFill>
              </a:defRPr>
            </a:pPr>
            <a:r>
              <a:t>Horizon is the "Face" of OpenStack.</a:t>
            </a:r>
          </a:p>
          <a:p>
            <a:pPr>
              <a:spcBef>
                <a:spcPts val="800"/>
              </a:spcBef>
              <a:spcAft>
                <a:spcPts val="800"/>
              </a:spcAft>
              <a:defRPr sz="2000">
                <a:solidFill>
                  <a:srgbClr val="FFFFFF"/>
                </a:solidFill>
              </a:defRPr>
            </a:pPr>
            <a:r>
              <a:t>It provides a web-based graphical user interface (GUI) that allows users to launch instances, configure networks, and managed storage without typing a single command.</a:t>
            </a:r>
          </a:p>
          <a:p>
            <a:pPr>
              <a:spcBef>
                <a:spcPts val="800"/>
              </a:spcBef>
              <a:spcAft>
                <a:spcPts val="800"/>
              </a:spcAft>
              <a:defRPr sz="2000">
                <a:solidFill>
                  <a:srgbClr val="FFFFFF"/>
                </a:solidFill>
              </a:defRPr>
            </a:pPr>
            <a:r>
              <a:t>Under the hood, Horizon is simply a Python Django web application that translates user clicks into API calls sent to Nova, Neutron, and Keystone.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How they work together: A Day in the Life of a Request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Step 1: Authorization (Keystone)</a:t>
            </a:r>
            <a:br/>
            <a:r>
              <a:t>The user's request first goes to Keystone.</a:t>
            </a:r>
          </a:p>
          <a:p>
            <a:pPr>
              <a:spcBef>
                <a:spcPts val="800"/>
              </a:spcBef>
              <a:spcAft>
                <a:spcPts val="800"/>
              </a:spcAft>
              <a:defRPr sz="2000">
                <a:solidFill>
                  <a:srgbClr val="FFFFFF"/>
                </a:solidFill>
              </a:defRPr>
            </a:pPr>
            <a:r>
              <a:t>It validates the user's Token and checks the Policy engine to ensure they have the specific permission (compute:create) required to launch an instance.</a:t>
            </a:r>
          </a:p>
          <a:p>
            <a:pPr>
              <a:spcBef>
                <a:spcPts val="800"/>
              </a:spcBef>
              <a:spcAft>
                <a:spcPts val="800"/>
              </a:spcAft>
              <a:defRPr sz="2000">
                <a:solidFill>
                  <a:srgbClr val="FFFFFF"/>
                </a:solidFill>
              </a:defRPr>
            </a:pPr>
            <a:r>
              <a:t>If the token is expired or the user lacks the "Member" role, the request is rejected immediately with a 403 Forbidden error, protecting the cloud resources from unauthorized access.</a:t>
            </a:r>
          </a:p>
          <a:p>
            <a:pPr>
              <a:spcBef>
                <a:spcPts val="800"/>
              </a:spcBef>
              <a:spcAft>
                <a:spcPts val="800"/>
              </a:spcAft>
              <a:defRPr sz="2000">
                <a:solidFill>
                  <a:srgbClr val="FFFFFF"/>
                </a:solidFill>
              </a:defRPr>
            </a:pPr>
            <a:r>
              <a:t>Step 2: Scheduling (Nova)</a:t>
            </a:r>
            <a:br/>
            <a:r>
              <a:t>Once authorized, the request is passed to nova-api.</a:t>
            </a:r>
          </a:p>
          <a:p>
            <a:pPr>
              <a:spcBef>
                <a:spcPts val="800"/>
              </a:spcBef>
              <a:spcAft>
                <a:spcPts val="800"/>
              </a:spcAft>
              <a:defRPr sz="2000">
                <a:solidFill>
                  <a:srgbClr val="FFFFFF"/>
                </a:solidFill>
              </a:defRPr>
            </a:pPr>
            <a:r>
              <a:t>It asks the nova-scheduler: "Where should I put this VM?" The Scheduler analyzes the state of all available compute nodes using filters.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How they work together: A Day in the Life of a Request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Data centers are heterogeneous, so the scheduler checks constraints: "Does this node have 4GB RAM free?" (RamFilter) and "Is this node currently alive?" (ComputeFilter).</a:t>
            </a:r>
          </a:p>
          <a:p>
            <a:pPr>
              <a:spcBef>
                <a:spcPts val="800"/>
              </a:spcBef>
              <a:spcAft>
                <a:spcPts val="800"/>
              </a:spcAft>
              <a:defRPr sz="2000">
                <a:solidFill>
                  <a:srgbClr val="FFFFFF"/>
                </a:solidFill>
              </a:defRPr>
            </a:pPr>
            <a:r>
              <a:t>It then selects the mathematically optimal candidate (e.g., Compute-Node-05).</a:t>
            </a:r>
          </a:p>
          <a:p>
            <a:pPr>
              <a:spcBef>
                <a:spcPts val="800"/>
              </a:spcBef>
              <a:spcAft>
                <a:spcPts val="800"/>
              </a:spcAft>
              <a:defRPr sz="2000">
                <a:solidFill>
                  <a:srgbClr val="FFFFFF"/>
                </a:solidFill>
              </a:defRPr>
            </a:pPr>
            <a:r>
              <a:t>Step 3: Network Provisioning (Neutron)</a:t>
            </a:r>
            <a:br/>
            <a:r>
              <a:t>Before starting the VM, Nova acts as a proxy and contacts Neutron.</a:t>
            </a:r>
          </a:p>
          <a:p>
            <a:pPr>
              <a:spcBef>
                <a:spcPts val="800"/>
              </a:spcBef>
              <a:spcAft>
                <a:spcPts val="800"/>
              </a:spcAft>
              <a:defRPr sz="2000">
                <a:solidFill>
                  <a:srgbClr val="FFFFFF"/>
                </a:solidFill>
              </a:defRPr>
            </a:pPr>
            <a:r>
              <a:t>It requests a port on the specified network (e.g., private-net).</a:t>
            </a:r>
          </a:p>
          <a:p>
            <a:pPr>
              <a:spcBef>
                <a:spcPts val="800"/>
              </a:spcBef>
              <a:spcAft>
                <a:spcPts val="800"/>
              </a:spcAft>
              <a:defRPr sz="2000">
                <a:solidFill>
                  <a:srgbClr val="FFFFFF"/>
                </a:solidFill>
              </a:defRPr>
            </a:pPr>
            <a:r>
              <a:t>Neutron creates a logical port entry in its database, assigns a MAC address (e.g., fa:16:3e...), and allocates an IP address (e.g., 192.168.1.15) via its IPAM driver.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How they work together: A Day in the Life of a Request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Crucially, it creates this logical reservation before any hardware is touched.</a:t>
            </a:r>
          </a:p>
          <a:p>
            <a:pPr>
              <a:spcBef>
                <a:spcPts val="800"/>
              </a:spcBef>
              <a:spcAft>
                <a:spcPts val="800"/>
              </a:spcAft>
              <a:defRPr sz="2000">
                <a:solidFill>
                  <a:srgbClr val="FFFFFF"/>
                </a:solidFill>
              </a:defRPr>
            </a:pPr>
            <a:r>
              <a:t>Step 4: Image Retrieval (Glance)</a:t>
            </a:r>
            <a:br/>
            <a:r>
              <a:t>The nova-compute service on the selected node (Compute-Node-05) receives the command to build.</a:t>
            </a:r>
          </a:p>
          <a:p>
            <a:pPr>
              <a:spcBef>
                <a:spcPts val="800"/>
              </a:spcBef>
              <a:spcAft>
                <a:spcPts val="800"/>
              </a:spcAft>
              <a:defRPr sz="2000">
                <a:solidFill>
                  <a:srgbClr val="FFFFFF"/>
                </a:solidFill>
              </a:defRPr>
            </a:pPr>
            <a:r>
              <a:t>It checks its local image cache for the requested OS image (e.g., Ubuntu 22.04).</a:t>
            </a:r>
          </a:p>
          <a:p>
            <a:pPr>
              <a:spcBef>
                <a:spcPts val="800"/>
              </a:spcBef>
              <a:spcAft>
                <a:spcPts val="800"/>
              </a:spcAft>
              <a:defRPr sz="2000">
                <a:solidFill>
                  <a:srgbClr val="FFFFFF"/>
                </a:solidFill>
              </a:defRPr>
            </a:pPr>
            <a:r>
              <a:t>If the image is missing, it contacts Glance to download it securely via an HTTP API.</a:t>
            </a:r>
          </a:p>
          <a:p>
            <a:pPr>
              <a:spcBef>
                <a:spcPts val="800"/>
              </a:spcBef>
              <a:spcAft>
                <a:spcPts val="800"/>
              </a:spcAft>
              <a:defRPr sz="2000">
                <a:solidFill>
                  <a:srgbClr val="FFFFFF"/>
                </a:solidFill>
              </a:defRPr>
            </a:pPr>
            <a:r>
              <a:t>It then converts the image into a bootable volume, typically using a Copy-on-Write (CoW) backing file to save space and time.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How they work together: A Day in the Life of a Request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Step 5: Wiring (The Final Assembly)</a:t>
            </a:r>
            <a:br/>
            <a:r>
              <a:t>Finally, nova-compute instructs the Hypervisor (KVM/Libvirt) to define the VM.</a:t>
            </a:r>
          </a:p>
          <a:p>
            <a:pPr>
              <a:spcBef>
                <a:spcPts val="800"/>
              </a:spcBef>
              <a:spcAft>
                <a:spcPts val="800"/>
              </a:spcAft>
              <a:defRPr sz="2000">
                <a:solidFill>
                  <a:srgbClr val="FFFFFF"/>
                </a:solidFill>
              </a:defRPr>
            </a:pPr>
            <a:r>
              <a:t>Simultaneously, the Neutron L2 Agent on that node detects the new port data and programs the local virtual switch (Open vSwitch) to connect the VM's virtual network card to the physical network bridge.</a:t>
            </a:r>
          </a:p>
          <a:p>
            <a:pPr>
              <a:spcBef>
                <a:spcPts val="800"/>
              </a:spcBef>
              <a:spcAft>
                <a:spcPts val="800"/>
              </a:spcAft>
              <a:defRPr sz="2000">
                <a:solidFill>
                  <a:srgbClr val="FFFFFF"/>
                </a:solidFill>
              </a:defRPr>
            </a:pPr>
            <a:r>
              <a:t>Only then does the VM start booting, drawing its IP address from the DHCP agent as it initializes.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Nova: Compute (The Brain).</a:t>
            </a:r>
          </a:p>
          <a:p>
            <a:pPr>
              <a:spcBef>
                <a:spcPts val="800"/>
              </a:spcBef>
              <a:spcAft>
                <a:spcPts val="800"/>
              </a:spcAft>
              <a:defRPr sz="2000">
                <a:solidFill>
                  <a:srgbClr val="FFFFFF"/>
                </a:solidFill>
              </a:defRPr>
            </a:pPr>
            <a:r>
              <a:t>Neutron: Networking (The Plumber).</a:t>
            </a:r>
          </a:p>
          <a:p>
            <a:pPr>
              <a:spcBef>
                <a:spcPts val="800"/>
              </a:spcBef>
              <a:spcAft>
                <a:spcPts val="800"/>
              </a:spcAft>
              <a:defRPr sz="2000">
                <a:solidFill>
                  <a:srgbClr val="FFFFFF"/>
                </a:solidFill>
              </a:defRPr>
            </a:pPr>
            <a:r>
              <a:t>Keystone: Identity/Auth (The Bouncer).</a:t>
            </a:r>
          </a:p>
          <a:p>
            <a:pPr>
              <a:spcBef>
                <a:spcPts val="800"/>
              </a:spcBef>
              <a:spcAft>
                <a:spcPts val="800"/>
              </a:spcAft>
              <a:defRPr sz="2000">
                <a:solidFill>
                  <a:srgbClr val="FFFFFF"/>
                </a:solidFill>
              </a:defRPr>
            </a:pPr>
            <a:r>
              <a:t>Glance: Image Storage (The Librarian).</a:t>
            </a:r>
          </a:p>
          <a:p>
            <a:pPr>
              <a:spcBef>
                <a:spcPts val="800"/>
              </a:spcBef>
              <a:spcAft>
                <a:spcPts val="800"/>
              </a:spcAft>
              <a:defRPr sz="2000">
                <a:solidFill>
                  <a:srgbClr val="FFFFFF"/>
                </a:solidFill>
              </a:defRPr>
            </a:pPr>
            <a:r>
              <a:t>Horizon: Dashboard GUI (The Face).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If Keystone goes down, can you still log in to Horizon?</a:t>
            </a:r>
          </a:p>
          <a:p>
            <a:pPr>
              <a:spcBef>
                <a:spcPts val="800"/>
              </a:spcBef>
              <a:spcAft>
                <a:spcPts val="800"/>
              </a:spcAft>
              <a:defRPr sz="2000">
                <a:solidFill>
                  <a:srgbClr val="FFFFFF"/>
                </a:solidFill>
              </a:defRPr>
            </a:pPr>
            <a:r>
              <a:t>Why does Nova need to talk to Glance before starting a VM?</a:t>
            </a:r>
          </a:p>
          <a:p>
            <a:pPr>
              <a:spcBef>
                <a:spcPts val="800"/>
              </a:spcBef>
              <a:spcAft>
                <a:spcPts val="800"/>
              </a:spcAft>
              <a:defRPr sz="2000">
                <a:solidFill>
                  <a:srgbClr val="FFFFFF"/>
                </a:solidFill>
              </a:defRPr>
            </a:pPr>
            <a:r>
              <a:t>OpenStack Components Map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Additional Resources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6. Lab Exercises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